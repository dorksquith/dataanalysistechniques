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87F58F-2C63-47A2-B68B-D48E19888B3E}">
  <a:tblStyle styleId="{B087F58F-2C63-47A2-B68B-D48E19888B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69a1f0a4e36a3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69a1f0a4e36a3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69a1f0a4e36a3d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69a1f0a4e36a3d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f9884c7c2d8096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2f9884c7c2d8096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69a1f0a4e36a3d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69a1f0a4e36a3d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69a1f0a4e36a3d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69a1f0a4e36a3d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69a1f0a4e36a3d1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69a1f0a4e36a3d1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2f9884c7c2d8096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2f9884c7c2d8096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69a1f0a4e36a3d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69a1f0a4e36a3d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69a1f0a4e36a3d1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h69a1f0a4e36a3d1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69a1f0a4e36a3d1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69a1f0a4e36a3d1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69a1f0a4e36a3d1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69a1f0a4e36a3d1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2f9884c7c2d8096f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2f9884c7c2d8096f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2f9884c7c2d8096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2f9884c7c2d8096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2f9884c7c2d8096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2f9884c7c2d8096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2f9884c7c2d8096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2f9884c7c2d8096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2f9884c7c2d8096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2f9884c7c2d8096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2f9884c7c2d8096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2f9884c7c2d8096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2f9884c7c2d8096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2f9884c7c2d8096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2f9884c7c2d8096f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h2f9884c7c2d8096f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h69a1f0a4e36a3d1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h69a1f0a4e36a3d1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69a1f0a4e36a3d1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69a1f0a4e36a3d1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2f9884c7c2d8096f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2f9884c7c2d8096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2f9884c7c2d8096f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h2f9884c7c2d8096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2f9884c7c2d8096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h2f9884c7c2d8096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2f9884c7c2d8096f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h2f9884c7c2d8096f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2f9884c7c2d8096f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h2f9884c7c2d8096f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h2f9884c7c2d8096f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h2f9884c7c2d8096f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h2f9884c7c2d8096f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h2f9884c7c2d8096f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h69a1f0a4e36a3d1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h69a1f0a4e36a3d1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69a1f0a4e36a3d1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69a1f0a4e36a3d1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h69a1f0a4e36a3d1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h69a1f0a4e36a3d1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2f9884c7c2d8096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h2f9884c7c2d8096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2f9884c7c2d8096f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h2f9884c7c2d8096f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2f9884c7c2d8096f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h2f9884c7c2d8096f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2f9884c7c2d8096f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h2f9884c7c2d8096f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h2f9884c7c2d8096f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h2f9884c7c2d8096f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h2f9884c7c2d8096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h2f9884c7c2d8096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h2f9884c7c2d8096f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h2f9884c7c2d8096f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h2f9884c7c2d8096f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h2f9884c7c2d8096f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2f9884c7c2d8096f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h2f9884c7c2d8096f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2f9884c7c2d8096f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2f9884c7c2d8096f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2f9884c7c2d8096f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2f9884c7c2d8096f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h2f9884c7c2d8096f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h2f9884c7c2d8096f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2f9884c7c2d8096f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h2f9884c7c2d8096f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h2f9884c7c2d8096f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h2f9884c7c2d8096f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2f9884c7c2d8096f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h2f9884c7c2d8096f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h2f9884c7c2d8096f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h2f9884c7c2d8096f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h2f9884c7c2d8096f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h2f9884c7c2d8096f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2f9884c7c2d8096f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2f9884c7c2d8096f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2f9884c7c2d8096f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h2f9884c7c2d8096f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h2f9884c7c2d8096f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h2f9884c7c2d8096f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2f9884c7c2d8096f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2f9884c7c2d8096f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2f9884c7c2d8096f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h2f9884c7c2d8096f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h2f9884c7c2d8096f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h2f9884c7c2d8096f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2f9884c7c2d8096f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h2f9884c7c2d8096f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h2f9884c7c2d8096f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h2f9884c7c2d8096f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h2f9884c7c2d8096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h2f9884c7c2d8096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2f9884c7c2d8096f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2f9884c7c2d8096f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h2f9884c7c2d8096f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h2f9884c7c2d8096f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2f9884c7c2d8096f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2f9884c7c2d8096f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h2f9884c7c2d8096f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h2f9884c7c2d8096f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h2f9884c7c2d8096f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h2f9884c7c2d8096f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www.when2meet.com/?39227459-q8VDE" TargetMode="External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hyperlink" Target="https://en.wikipedia.org/wiki/Propagation_of_uncertainty#Example_formulae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Relationship Id="rId4" Type="http://schemas.openxmlformats.org/officeDocument/2006/relationships/image" Target="../media/image4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53.png"/><Relationship Id="rId5" Type="http://schemas.openxmlformats.org/officeDocument/2006/relationships/hyperlink" Target="https://xkcd.com/353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Relationship Id="rId4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hyperlink" Target="https://canvas.sussex.ac.uk/courses/39055/pages/3-bases-exponents-and-logarithms" TargetMode="External"/><Relationship Id="rId8" Type="http://schemas.openxmlformats.org/officeDocument/2006/relationships/hyperlink" Target="https://www.lboro.ac.uk/media/media/schoolanddepartments/mlsc/downloads/HELM%20Workbook%206%20Exponential%20and%20Logarithmic%20Functions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hyperlink" Target="https://dorksquith.github.io/DataAnalysisTechniques/normal/#probability-and-the-infinite-range" TargetMode="External"/><Relationship Id="rId6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.png"/><Relationship Id="rId4" Type="http://schemas.openxmlformats.org/officeDocument/2006/relationships/hyperlink" Target="https://notarocketscientist.xyz/posts/2023-01-27-how-gauss-derived-the-normal-distribution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Relationship Id="rId4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8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7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7.png"/><Relationship Id="rId4" Type="http://schemas.openxmlformats.org/officeDocument/2006/relationships/image" Target="../media/image1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dorksquith.github.io/DataAnalysisTechniques/hypothesistests/" TargetMode="External"/><Relationship Id="rId4" Type="http://schemas.openxmlformats.org/officeDocument/2006/relationships/hyperlink" Target="https://dorksquith.github.io/DataAnalysisTechniques/normaltests/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Analysis Techniques 890F3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Distribution &amp; Hypothesis Tests</a:t>
            </a:r>
            <a:endParaRPr/>
          </a:p>
        </p:txBody>
      </p:sp>
      <p:pic>
        <p:nvPicPr>
          <p:cNvPr id="56" name="Google Shape;56;p13" title="dic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575" y="3626725"/>
            <a:ext cx="1215450" cy="122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ussex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3626725"/>
            <a:ext cx="1406757" cy="12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464450" y="1050775"/>
            <a:ext cx="84525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💜 </a:t>
            </a:r>
            <a:r>
              <a:rPr b="1" lang="en" sz="1800">
                <a:solidFill>
                  <a:schemeClr val="dk2"/>
                </a:solidFill>
              </a:rPr>
              <a:t>Thank you very much </a:t>
            </a:r>
            <a:r>
              <a:rPr lang="en" sz="1900">
                <a:solidFill>
                  <a:schemeClr val="dk1"/>
                </a:solidFill>
              </a:rPr>
              <a:t>💜 </a:t>
            </a:r>
            <a:r>
              <a:rPr b="1" lang="en" sz="1800">
                <a:solidFill>
                  <a:schemeClr val="dk2"/>
                </a:solidFill>
              </a:rPr>
              <a:t>to the students who have reached out to me and Tom via email and/or in my office hours.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I have updated the canvas pages for Module Information and Assignments &amp; Guidance - I think they are clearer now.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I have added a section for Technical Support to the canvas page, with some links to videos and pages and some FAQs.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5" name="Google Shape;65;p14" title="Y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900" y="1939375"/>
            <a:ext cx="336750" cy="31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Y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982" y="2759548"/>
            <a:ext cx="336750" cy="3180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464450" y="3500325"/>
            <a:ext cx="8649600" cy="1515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640075" y="3750225"/>
            <a:ext cx="6501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 am trying to find a </a:t>
            </a:r>
            <a:r>
              <a:rPr b="1" lang="en" sz="1800">
                <a:solidFill>
                  <a:schemeClr val="dk2"/>
                </a:solidFill>
              </a:rPr>
              <a:t>second office hour</a:t>
            </a:r>
            <a:r>
              <a:rPr lang="en" sz="1800">
                <a:solidFill>
                  <a:schemeClr val="dk2"/>
                </a:solidFill>
              </a:rPr>
              <a:t> slot that works for all- please indicate your availability if you cannot make Tuesday 12-1 and have not yet filled the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when2meet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/>
          </a:p>
        </p:txBody>
      </p:sp>
      <p:pic>
        <p:nvPicPr>
          <p:cNvPr id="69" name="Google Shape;69;p14" title="adobe-express-qr-code.png"/>
          <p:cNvPicPr preferRelativeResize="0"/>
          <p:nvPr/>
        </p:nvPicPr>
        <p:blipFill rotWithShape="1">
          <a:blip r:embed="rId5">
            <a:alphaModFix/>
          </a:blip>
          <a:srcRect b="8511" l="7944" r="8695" t="8052"/>
          <a:stretch/>
        </p:blipFill>
        <p:spPr>
          <a:xfrm>
            <a:off x="7596575" y="3566725"/>
            <a:ext cx="1374100" cy="13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are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5" title="Screenshot 2026-10-12 at 21.32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75" y="1297675"/>
            <a:ext cx="7795800" cy="309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6936000" y="3075775"/>
            <a:ext cx="1896300" cy="9525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introduced in sections 1 - 3</a:t>
            </a:r>
            <a:endParaRPr/>
          </a:p>
        </p:txBody>
      </p:sp>
      <p:pic>
        <p:nvPicPr>
          <p:cNvPr id="83" name="Google Shape;83;p16" title="Screenshot 2026-10-08 at 08.28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075" y="1293799"/>
            <a:ext cx="5036874" cy="105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Screenshot 2026-10-08 at 08.28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075" y="2494650"/>
            <a:ext cx="4452801" cy="14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6570200" y="1154075"/>
            <a:ext cx="19902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Find your own pace.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00"/>
                </a:highlight>
              </a:rPr>
              <a:t>New to python: you will get lots of practice this term.</a:t>
            </a:r>
            <a:endParaRPr sz="18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  <a:highlight>
                  <a:srgbClr val="FCE5CD"/>
                </a:highlight>
              </a:rPr>
              <a:t>Experienced and expert: focus on an area you are not expert in.</a:t>
            </a:r>
            <a:endParaRPr sz="1800">
              <a:solidFill>
                <a:srgbClr val="0000FF"/>
              </a:solidFill>
              <a:highlight>
                <a:srgbClr val="FCE5CD"/>
              </a:highlight>
            </a:endParaRPr>
          </a:p>
        </p:txBody>
      </p:sp>
      <p:pic>
        <p:nvPicPr>
          <p:cNvPr id="86" name="Google Shape;86;p16" title="Screenshot 2026-10-11 at 18.18.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700" y="4126175"/>
            <a:ext cx="5857149" cy="7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Describing Data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311700" y="1152475"/>
            <a:ext cx="4260300" cy="28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</a:rPr>
              <a:t>We focused on:</a:t>
            </a:r>
            <a:endParaRPr b="1"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True Expectation and Variance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Covariance and Linear Correlations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Uncertainty Propagation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93" name="Google Shape;93;p17" title="Screenshot 2026-10-08 at 08.45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025" y="750625"/>
            <a:ext cx="2419475" cy="10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Screenshot 2026-10-10 at 13.33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9427" y="3084575"/>
            <a:ext cx="2715697" cy="5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Screenshot 2026-10-11 at 19.53.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1025" y="2276116"/>
            <a:ext cx="2419475" cy="509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Screenshot 2026-10-11 at 19.55.5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400" y="1952950"/>
            <a:ext cx="857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6303213" y="2703575"/>
            <a:ext cx="4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or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98" name="Google Shape;98;p17"/>
          <p:cNvCxnSpPr>
            <a:stCxn id="93" idx="2"/>
            <a:endCxn id="95" idx="0"/>
          </p:cNvCxnSpPr>
          <p:nvPr/>
        </p:nvCxnSpPr>
        <p:spPr>
          <a:xfrm>
            <a:off x="6530763" y="1833625"/>
            <a:ext cx="0" cy="4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/>
          <p:nvPr/>
        </p:nvCxnSpPr>
        <p:spPr>
          <a:xfrm>
            <a:off x="6530763" y="3578250"/>
            <a:ext cx="0" cy="4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0" name="Google Shape;100;p17" title="Screenshot 2026-10-11 at 20.01.2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07609" y="4043634"/>
            <a:ext cx="1717576" cy="5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4890450" y="625525"/>
            <a:ext cx="3366600" cy="411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Describing Data</a:t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311700" y="1152475"/>
            <a:ext cx="4260300" cy="28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</a:rPr>
              <a:t>We focused on:</a:t>
            </a:r>
            <a:endParaRPr b="1"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True Expectation and Variance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Covariance </a:t>
            </a:r>
            <a:r>
              <a:rPr lang="en" sz="1800">
                <a:solidFill>
                  <a:schemeClr val="dk1"/>
                </a:solidFill>
              </a:rPr>
              <a:t>and Linear Correlations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Uncertainty Propagation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08" name="Google Shape;108;p18" title="Screenshot 2026-10-11 at 19.51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733819"/>
            <a:ext cx="4453650" cy="8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311700" y="3519550"/>
            <a:ext cx="85206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830">
                <a:solidFill>
                  <a:schemeClr val="dk1"/>
                </a:solidFill>
              </a:rPr>
              <a:t>This is our “box of uncertainties”.</a:t>
            </a:r>
            <a:endParaRPr b="1"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830">
                <a:solidFill>
                  <a:schemeClr val="dk1"/>
                </a:solidFill>
              </a:rPr>
              <a:t>The diagonal has the (squared) uncertainties on the RVs.</a:t>
            </a:r>
            <a:endParaRPr b="1"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b="1" lang="en" sz="1830">
                <a:solidFill>
                  <a:schemeClr val="dk1"/>
                </a:solidFill>
              </a:rPr>
              <a:t>The corner has the covariance between the RVs</a:t>
            </a:r>
            <a:endParaRPr b="1" sz="1830">
              <a:solidFill>
                <a:schemeClr val="dk1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4886825" y="1017725"/>
            <a:ext cx="4021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Covariance Matrix aka “Error Matrix”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Describing Data</a:t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311700" y="1152475"/>
            <a:ext cx="4260300" cy="28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</a:rPr>
              <a:t>We focused on:</a:t>
            </a:r>
            <a:endParaRPr b="1"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True Expectation and Variance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Covariance and</a:t>
            </a:r>
            <a:r>
              <a:rPr b="1" lang="en" sz="1800">
                <a:solidFill>
                  <a:schemeClr val="accent1"/>
                </a:solidFill>
              </a:rPr>
              <a:t> Linear Correlations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Uncertainty Propagation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17" name="Google Shape;117;p19" title="Screenshot 2026-10-11 at 19.51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66369"/>
            <a:ext cx="4453650" cy="8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title="Screenshot 2026-10-11 at 19.51.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225" y="2571750"/>
            <a:ext cx="2278300" cy="7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 title="Screenshot 2026-10-11 at 19.55.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400" y="1952950"/>
            <a:ext cx="857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311700" y="3519550"/>
            <a:ext cx="85206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830">
                <a:solidFill>
                  <a:schemeClr val="dk1"/>
                </a:solidFill>
              </a:rPr>
              <a:t>The linear correlation coefficient only tells us about linear correlations.</a:t>
            </a:r>
            <a:endParaRPr b="1"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b="1" lang="en" sz="1830">
                <a:solidFill>
                  <a:schemeClr val="dk1"/>
                </a:solidFill>
              </a:rPr>
              <a:t>Apparently unrelated datasets can have spuriously high linear correlation coefficients (Workshop 3).</a:t>
            </a:r>
            <a:endParaRPr b="1" sz="1830">
              <a:solidFill>
                <a:schemeClr val="dk1"/>
              </a:solidFill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4876900" y="471275"/>
            <a:ext cx="4021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Covariance Matrix aka “Error Matrix”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5581650" y="2148075"/>
            <a:ext cx="32133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Linear Correlation Coefficient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Describing Data</a:t>
            </a:r>
            <a:endParaRPr/>
          </a:p>
        </p:txBody>
      </p:sp>
      <p:pic>
        <p:nvPicPr>
          <p:cNvPr id="128" name="Google Shape;128;p20" title="Screenshot 2026-10-11 at 19.56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357" y="892988"/>
            <a:ext cx="1899461" cy="5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Screenshot 2026-10-11 at 19.55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6425" y="3937488"/>
            <a:ext cx="2419475" cy="568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 title="Screenshot 2026-10-11 at 19.55.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400" y="1952950"/>
            <a:ext cx="857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 title="Screenshot 2026-10-11 at 19.55.4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175" y="4069950"/>
            <a:ext cx="2175051" cy="30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 title="Screenshot 2026-10-11 at 19.55.3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174" y="3006513"/>
            <a:ext cx="1899450" cy="462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 title="Screenshot 2026-10-11 at 19.55.33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09225" y="2979975"/>
            <a:ext cx="1307020" cy="50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0"/>
          <p:cNvCxnSpPr>
            <a:stCxn id="132" idx="3"/>
            <a:endCxn id="133" idx="1"/>
          </p:cNvCxnSpPr>
          <p:nvPr/>
        </p:nvCxnSpPr>
        <p:spPr>
          <a:xfrm flipH="1" rot="10800000">
            <a:off x="2347623" y="3231228"/>
            <a:ext cx="5616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0"/>
          <p:cNvCxnSpPr/>
          <p:nvPr/>
        </p:nvCxnSpPr>
        <p:spPr>
          <a:xfrm>
            <a:off x="2623223" y="4221815"/>
            <a:ext cx="40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0"/>
          <p:cNvSpPr txBox="1"/>
          <p:nvPr/>
        </p:nvSpPr>
        <p:spPr>
          <a:xfrm>
            <a:off x="359550" y="3500513"/>
            <a:ext cx="655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If X,Y are independent: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359550" y="1120350"/>
            <a:ext cx="4260300" cy="20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595959"/>
                </a:solidFill>
              </a:rPr>
              <a:t>We focused on:</a:t>
            </a:r>
            <a:endParaRPr b="1"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True Expectation and Variance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Covariance and Linear Correlations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Uncertainty Propagation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240450" y="3468550"/>
            <a:ext cx="5086500" cy="987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5445900" y="3731350"/>
            <a:ext cx="3150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" sz="1830">
                <a:solidFill>
                  <a:srgbClr val="FF0000"/>
                </a:solidFill>
              </a:rPr>
              <a:t>“Sum in quadrature”</a:t>
            </a:r>
            <a:endParaRPr b="1" sz="1830">
              <a:solidFill>
                <a:srgbClr val="FF0000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5682000" y="384775"/>
            <a:ext cx="31503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General function h:</a:t>
            </a:r>
            <a:endParaRPr sz="1830">
              <a:solidFill>
                <a:schemeClr val="dk1"/>
              </a:solidFill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5581650" y="1871950"/>
            <a:ext cx="3150300" cy="1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Jacobian matrix has Nfuncs rows and Nrvs columns.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Nfuncs=1 for linear functions</a:t>
            </a:r>
            <a:endParaRPr sz="1830">
              <a:solidFill>
                <a:schemeClr val="dk1"/>
              </a:solidFill>
            </a:endParaRPr>
          </a:p>
        </p:txBody>
      </p:sp>
      <p:cxnSp>
        <p:nvCxnSpPr>
          <p:cNvPr id="142" name="Google Shape;142;p20"/>
          <p:cNvCxnSpPr/>
          <p:nvPr/>
        </p:nvCxnSpPr>
        <p:spPr>
          <a:xfrm flipH="1" rot="10800000">
            <a:off x="6664655" y="1319413"/>
            <a:ext cx="125100" cy="48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0"/>
          <p:cNvSpPr txBox="1"/>
          <p:nvPr/>
        </p:nvSpPr>
        <p:spPr>
          <a:xfrm>
            <a:off x="240450" y="4503038"/>
            <a:ext cx="85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You can of course look up useful </a:t>
            </a:r>
            <a:r>
              <a:rPr lang="en">
                <a:solidFill>
                  <a:schemeClr val="dk2"/>
                </a:solidFill>
              </a:rPr>
              <a:t>uncertainty propagation</a:t>
            </a:r>
            <a:r>
              <a:rPr lang="en">
                <a:solidFill>
                  <a:schemeClr val="dk2"/>
                </a:solidFill>
              </a:rPr>
              <a:t> formulae on eg </a:t>
            </a:r>
            <a:r>
              <a:rPr lang="en" u="sng">
                <a:solidFill>
                  <a:schemeClr val="hlink"/>
                </a:solidFill>
                <a:hlinkClick r:id="rId9"/>
              </a:rPr>
              <a:t>wikipedia</a:t>
            </a:r>
            <a:r>
              <a:rPr lang="en">
                <a:solidFill>
                  <a:schemeClr val="dk2"/>
                </a:solidFill>
              </a:rPr>
              <a:t> or in a text book.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Distribution</a:t>
            </a:r>
            <a:endParaRPr/>
          </a:p>
        </p:txBody>
      </p:sp>
      <p:pic>
        <p:nvPicPr>
          <p:cNvPr id="149" name="Google Shape;149;p21" title="Screenshot 2026-10-11 at 20.15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65147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Focus: The Normal Distribution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(Gaussian) PDF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Infinite range, the log scale, log rules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Central Limit Theorem (CLT) versus the Law of Large Numbers (LLN)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(Gaussian) PDF</a:t>
            </a:r>
            <a:endParaRPr/>
          </a:p>
        </p:txBody>
      </p:sp>
      <p:pic>
        <p:nvPicPr>
          <p:cNvPr id="161" name="Google Shape;161;p23" title="Screenshot 2026-10-11 at 20.27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500" y="2571750"/>
            <a:ext cx="4802824" cy="11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3264300" y="1152475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“The Continuous RV X is Normally Distributed”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63" name="Google Shape;163;p23" title="Screenshot 2026-10-17 at 12.19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475" y="1152475"/>
            <a:ext cx="2020500" cy="5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380600" y="2088700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Probability Density Function (PDF) is: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(Gaussian) PDF</a:t>
            </a:r>
            <a:endParaRPr/>
          </a:p>
        </p:txBody>
      </p:sp>
      <p:pic>
        <p:nvPicPr>
          <p:cNvPr id="170" name="Google Shape;170;p24" title="Screenshot 2026-10-11 at 20.27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500" y="2571750"/>
            <a:ext cx="4802824" cy="11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264300" y="1152475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“The Continuous RV X is Normally Distributed”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72" name="Google Shape;172;p24" title="Screenshot 2026-10-17 at 12.19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475" y="1152475"/>
            <a:ext cx="2020500" cy="5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380600" y="2088700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Probability Density Function (PDF) is: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2001450" y="3886150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</a:t>
            </a:r>
            <a:r>
              <a:rPr b="1" lang="en">
                <a:solidFill>
                  <a:schemeClr val="accent1"/>
                </a:solidFill>
              </a:rPr>
              <a:t>Random Variable</a:t>
            </a:r>
            <a:r>
              <a:rPr lang="en">
                <a:solidFill>
                  <a:schemeClr val="accent1"/>
                </a:solidFill>
              </a:rPr>
              <a:t> (RV) is x.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75" name="Google Shape;175;p24"/>
          <p:cNvCxnSpPr/>
          <p:nvPr/>
        </p:nvCxnSpPr>
        <p:spPr>
          <a:xfrm rot="10800000">
            <a:off x="2301775" y="3294150"/>
            <a:ext cx="228300" cy="585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 flipH="1" rot="10800000">
            <a:off x="5099850" y="3099050"/>
            <a:ext cx="321000" cy="869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(Gaussian) PDF</a:t>
            </a:r>
            <a:endParaRPr/>
          </a:p>
        </p:txBody>
      </p:sp>
      <p:pic>
        <p:nvPicPr>
          <p:cNvPr id="182" name="Google Shape;182;p25" title="Screenshot 2026-10-11 at 20.27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500" y="2571750"/>
            <a:ext cx="4802824" cy="11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3264300" y="1152475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“The Continuous RV X is Normally Distributed”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4" name="Google Shape;184;p25" title="Screenshot 2026-10-17 at 12.19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475" y="1152475"/>
            <a:ext cx="2020500" cy="5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380600" y="2088700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Probability Density Function (PDF)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592550" y="3796875"/>
            <a:ext cx="79404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</a:t>
            </a:r>
            <a:r>
              <a:rPr b="1" lang="en">
                <a:solidFill>
                  <a:schemeClr val="accent1"/>
                </a:solidFill>
              </a:rPr>
              <a:t>parameters</a:t>
            </a:r>
            <a:r>
              <a:rPr lang="en">
                <a:solidFill>
                  <a:schemeClr val="accent1"/>
                </a:solidFill>
              </a:rPr>
              <a:t> are 𝜇 (“mu”: the mean) and σ (“sigma”: the standard deviation).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187" name="Google Shape;187;p25"/>
          <p:cNvCxnSpPr/>
          <p:nvPr/>
        </p:nvCxnSpPr>
        <p:spPr>
          <a:xfrm>
            <a:off x="2520175" y="3373425"/>
            <a:ext cx="4167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(Gaussian) PDF</a:t>
            </a:r>
            <a:endParaRPr/>
          </a:p>
        </p:txBody>
      </p:sp>
      <p:pic>
        <p:nvPicPr>
          <p:cNvPr id="193" name="Google Shape;193;p26" title="Screenshot 2026-10-11 at 20.27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500" y="2571750"/>
            <a:ext cx="4802824" cy="11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3264300" y="1152475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“The Continuous RV X is Normally Distributed”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5" name="Google Shape;195;p26" title="Screenshot 2026-10-17 at 12.19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475" y="1152475"/>
            <a:ext cx="2020500" cy="5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80600" y="2088700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Probability Density Function (PDF)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592550" y="3796875"/>
            <a:ext cx="79404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</a:t>
            </a:r>
            <a:r>
              <a:rPr b="1" lang="en">
                <a:solidFill>
                  <a:schemeClr val="accent1"/>
                </a:solidFill>
              </a:rPr>
              <a:t>constant term</a:t>
            </a:r>
            <a:r>
              <a:rPr lang="en">
                <a:solidFill>
                  <a:schemeClr val="accent1"/>
                </a:solidFill>
              </a:rPr>
              <a:t> is just a number. If we know σ, we know the number.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3323825" y="2778125"/>
            <a:ext cx="883200" cy="79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(Gaussian) PDF</a:t>
            </a:r>
            <a:endParaRPr/>
          </a:p>
        </p:txBody>
      </p:sp>
      <p:pic>
        <p:nvPicPr>
          <p:cNvPr id="204" name="Google Shape;204;p27" title="Screenshot 2026-10-11 at 20.27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475" y="2353475"/>
            <a:ext cx="4802824" cy="110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264300" y="1152475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“The Continuous RV X is Normally Distributed”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6" name="Google Shape;206;p27" title="Screenshot 2026-10-17 at 12.19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475" y="1152475"/>
            <a:ext cx="2020500" cy="51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400450" y="1862113"/>
            <a:ext cx="5447100" cy="6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Probability Density Function (PDF)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400450" y="3454125"/>
            <a:ext cx="81324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</a:t>
            </a:r>
            <a:r>
              <a:rPr b="1" lang="en">
                <a:solidFill>
                  <a:schemeClr val="accent1"/>
                </a:solidFill>
              </a:rPr>
              <a:t>exp</a:t>
            </a:r>
            <a:r>
              <a:rPr lang="en">
                <a:solidFill>
                  <a:schemeClr val="accent1"/>
                </a:solidFill>
              </a:rPr>
              <a:t> is the exponential function. The thing in the square brackets is the </a:t>
            </a:r>
            <a:r>
              <a:rPr b="1" lang="en">
                <a:solidFill>
                  <a:schemeClr val="accent1"/>
                </a:solidFill>
              </a:rPr>
              <a:t>argument</a:t>
            </a:r>
            <a:r>
              <a:rPr lang="en">
                <a:solidFill>
                  <a:schemeClr val="accent1"/>
                </a:solidFill>
              </a:rPr>
              <a:t> of the exponential function .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Can define the Standard Normal Random Variable (</a:t>
            </a:r>
            <a:r>
              <a:rPr b="1" lang="en">
                <a:solidFill>
                  <a:srgbClr val="FF0000"/>
                </a:solidFill>
              </a:rPr>
              <a:t>Z value</a:t>
            </a:r>
            <a:r>
              <a:rPr lang="en">
                <a:solidFill>
                  <a:schemeClr val="accent1"/>
                </a:solidFill>
              </a:rPr>
              <a:t>) :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9" name="Google Shape;209;p27"/>
          <p:cNvSpPr/>
          <p:nvPr/>
        </p:nvSpPr>
        <p:spPr>
          <a:xfrm>
            <a:off x="4216800" y="2506900"/>
            <a:ext cx="2248500" cy="79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27" title="Screenshot 2026-10-17 at 20.42.3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3800" y="4017900"/>
            <a:ext cx="1589050" cy="926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Gaussian Parameters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8" title="Norm_mu0_sigma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2848"/>
            <a:ext cx="4986944" cy="389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8" title="Screenshot 2026-10-11 at 20.27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074" y="148825"/>
            <a:ext cx="3533651" cy="80979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5377650" y="1299775"/>
            <a:ext cx="3333900" cy="32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“location” </a:t>
            </a:r>
            <a:r>
              <a:rPr b="1" lang="en">
                <a:solidFill>
                  <a:schemeClr val="accent1"/>
                </a:solidFill>
              </a:rPr>
              <a:t>parameter</a:t>
            </a:r>
            <a:r>
              <a:rPr lang="en">
                <a:solidFill>
                  <a:schemeClr val="accent1"/>
                </a:solidFill>
              </a:rPr>
              <a:t> 𝜇 controls the central value of the distribution. 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 “scale” </a:t>
            </a:r>
            <a:r>
              <a:rPr b="1" lang="en">
                <a:solidFill>
                  <a:schemeClr val="accent1"/>
                </a:solidFill>
              </a:rPr>
              <a:t>parameter</a:t>
            </a:r>
            <a:r>
              <a:rPr lang="en">
                <a:solidFill>
                  <a:schemeClr val="accent1"/>
                </a:solidFill>
              </a:rPr>
              <a:t>  σ controls the spread of the distribution.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Probabilities</a:t>
            </a:r>
            <a:endParaRPr/>
          </a:p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311700" y="1152475"/>
            <a:ext cx="389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the Normal distribution is continuous, the probabilities are calculated using the Cumulative Distribution Function (CDF).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CDF is the probability of finding a value less than or equal to x: P( X ≤ x).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25" name="Google Shape;225;p29" title="Screenshot 2026-10-17 at 12.47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562" y="1152473"/>
            <a:ext cx="4777237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 title="Screenshot 2026-10-17 at 12.51.12.png"/>
          <p:cNvPicPr preferRelativeResize="0"/>
          <p:nvPr/>
        </p:nvPicPr>
        <p:blipFill rotWithShape="1">
          <a:blip r:embed="rId4">
            <a:alphaModFix/>
          </a:blip>
          <a:srcRect b="15086" l="32889" r="45698" t="51120"/>
          <a:stretch/>
        </p:blipFill>
        <p:spPr>
          <a:xfrm>
            <a:off x="1220375" y="2376088"/>
            <a:ext cx="1527975" cy="9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/>
        </p:nvSpPr>
        <p:spPr>
          <a:xfrm>
            <a:off x="377025" y="4365650"/>
            <a:ext cx="790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BUT</a:t>
            </a:r>
            <a:r>
              <a:rPr lang="en" sz="1800">
                <a:solidFill>
                  <a:schemeClr val="accent1"/>
                </a:solidFill>
              </a:rPr>
              <a:t> we can’t do this integral. It has no analytical solution.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Probabilities</a:t>
            </a:r>
            <a:endParaRPr/>
          </a:p>
        </p:txBody>
      </p:sp>
      <p:pic>
        <p:nvPicPr>
          <p:cNvPr id="233" name="Google Shape;233;p30" title="python-xkcd3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1187" y="525350"/>
            <a:ext cx="3688725" cy="418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311700" y="1152475"/>
            <a:ext cx="43218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used to use “look-up tables” to calculate Gaussian probabilities.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Luckily, we now have python libraries! </a:t>
            </a:r>
            <a:endParaRPr/>
          </a:p>
        </p:txBody>
      </p:sp>
      <p:pic>
        <p:nvPicPr>
          <p:cNvPr id="235" name="Google Shape;235;p30" title="Screenshot 2026-10-17 at 13.04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725" y="2440675"/>
            <a:ext cx="2954949" cy="216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 txBox="1"/>
          <p:nvPr/>
        </p:nvSpPr>
        <p:spPr>
          <a:xfrm>
            <a:off x="4827950" y="4743300"/>
            <a:ext cx="389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https://xkcd.com/353/</a:t>
            </a:r>
            <a:endParaRPr/>
          </a:p>
        </p:txBody>
      </p:sp>
      <p:sp>
        <p:nvSpPr>
          <p:cNvPr id="237" name="Google Shape;237;p30"/>
          <p:cNvSpPr txBox="1"/>
          <p:nvPr/>
        </p:nvSpPr>
        <p:spPr>
          <a:xfrm>
            <a:off x="79375" y="4712550"/>
            <a:ext cx="571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My preferred text editor: Sublime Text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Probabilities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311700" y="1152475"/>
            <a:ext cx="85206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any values of the </a:t>
            </a:r>
            <a:r>
              <a:rPr b="1" lang="en">
                <a:solidFill>
                  <a:schemeClr val="dk1"/>
                </a:solidFill>
              </a:rPr>
              <a:t>parameters</a:t>
            </a:r>
            <a:r>
              <a:rPr lang="en">
                <a:solidFill>
                  <a:schemeClr val="dk1"/>
                </a:solidFill>
              </a:rPr>
              <a:t> 𝜇 and σ, the “</a:t>
            </a:r>
            <a:r>
              <a:rPr lang="en">
                <a:solidFill>
                  <a:schemeClr val="accent1"/>
                </a:solidFill>
              </a:rPr>
              <a:t>68-95-99.7</a:t>
            </a:r>
            <a:r>
              <a:rPr lang="en">
                <a:solidFill>
                  <a:schemeClr val="dk1"/>
                </a:solidFill>
              </a:rPr>
              <a:t> rule” is satisfied.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These</a:t>
            </a:r>
            <a:r>
              <a:rPr lang="en">
                <a:solidFill>
                  <a:schemeClr val="dk1"/>
                </a:solidFill>
              </a:rPr>
              <a:t> are the percentages of the area under the PDF within </a:t>
            </a:r>
            <a:r>
              <a:rPr lang="en">
                <a:solidFill>
                  <a:schemeClr val="accent1"/>
                </a:solidFill>
              </a:rPr>
              <a:t>+/- 1-2-3 standard deviations (σ)</a:t>
            </a:r>
            <a:r>
              <a:rPr lang="en">
                <a:solidFill>
                  <a:schemeClr val="dk1"/>
                </a:solidFill>
              </a:rPr>
              <a:t> of the mean.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4" name="Google Shape;244;p31" title="Screenshot 2026-10-17 at 19.20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93075"/>
            <a:ext cx="8839200" cy="227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Infinite Range</a:t>
            </a:r>
            <a:endParaRPr/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311700" y="1152475"/>
            <a:ext cx="391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+/- 5</a:t>
            </a:r>
            <a:r>
              <a:rPr lang="en">
                <a:solidFill>
                  <a:schemeClr val="dk1"/>
                </a:solidFill>
              </a:rPr>
              <a:t>σ</a:t>
            </a:r>
            <a:r>
              <a:rPr lang="en"/>
              <a:t> covers</a:t>
            </a:r>
            <a:r>
              <a:rPr lang="en">
                <a:solidFill>
                  <a:srgbClr val="9900FF"/>
                </a:solidFill>
              </a:rPr>
              <a:t> ~99.999943%</a:t>
            </a:r>
            <a:r>
              <a:rPr lang="en"/>
              <a:t> of the area under the PDF. This is </a:t>
            </a:r>
            <a:r>
              <a:rPr lang="en">
                <a:solidFill>
                  <a:srgbClr val="9900FF"/>
                </a:solidFill>
              </a:rPr>
              <a:t>Confidence Level</a:t>
            </a:r>
            <a:r>
              <a:rPr lang="en"/>
              <a:t> for the </a:t>
            </a:r>
            <a:r>
              <a:rPr lang="en"/>
              <a:t>5</a:t>
            </a:r>
            <a:r>
              <a:rPr lang="en">
                <a:solidFill>
                  <a:schemeClr val="dk1"/>
                </a:solidFill>
              </a:rPr>
              <a:t>σ Confidence Interval.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means that I would expect to measure a value outside this range once in ~1.75M repeated experiments.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There is no value of X with zero </a:t>
            </a:r>
            <a:r>
              <a:rPr lang="en"/>
              <a:t>probability, because the Gaussian PDF has </a:t>
            </a:r>
            <a:r>
              <a:rPr b="1" lang="en"/>
              <a:t>infinite support</a:t>
            </a:r>
            <a:r>
              <a:rPr lang="en"/>
              <a:t>.</a:t>
            </a:r>
            <a:r>
              <a:rPr lang="en"/>
              <a:t> </a:t>
            </a:r>
            <a:endParaRPr/>
          </a:p>
        </p:txBody>
      </p:sp>
      <p:pic>
        <p:nvPicPr>
          <p:cNvPr id="251" name="Google Shape;251;p32" title="Screenshot 2026-10-17 at 19.25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6100" y="828550"/>
            <a:ext cx="4651775" cy="3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/>
          <p:nvPr/>
        </p:nvSpPr>
        <p:spPr>
          <a:xfrm>
            <a:off x="4147350" y="373275"/>
            <a:ext cx="204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y-axis is log scale</a:t>
            </a:r>
            <a:endParaRPr sz="1800">
              <a:solidFill>
                <a:schemeClr val="accent1"/>
              </a:solidFill>
            </a:endParaRPr>
          </a:p>
        </p:txBody>
      </p:sp>
      <p:pic>
        <p:nvPicPr>
          <p:cNvPr id="253" name="Google Shape;253;p32" title="Screenshot 2026-10-18 at 17.57.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726" y="4382950"/>
            <a:ext cx="5425275" cy="7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Rules</a:t>
            </a:r>
            <a:endParaRPr/>
          </a:p>
        </p:txBody>
      </p:sp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3006300" y="1690384"/>
            <a:ext cx="58260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is reverse operation to exponentiation.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 of quotient =&gt; difference of logs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 of product =&gt; sum of logs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Change of base: eg base 10 for “normal counting”, base 2 for binary, base e for the natural log “ln” (default for np.log)</a:t>
            </a:r>
            <a:endParaRPr/>
          </a:p>
        </p:txBody>
      </p:sp>
      <p:pic>
        <p:nvPicPr>
          <p:cNvPr id="260" name="Google Shape;260;p33" title="Screenshot 2026-10-17 at 19.37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309" y="3183725"/>
            <a:ext cx="1894675" cy="6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3" title="Screenshot 2026-10-17 at 19.36.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775" y="2188138"/>
            <a:ext cx="2601901" cy="539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3" title="Screenshot 2026-10-17 at 19.36.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704413"/>
            <a:ext cx="2601900" cy="410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3" title="Screenshot 2026-10-17 at 19.36.0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680472"/>
            <a:ext cx="1894675" cy="45775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3"/>
          <p:cNvSpPr txBox="1"/>
          <p:nvPr/>
        </p:nvSpPr>
        <p:spPr>
          <a:xfrm>
            <a:off x="361300" y="4598550"/>
            <a:ext cx="54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See full revision </a:t>
            </a:r>
            <a:r>
              <a:rPr lang="en" sz="1800" u="sng">
                <a:solidFill>
                  <a:schemeClr val="hlink"/>
                </a:solidFill>
                <a:hlinkClick r:id="rId7"/>
              </a:rPr>
              <a:t>here</a:t>
            </a:r>
            <a:r>
              <a:rPr lang="en" sz="1800">
                <a:solidFill>
                  <a:schemeClr val="dk2"/>
                </a:solidFill>
              </a:rPr>
              <a:t> or the HELM workbook </a:t>
            </a:r>
            <a:r>
              <a:rPr lang="en" sz="1800" u="sng">
                <a:solidFill>
                  <a:schemeClr val="hlink"/>
                </a:solidFill>
                <a:hlinkClick r:id="rId8"/>
              </a:rPr>
              <a:t>here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361300" y="2704491"/>
            <a:ext cx="5953200" cy="41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Logs?</a:t>
            </a:r>
            <a:endParaRPr/>
          </a:p>
        </p:txBody>
      </p:sp>
      <p:pic>
        <p:nvPicPr>
          <p:cNvPr id="271" name="Google Shape;2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95075"/>
            <a:ext cx="3458625" cy="27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4" title="PLOTDAT6-LogLikevMU cop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07262"/>
            <a:ext cx="3458625" cy="254967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311700" y="1017725"/>
            <a:ext cx="8520600" cy="12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Normal dist. is infinite in range, but we can’t see anything in the tails.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Log Normal is parabolic (-x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see why</a:t>
            </a:r>
            <a:r>
              <a:rPr lang="en">
                <a:solidFill>
                  <a:schemeClr val="dk1"/>
                </a:solidFill>
              </a:rPr>
              <a:t>): can see into the tails.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2163000" y="496100"/>
            <a:ext cx="43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Very useful for exploratory plots of data!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75" name="Google Shape;275;p34"/>
          <p:cNvSpPr txBox="1"/>
          <p:nvPr>
            <p:ph idx="1" type="body"/>
          </p:nvPr>
        </p:nvSpPr>
        <p:spPr>
          <a:xfrm>
            <a:off x="3621475" y="4556925"/>
            <a:ext cx="552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Note that ln(p) &lt;0 for 0&lt;p&lt;1: log probability is always negative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76" name="Google Shape;276;p34" title="Screenshot 2026-10-17 at 20.00.4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0075" y="4556913"/>
            <a:ext cx="220860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Logs?</a:t>
            </a:r>
            <a:endParaRPr/>
          </a:p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2133225" y="484713"/>
            <a:ext cx="43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Essential for numerical computations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83" name="Google Shape;283;p35" title="Screenshot 2026-10-17 at 19.36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75" y="1127426"/>
            <a:ext cx="2601900" cy="4108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5"/>
          <p:cNvSpPr txBox="1"/>
          <p:nvPr/>
        </p:nvSpPr>
        <p:spPr>
          <a:xfrm>
            <a:off x="486175" y="1752125"/>
            <a:ext cx="8346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Consider 1000 measurements. Each one has a probability between 0 and 1. Say, 0.5, for the sake of example.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</a:t>
            </a:r>
            <a:r>
              <a:rPr b="1" lang="en" sz="1800">
                <a:solidFill>
                  <a:schemeClr val="dk2"/>
                </a:solidFill>
              </a:rPr>
              <a:t>product</a:t>
            </a:r>
            <a:r>
              <a:rPr lang="en" sz="1800">
                <a:solidFill>
                  <a:schemeClr val="dk2"/>
                </a:solidFill>
              </a:rPr>
              <a:t> of these probabilities is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is close to the limit of the smallest number your computer can compute.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The </a:t>
            </a:r>
            <a:r>
              <a:rPr b="1" lang="en" sz="1800">
                <a:solidFill>
                  <a:schemeClr val="accent1"/>
                </a:solidFill>
              </a:rPr>
              <a:t>sum</a:t>
            </a:r>
            <a:r>
              <a:rPr lang="en" sz="1800">
                <a:solidFill>
                  <a:schemeClr val="accent1"/>
                </a:solidFill>
              </a:rPr>
              <a:t> of the logs by-passes this issue.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dk2"/>
              </a:solidFill>
            </a:endParaRPr>
          </a:p>
        </p:txBody>
      </p:sp>
      <p:pic>
        <p:nvPicPr>
          <p:cNvPr id="285" name="Google Shape;285;p35" title="Screenshot 2026-10-17 at 20.14.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8750" y="913562"/>
            <a:ext cx="2099875" cy="8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5" title="Screenshot 2026-10-17 at 20.17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8750" y="2571742"/>
            <a:ext cx="2601900" cy="433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5" title="Screenshot 2026-10-17 at 20.22.3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2500" y="3552423"/>
            <a:ext cx="3871901" cy="14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/>
          <p:nvPr/>
        </p:nvSpPr>
        <p:spPr>
          <a:xfrm>
            <a:off x="486175" y="1127500"/>
            <a:ext cx="2669100" cy="41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9" name="Google Shape;289;p35"/>
          <p:cNvCxnSpPr/>
          <p:nvPr/>
        </p:nvCxnSpPr>
        <p:spPr>
          <a:xfrm>
            <a:off x="3333750" y="1349375"/>
            <a:ext cx="91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Normal (Gaussian) Distribution</a:t>
            </a:r>
            <a:endParaRPr/>
          </a:p>
        </p:txBody>
      </p:sp>
      <p:sp>
        <p:nvSpPr>
          <p:cNvPr id="295" name="Google Shape;295;p36"/>
          <p:cNvSpPr txBox="1"/>
          <p:nvPr>
            <p:ph idx="1" type="body"/>
          </p:nvPr>
        </p:nvSpPr>
        <p:spPr>
          <a:xfrm>
            <a:off x="4861725" y="1152475"/>
            <a:ext cx="397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many things are normally distributed. Heights, weights, blood pressures, measured proton speeds, IQs, electronic noise, and experimental uncertainties.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things are not physically alike, but they are mathematically alike, because they are </a:t>
            </a:r>
            <a:r>
              <a:rPr b="1" lang="en"/>
              <a:t>combinations (sums, means) of many factors</a:t>
            </a:r>
            <a:r>
              <a:rPr lang="en"/>
              <a:t>.</a:t>
            </a:r>
            <a:endParaRPr/>
          </a:p>
        </p:txBody>
      </p:sp>
      <p:pic>
        <p:nvPicPr>
          <p:cNvPr id="296" name="Google Shape;296;p36" title="Screenshot 2026-10-17 at 12.03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969" y="1073100"/>
            <a:ext cx="4201033" cy="34164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6"/>
          <p:cNvSpPr txBox="1"/>
          <p:nvPr/>
        </p:nvSpPr>
        <p:spPr>
          <a:xfrm>
            <a:off x="370975" y="4568875"/>
            <a:ext cx="88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those with an interest in the math: </a:t>
            </a:r>
            <a:r>
              <a:rPr lang="en" u="sng">
                <a:solidFill>
                  <a:schemeClr val="hlink"/>
                </a:solidFill>
                <a:hlinkClick r:id="rId4"/>
              </a:rPr>
              <a:t>Nice blog</a:t>
            </a:r>
            <a:r>
              <a:rPr lang="en">
                <a:solidFill>
                  <a:schemeClr val="dk2"/>
                </a:solidFill>
              </a:rPr>
              <a:t> explaining Gauss’s process 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Limit Theorem</a:t>
            </a:r>
            <a:endParaRPr/>
          </a:p>
        </p:txBody>
      </p:sp>
      <p:sp>
        <p:nvSpPr>
          <p:cNvPr id="303" name="Google Shape;303;p37"/>
          <p:cNvSpPr txBox="1"/>
          <p:nvPr>
            <p:ph idx="1" type="body"/>
          </p:nvPr>
        </p:nvSpPr>
        <p:spPr>
          <a:xfrm>
            <a:off x="410925" y="1125750"/>
            <a:ext cx="85206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sums / means of RVs </a:t>
            </a:r>
            <a:r>
              <a:rPr b="1" lang="en" sz="2000"/>
              <a:t>from any underlying probability distribution</a:t>
            </a:r>
            <a:r>
              <a:rPr lang="en" sz="2000"/>
              <a:t> tend towards a normal distribution as the sample size N approaches infinity.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I calculate </a:t>
            </a:r>
            <a:r>
              <a:rPr b="1" lang="en" sz="2200"/>
              <a:t>one mean</a:t>
            </a:r>
            <a:r>
              <a:rPr lang="en" sz="2200"/>
              <a:t> from a </a:t>
            </a:r>
            <a:r>
              <a:rPr b="1" lang="en" sz="2200"/>
              <a:t>sample of size N</a:t>
            </a:r>
            <a:endParaRPr b="1" sz="2200"/>
          </a:p>
        </p:txBody>
      </p:sp>
      <p:pic>
        <p:nvPicPr>
          <p:cNvPr id="304" name="Google Shape;304;p37" title="Screenshot 2026-10-18 at 18.56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50" y="2429375"/>
            <a:ext cx="2175929" cy="11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7"/>
          <p:cNvSpPr txBox="1"/>
          <p:nvPr>
            <p:ph idx="1" type="body"/>
          </p:nvPr>
        </p:nvSpPr>
        <p:spPr>
          <a:xfrm>
            <a:off x="460000" y="3609775"/>
            <a:ext cx="49428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/>
              <a:t>N=1</a:t>
            </a:r>
            <a:r>
              <a:rPr lang="en" sz="2000"/>
              <a:t> roll of the dice, I score 2. The mean is 2. If I keep repeating this, I will get a </a:t>
            </a:r>
            <a:r>
              <a:rPr b="1" lang="en" sz="2000"/>
              <a:t>uniform distribution</a:t>
            </a:r>
            <a:r>
              <a:rPr lang="en" sz="2000"/>
              <a:t> [1,6]. The number of repetitions is not the sample size, but needs to be large enough for a distribution to reveal itself if I want a visual. Rule of thumb is at least 30 data points (means). I used 1000 for these plots.</a:t>
            </a:r>
            <a:endParaRPr sz="2000"/>
          </a:p>
        </p:txBody>
      </p:sp>
      <p:pic>
        <p:nvPicPr>
          <p:cNvPr id="306" name="Google Shape;306;p37" title="CLT-uniform-N1-Z1000-meanandf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5125" y="1992825"/>
            <a:ext cx="3175482" cy="235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Limit Theorem</a:t>
            </a:r>
            <a:endParaRPr/>
          </a:p>
        </p:txBody>
      </p:sp>
      <p:sp>
        <p:nvSpPr>
          <p:cNvPr id="312" name="Google Shape;312;p38"/>
          <p:cNvSpPr txBox="1"/>
          <p:nvPr>
            <p:ph idx="1" type="body"/>
          </p:nvPr>
        </p:nvSpPr>
        <p:spPr>
          <a:xfrm>
            <a:off x="410925" y="1125750"/>
            <a:ext cx="85206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sums / means of RVs </a:t>
            </a:r>
            <a:r>
              <a:rPr b="1" lang="en" sz="2000"/>
              <a:t>from any underlying probability distribution</a:t>
            </a:r>
            <a:r>
              <a:rPr lang="en" sz="2000"/>
              <a:t> tend towards a normal distribution as the sample size N approaches infinity.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I calculate </a:t>
            </a:r>
            <a:r>
              <a:rPr b="1" lang="en" sz="2200"/>
              <a:t>one mean</a:t>
            </a:r>
            <a:r>
              <a:rPr lang="en" sz="2200"/>
              <a:t> from a </a:t>
            </a:r>
            <a:r>
              <a:rPr b="1" lang="en" sz="2200"/>
              <a:t>sample of size N</a:t>
            </a:r>
            <a:endParaRPr b="1" sz="2200"/>
          </a:p>
        </p:txBody>
      </p:sp>
      <p:pic>
        <p:nvPicPr>
          <p:cNvPr id="313" name="Google Shape;313;p38" title="Screenshot 2026-10-18 at 18.56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450" y="2429375"/>
            <a:ext cx="2175929" cy="118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8"/>
          <p:cNvSpPr txBox="1"/>
          <p:nvPr>
            <p:ph idx="1" type="body"/>
          </p:nvPr>
        </p:nvSpPr>
        <p:spPr>
          <a:xfrm>
            <a:off x="529450" y="3609775"/>
            <a:ext cx="49428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" sz="2000"/>
              <a:t>N=3</a:t>
            </a:r>
            <a:r>
              <a:rPr lang="en" sz="2000"/>
              <a:t> rolls of the dice, I find eg 3,2,6, the mean is (3+2+6)/3 </a:t>
            </a:r>
            <a:r>
              <a:rPr lang="en" sz="2300"/>
              <a:t>≈</a:t>
            </a:r>
            <a:r>
              <a:rPr lang="en" sz="2000"/>
              <a:t> 3.67. Repeat a bunch of times. there will be more values close to the central value and fewer in the tails (only one way to achieve a mean of 1, 6 for example)</a:t>
            </a:r>
            <a:endParaRPr sz="2000"/>
          </a:p>
        </p:txBody>
      </p:sp>
      <p:pic>
        <p:nvPicPr>
          <p:cNvPr id="315" name="Google Shape;315;p38" title="CLT-uniform-N3-Z1000-meanandf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4800" y="2201200"/>
            <a:ext cx="3182430" cy="235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Limit Theorem</a:t>
            </a:r>
            <a:endParaRPr/>
          </a:p>
        </p:txBody>
      </p:sp>
      <p:sp>
        <p:nvSpPr>
          <p:cNvPr id="321" name="Google Shape;321;p39"/>
          <p:cNvSpPr txBox="1"/>
          <p:nvPr>
            <p:ph idx="1" type="body"/>
          </p:nvPr>
        </p:nvSpPr>
        <p:spPr>
          <a:xfrm>
            <a:off x="361300" y="1512700"/>
            <a:ext cx="3161100" cy="25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more dice I roll to calculate the mean (higher N), the smoother and more centrally focused my distribution becomes.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this example with </a:t>
            </a:r>
            <a:r>
              <a:rPr b="1" lang="en"/>
              <a:t>N=100</a:t>
            </a:r>
            <a:r>
              <a:rPr lang="en"/>
              <a:t> dice, the distribution of means resembles a Normal distribution with </a:t>
            </a:r>
            <a:r>
              <a:rPr lang="en">
                <a:solidFill>
                  <a:schemeClr val="dk1"/>
                </a:solidFill>
              </a:rPr>
              <a:t>𝜇 =3.5 and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 σ=0.17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22" name="Google Shape;322;p39" title="CLT-uniform-N100-Z1000-meanandf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800" y="1170125"/>
            <a:ext cx="515873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Limit Theorem</a:t>
            </a:r>
            <a:endParaRPr/>
          </a:p>
        </p:txBody>
      </p:sp>
      <p:sp>
        <p:nvSpPr>
          <p:cNvPr id="328" name="Google Shape;328;p40"/>
          <p:cNvSpPr txBox="1"/>
          <p:nvPr>
            <p:ph idx="1" type="body"/>
          </p:nvPr>
        </p:nvSpPr>
        <p:spPr>
          <a:xfrm>
            <a:off x="361300" y="1512700"/>
            <a:ext cx="3161100" cy="25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example with 10,000 dice, the distribution of means resembles a Normal distribution with </a:t>
            </a:r>
            <a:r>
              <a:rPr lang="en">
                <a:solidFill>
                  <a:schemeClr val="dk1"/>
                </a:solidFill>
              </a:rPr>
              <a:t>𝜇 =3.5 and σ=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0.02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distribution of means is </a:t>
            </a:r>
            <a:r>
              <a:rPr b="1" lang="en"/>
              <a:t>approaching a Central Limit </a:t>
            </a:r>
            <a:r>
              <a:rPr lang="en"/>
              <a:t>equal to the expectation </a:t>
            </a:r>
            <a:r>
              <a:rPr lang="en">
                <a:solidFill>
                  <a:schemeClr val="dk1"/>
                </a:solidFill>
              </a:rPr>
              <a:t>𝜇 =3.5.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The width of the distribution is shrinking as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29" name="Google Shape;329;p40" title="CLT-uniform-N10000-Z1000-meanandf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4800" y="1170125"/>
            <a:ext cx="516709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0" title="Screenshot 2026-10-18 at 18.50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250" y="3909450"/>
            <a:ext cx="169897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CLT versus LLN</a:t>
            </a:r>
            <a:endParaRPr/>
          </a:p>
        </p:txBody>
      </p:sp>
      <p:sp>
        <p:nvSpPr>
          <p:cNvPr id="336" name="Google Shape;33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4403C"/>
                </a:solidFill>
                <a:highlight>
                  <a:srgbClr val="FFFFFF"/>
                </a:highlight>
              </a:rPr>
              <a:t>The </a:t>
            </a:r>
            <a:r>
              <a:rPr lang="en">
                <a:solidFill>
                  <a:srgbClr val="111827"/>
                </a:solidFill>
                <a:highlight>
                  <a:srgbClr val="FFFFFF"/>
                </a:highlight>
              </a:rPr>
              <a:t>Law of Large Numbers (LLN)</a:t>
            </a:r>
            <a:r>
              <a:rPr baseline="30000" lang="en">
                <a:solidFill>
                  <a:srgbClr val="111827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rgbClr val="44403C"/>
                </a:solidFill>
                <a:highlight>
                  <a:srgbClr val="FFFFFF"/>
                </a:highlight>
              </a:rPr>
              <a:t>tells us that if we were to increase the size of the data sample to infinity the sample mean would approach the true mean with high probability. </a:t>
            </a:r>
            <a:r>
              <a:rPr lang="en">
                <a:solidFill>
                  <a:schemeClr val="accent1"/>
                </a:solidFill>
                <a:highlight>
                  <a:srgbClr val="FFFFFF"/>
                </a:highlight>
              </a:rPr>
              <a:t>This relates the mean value of a data distribution to the mean of the true </a:t>
            </a:r>
            <a:r>
              <a:rPr lang="en">
                <a:solidFill>
                  <a:schemeClr val="accent1"/>
                </a:solidFill>
                <a:highlight>
                  <a:srgbClr val="FFFFFF"/>
                </a:highlight>
              </a:rPr>
              <a:t>underlying</a:t>
            </a:r>
            <a:r>
              <a:rPr lang="en">
                <a:solidFill>
                  <a:schemeClr val="accent1"/>
                </a:solidFill>
                <a:highlight>
                  <a:srgbClr val="FFFFFF"/>
                </a:highlight>
              </a:rPr>
              <a:t> distribution. </a:t>
            </a: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N is the number of measurements in the distribution.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This is not specific to the Normal distribution.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4403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4403C"/>
                </a:solidFill>
                <a:highlight>
                  <a:srgbClr val="FFFFFF"/>
                </a:highlight>
              </a:rPr>
              <a:t>The Central Limit Theorem (CLT) tells us that the distribution of means calculated from N samples approaches a normal distribution as N approaches infinity.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This relates the distribution of the means to a normal distribution. </a:t>
            </a:r>
            <a:r>
              <a:rPr lang="en">
                <a:solidFill>
                  <a:srgbClr val="FF0000"/>
                </a:solidFill>
                <a:highlight>
                  <a:srgbClr val="FFFFFF"/>
                </a:highlight>
              </a:rPr>
              <a:t>N is the number of samples used to calculate the means in the distribution.</a:t>
            </a:r>
            <a:endParaRPr sz="1200">
              <a:solidFill>
                <a:srgbClr val="44403C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03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Tests</a:t>
            </a:r>
            <a:endParaRPr/>
          </a:p>
        </p:txBody>
      </p:sp>
      <p:pic>
        <p:nvPicPr>
          <p:cNvPr id="342" name="Google Shape;342;p42" title="Screenshot 2026-10-11 at 20.16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775" y="1017725"/>
            <a:ext cx="661579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Focus: Hypothesis Tests</a:t>
            </a:r>
            <a:endParaRPr/>
          </a:p>
        </p:txBody>
      </p:sp>
      <p:sp>
        <p:nvSpPr>
          <p:cNvPr id="348" name="Google Shape;34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Designing a test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 p value is and is not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Null and Alternative Hypothesis</a:t>
            </a:r>
            <a:endParaRPr/>
          </a:p>
        </p:txBody>
      </p:sp>
      <p:pic>
        <p:nvPicPr>
          <p:cNvPr id="354" name="Google Shape;354;p44" title="Screenshot 2026-10-18 at 20.27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88" y="1080825"/>
            <a:ext cx="4795074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4" title="Screenshot 2026-10-18 at 20.28.3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8975" y="1165625"/>
            <a:ext cx="3514725" cy="52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 title="5351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8975" y="2996425"/>
            <a:ext cx="3847775" cy="416727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4"/>
          <p:cNvSpPr txBox="1"/>
          <p:nvPr/>
        </p:nvSpPr>
        <p:spPr>
          <a:xfrm>
            <a:off x="5208975" y="1815700"/>
            <a:ext cx="3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“Nothing to see here”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5208975" y="3575450"/>
            <a:ext cx="39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“Higgs Boson!”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59" name="Google Shape;359;p44"/>
          <p:cNvCxnSpPr/>
          <p:nvPr/>
        </p:nvCxnSpPr>
        <p:spPr>
          <a:xfrm flipH="1" rot="10800000">
            <a:off x="5387575" y="2281738"/>
            <a:ext cx="2738400" cy="29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4"/>
          <p:cNvCxnSpPr/>
          <p:nvPr/>
        </p:nvCxnSpPr>
        <p:spPr>
          <a:xfrm flipH="1" rot="10800000">
            <a:off x="5262150" y="4098113"/>
            <a:ext cx="2738400" cy="29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test a hypothesis</a:t>
            </a:r>
            <a:endParaRPr/>
          </a:p>
        </p:txBody>
      </p:sp>
      <p:sp>
        <p:nvSpPr>
          <p:cNvPr id="366" name="Google Shape;36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Before looking at your data</a:t>
            </a:r>
            <a:r>
              <a:rPr lang="en"/>
              <a:t>, define a </a:t>
            </a:r>
            <a:r>
              <a:rPr b="1" lang="en"/>
              <a:t>Critical Region</a:t>
            </a:r>
            <a:r>
              <a:rPr lang="en"/>
              <a:t> using a </a:t>
            </a:r>
            <a:r>
              <a:rPr b="1" lang="en"/>
              <a:t>Significance Level α 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The smaller </a:t>
            </a:r>
            <a:r>
              <a:rPr lang="en"/>
              <a:t>α </a:t>
            </a:r>
            <a:r>
              <a:rPr b="1" lang="en"/>
              <a:t>is, the less likely you are to get a dreaded “Type 1 error”</a:t>
            </a:r>
            <a:r>
              <a:rPr lang="en"/>
              <a:t>, in which you claim to have rejected the Null Hypothesis but are wrong. Many people (eg medics) use α = 5% (random chance of a Type 1 error is 1 in 20), particle physicists use “5𝝈” (α ≅ 0.00006%, chance of a Type 1 error is 1 in 1.7M).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Why don’t medics use a smaller </a:t>
            </a:r>
            <a:r>
              <a:rPr b="1" lang="en">
                <a:solidFill>
                  <a:schemeClr val="accent1"/>
                </a:solidFill>
              </a:rPr>
              <a:t>α,</a:t>
            </a:r>
            <a:r>
              <a:rPr lang="en">
                <a:solidFill>
                  <a:schemeClr val="accent1"/>
                </a:solidFill>
              </a:rPr>
              <a:t> and find out their published claims are wrong less often?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Significance Level defines the Critical Region: a region where the Null Hypothesis has low probability (α). Aim of the game is to define this region such that the alternative hypothesis distribution is not decimated!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Region</a:t>
            </a:r>
            <a:endParaRPr/>
          </a:p>
        </p:txBody>
      </p:sp>
      <p:pic>
        <p:nvPicPr>
          <p:cNvPr id="372" name="Google Shape;372;p46" title="Screenshot 2026-10-18 at 17.20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591" y="138250"/>
            <a:ext cx="3806085" cy="243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6" title="Screenshot 2026-10-18 at 17.20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7650" y="2500547"/>
            <a:ext cx="3524650" cy="253022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6"/>
          <p:cNvSpPr txBox="1"/>
          <p:nvPr/>
        </p:nvSpPr>
        <p:spPr>
          <a:xfrm>
            <a:off x="486300" y="1081475"/>
            <a:ext cx="4614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Easiest to visualise in 1D - but critical regions are usually multi-dimensional.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Choosing a small significance level </a:t>
            </a:r>
            <a:r>
              <a:rPr b="1" lang="en" sz="1800">
                <a:solidFill>
                  <a:schemeClr val="dk2"/>
                </a:solidFill>
              </a:rPr>
              <a:t>α </a:t>
            </a:r>
            <a:r>
              <a:rPr lang="en" sz="1800">
                <a:solidFill>
                  <a:schemeClr val="dk2"/>
                </a:solidFill>
              </a:rPr>
              <a:t>reduces the chance of a type 1 error (good!), but also reduces the “power” of the test in terms of the alternative hypothesis (bad).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is because the null and alternative distributions (always) overlap.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Designing an optimal critical region (choosing selection cuts) is a lot of work.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Purity and Efficiency</a:t>
            </a:r>
            <a:endParaRPr/>
          </a:p>
        </p:txBody>
      </p:sp>
      <p:pic>
        <p:nvPicPr>
          <p:cNvPr id="380" name="Google Shape;380;p47" title="Screenshot 2026-10-18 at 17.20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591" y="138250"/>
            <a:ext cx="3806085" cy="243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7" title="Screenshot 2026-10-18 at 17.20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7650" y="2500547"/>
            <a:ext cx="3524650" cy="253022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7"/>
          <p:cNvSpPr txBox="1"/>
          <p:nvPr/>
        </p:nvSpPr>
        <p:spPr>
          <a:xfrm>
            <a:off x="486300" y="1200550"/>
            <a:ext cx="45243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 you have loads of data (particle physics) you can push </a:t>
            </a:r>
            <a:r>
              <a:rPr b="1" lang="en" sz="1800">
                <a:solidFill>
                  <a:schemeClr val="dk2"/>
                </a:solidFill>
              </a:rPr>
              <a:t>α</a:t>
            </a:r>
            <a:r>
              <a:rPr lang="en" sz="1800">
                <a:solidFill>
                  <a:schemeClr val="dk2"/>
                </a:solidFill>
              </a:rPr>
              <a:t> to very small values, ensuring a high-purity critical region (pure: very </a:t>
            </a:r>
            <a:r>
              <a:rPr lang="en" sz="1800">
                <a:solidFill>
                  <a:schemeClr val="dk2"/>
                </a:solidFill>
              </a:rPr>
              <a:t>little</a:t>
            </a:r>
            <a:r>
              <a:rPr lang="en" sz="1800">
                <a:solidFill>
                  <a:schemeClr val="dk2"/>
                </a:solidFill>
              </a:rPr>
              <a:t> null hypothesis in there). This is because you can still expect to see some alternative hypothesis events</a:t>
            </a:r>
            <a:r>
              <a:rPr b="1" lang="en" sz="1800">
                <a:solidFill>
                  <a:srgbClr val="4A86E8"/>
                </a:solidFill>
              </a:rPr>
              <a:t>*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 you are “statistically limited” (small dataset) you will be focusing on high efficiency for the alternative hypothesis, which means larger α.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</a:rPr>
              <a:t>*if  </a:t>
            </a:r>
            <a:r>
              <a:rPr lang="en" sz="1600">
                <a:solidFill>
                  <a:schemeClr val="dk2"/>
                </a:solidFill>
              </a:rPr>
              <a:t>the alternative hypothesis is the underlying truth!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Focus: Hypothesis Tests</a:t>
            </a:r>
            <a:endParaRPr/>
          </a:p>
        </p:txBody>
      </p:sp>
      <p:sp>
        <p:nvSpPr>
          <p:cNvPr id="388" name="Google Shape;38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Designing a test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Terminology : So. Many. Words (and acronyms)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 p value is and is not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Labels and Truth Labels</a:t>
            </a:r>
            <a:endParaRPr/>
          </a:p>
        </p:txBody>
      </p:sp>
      <p:sp>
        <p:nvSpPr>
          <p:cNvPr id="394" name="Google Shape;394;p49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44403C"/>
                </a:solidFill>
              </a:rPr>
              <a:t>Count the intersections between the two possible </a:t>
            </a:r>
            <a:r>
              <a:rPr b="1" lang="en" sz="1600">
                <a:solidFill>
                  <a:srgbClr val="44403C"/>
                </a:solidFill>
              </a:rPr>
              <a:t>data labels </a:t>
            </a:r>
            <a:r>
              <a:rPr lang="en" sz="1600">
                <a:solidFill>
                  <a:srgbClr val="44403C"/>
                </a:solidFill>
              </a:rPr>
              <a:t>and the two possible </a:t>
            </a:r>
            <a:r>
              <a:rPr b="1" lang="en" sz="1600">
                <a:solidFill>
                  <a:srgbClr val="44403C"/>
                </a:solidFill>
              </a:rPr>
              <a:t>truth labels</a:t>
            </a:r>
            <a:r>
              <a:rPr lang="en" sz="1600">
                <a:solidFill>
                  <a:srgbClr val="44403C"/>
                </a:solidFill>
              </a:rPr>
              <a:t>. The total sample size is </a:t>
            </a:r>
            <a:r>
              <a:rPr lang="en" sz="1600">
                <a:solidFill>
                  <a:srgbClr val="44403C"/>
                </a:solidFill>
              </a:rPr>
              <a:t>N</a:t>
            </a:r>
            <a:r>
              <a:rPr baseline="-25000" lang="en" sz="1600">
                <a:solidFill>
                  <a:srgbClr val="44403C"/>
                </a:solidFill>
              </a:rPr>
              <a:t>s</a:t>
            </a:r>
            <a:r>
              <a:rPr lang="en" sz="1600">
                <a:solidFill>
                  <a:srgbClr val="44403C"/>
                </a:solidFill>
              </a:rPr>
              <a:t>.</a:t>
            </a:r>
            <a:endParaRPr sz="1600">
              <a:solidFill>
                <a:srgbClr val="44403C"/>
              </a:solidFill>
            </a:endParaRPr>
          </a:p>
        </p:txBody>
      </p:sp>
      <p:graphicFrame>
        <p:nvGraphicFramePr>
          <p:cNvPr id="395" name="Google Shape;395;p49"/>
          <p:cNvGraphicFramePr/>
          <p:nvPr/>
        </p:nvGraphicFramePr>
        <p:xfrm>
          <a:off x="1448575" y="2458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A ∩ 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 A ∩ 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 A’ ∩ 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 A’ ∩ 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6" name="Google Shape;396;p49"/>
          <p:cNvSpPr txBox="1"/>
          <p:nvPr/>
        </p:nvSpPr>
        <p:spPr>
          <a:xfrm>
            <a:off x="426525" y="3065500"/>
            <a:ext cx="118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Truth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97" name="Google Shape;397;p49"/>
          <p:cNvSpPr txBox="1"/>
          <p:nvPr/>
        </p:nvSpPr>
        <p:spPr>
          <a:xfrm>
            <a:off x="3595275" y="1887850"/>
            <a:ext cx="1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Data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98" name="Google Shape;398;p49"/>
          <p:cNvSpPr txBox="1"/>
          <p:nvPr/>
        </p:nvSpPr>
        <p:spPr>
          <a:xfrm>
            <a:off x="1141025" y="2881006"/>
            <a:ext cx="105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399" name="Google Shape;399;p49"/>
          <p:cNvSpPr txBox="1"/>
          <p:nvPr/>
        </p:nvSpPr>
        <p:spPr>
          <a:xfrm rot="5400000">
            <a:off x="4151663" y="1920760"/>
            <a:ext cx="41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True</a:t>
            </a:r>
            <a:r>
              <a:rPr b="1" lang="en"/>
              <a:t>/False</a:t>
            </a:r>
            <a:r>
              <a:rPr lang="en"/>
              <a:t> Positive/Negative Rates</a:t>
            </a:r>
            <a:endParaRPr/>
          </a:p>
        </p:txBody>
      </p:sp>
      <p:sp>
        <p:nvSpPr>
          <p:cNvPr id="405" name="Google Shape;405;p50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accent5"/>
                </a:solidFill>
              </a:rPr>
              <a:t>“</a:t>
            </a:r>
            <a:r>
              <a:rPr b="1" lang="en" sz="1600">
                <a:solidFill>
                  <a:schemeClr val="accent5"/>
                </a:solidFill>
              </a:rPr>
              <a:t>True</a:t>
            </a:r>
            <a:r>
              <a:rPr lang="en" sz="1600"/>
              <a:t>”:  The Data Label </a:t>
            </a:r>
            <a:r>
              <a:rPr b="1" lang="en" sz="1600">
                <a:solidFill>
                  <a:schemeClr val="accent5"/>
                </a:solidFill>
              </a:rPr>
              <a:t>matches</a:t>
            </a:r>
            <a:r>
              <a:rPr lang="en" sz="1600"/>
              <a:t> the Truth Label   (“true” → “correct”)</a:t>
            </a:r>
            <a:endParaRPr sz="1600">
              <a:solidFill>
                <a:srgbClr val="44403C"/>
              </a:solidFill>
            </a:endParaRPr>
          </a:p>
        </p:txBody>
      </p:sp>
      <p:graphicFrame>
        <p:nvGraphicFramePr>
          <p:cNvPr id="406" name="Google Shape;406;p50"/>
          <p:cNvGraphicFramePr/>
          <p:nvPr/>
        </p:nvGraphicFramePr>
        <p:xfrm>
          <a:off x="1448575" y="2458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N( A ∩ a)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 A ∩ 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 A’ ∩ 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N( A’ ∩ a’)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7" name="Google Shape;407;p50"/>
          <p:cNvSpPr txBox="1"/>
          <p:nvPr/>
        </p:nvSpPr>
        <p:spPr>
          <a:xfrm>
            <a:off x="426525" y="3065500"/>
            <a:ext cx="118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Truth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08" name="Google Shape;408;p50"/>
          <p:cNvSpPr txBox="1"/>
          <p:nvPr/>
        </p:nvSpPr>
        <p:spPr>
          <a:xfrm>
            <a:off x="3595275" y="1887850"/>
            <a:ext cx="1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Data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09" name="Google Shape;409;p50"/>
          <p:cNvSpPr txBox="1"/>
          <p:nvPr/>
        </p:nvSpPr>
        <p:spPr>
          <a:xfrm>
            <a:off x="1141025" y="2881006"/>
            <a:ext cx="105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410" name="Google Shape;410;p50"/>
          <p:cNvSpPr txBox="1"/>
          <p:nvPr/>
        </p:nvSpPr>
        <p:spPr>
          <a:xfrm rot="5400000">
            <a:off x="4151663" y="1920760"/>
            <a:ext cx="41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/>
              <a:t>True/</a:t>
            </a:r>
            <a:r>
              <a:rPr b="1" lang="en">
                <a:solidFill>
                  <a:srgbClr val="FF0000"/>
                </a:solidFill>
              </a:rPr>
              <a:t>False</a:t>
            </a:r>
            <a:r>
              <a:rPr lang="en"/>
              <a:t> Positive/Negative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1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FF0000"/>
                </a:solidFill>
              </a:rPr>
              <a:t>“False</a:t>
            </a:r>
            <a:r>
              <a:rPr lang="en" sz="1600">
                <a:solidFill>
                  <a:srgbClr val="FF0000"/>
                </a:solidFill>
              </a:rPr>
              <a:t>”</a:t>
            </a:r>
            <a:r>
              <a:rPr lang="en" sz="1600"/>
              <a:t>:  The Data Label </a:t>
            </a:r>
            <a:r>
              <a:rPr b="1" lang="en" sz="1600">
                <a:solidFill>
                  <a:srgbClr val="FF0000"/>
                </a:solidFill>
              </a:rPr>
              <a:t>does not </a:t>
            </a:r>
            <a:r>
              <a:rPr b="1" lang="en" sz="1600">
                <a:solidFill>
                  <a:srgbClr val="FF0000"/>
                </a:solidFill>
              </a:rPr>
              <a:t>match</a:t>
            </a:r>
            <a:r>
              <a:rPr lang="en" sz="1600"/>
              <a:t> the Truth Label   (“false” → “incorrect”)</a:t>
            </a:r>
            <a:endParaRPr sz="1600">
              <a:solidFill>
                <a:srgbClr val="44403C"/>
              </a:solidFill>
            </a:endParaRPr>
          </a:p>
        </p:txBody>
      </p:sp>
      <p:graphicFrame>
        <p:nvGraphicFramePr>
          <p:cNvPr id="417" name="Google Shape;417;p51"/>
          <p:cNvGraphicFramePr/>
          <p:nvPr/>
        </p:nvGraphicFramePr>
        <p:xfrm>
          <a:off x="1448575" y="2458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N( A ∩ a)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N( A ∩ a’)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N( A’ ∩ a)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N( A’ ∩ a’)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8" name="Google Shape;418;p51"/>
          <p:cNvSpPr txBox="1"/>
          <p:nvPr/>
        </p:nvSpPr>
        <p:spPr>
          <a:xfrm>
            <a:off x="426525" y="3065500"/>
            <a:ext cx="118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Truth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19" name="Google Shape;419;p51"/>
          <p:cNvSpPr txBox="1"/>
          <p:nvPr/>
        </p:nvSpPr>
        <p:spPr>
          <a:xfrm>
            <a:off x="3595275" y="1887850"/>
            <a:ext cx="1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Data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20" name="Google Shape;420;p51"/>
          <p:cNvSpPr txBox="1"/>
          <p:nvPr/>
        </p:nvSpPr>
        <p:spPr>
          <a:xfrm>
            <a:off x="1141025" y="2881006"/>
            <a:ext cx="105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421" name="Google Shape;421;p51"/>
          <p:cNvSpPr txBox="1"/>
          <p:nvPr/>
        </p:nvSpPr>
        <p:spPr>
          <a:xfrm rot="5400000">
            <a:off x="4151663" y="1920760"/>
            <a:ext cx="41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True/False </a:t>
            </a:r>
            <a:r>
              <a:rPr b="1" lang="en"/>
              <a:t>Positive/Negative</a:t>
            </a:r>
            <a:r>
              <a:rPr lang="en"/>
              <a:t>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52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</a:t>
            </a:r>
            <a:r>
              <a:rPr b="1" lang="en" sz="1600">
                <a:solidFill>
                  <a:schemeClr val="dk1"/>
                </a:solidFill>
              </a:rPr>
              <a:t>Data Label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indicates a </a:t>
            </a:r>
            <a:r>
              <a:rPr lang="en" sz="1600">
                <a:solidFill>
                  <a:schemeClr val="dk1"/>
                </a:solidFill>
              </a:rPr>
              <a:t>positive</a:t>
            </a:r>
            <a:r>
              <a:rPr lang="en" sz="1600">
                <a:solidFill>
                  <a:schemeClr val="dk1"/>
                </a:solidFill>
              </a:rPr>
              <a:t> result</a:t>
            </a:r>
            <a:r>
              <a:rPr lang="en" sz="1600">
                <a:solidFill>
                  <a:schemeClr val="dk1"/>
                </a:solidFill>
              </a:rPr>
              <a:t> (a) or a negative result (a’)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428" name="Google Shape;428;p52"/>
          <p:cNvGraphicFramePr/>
          <p:nvPr/>
        </p:nvGraphicFramePr>
        <p:xfrm>
          <a:off x="1448575" y="2458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N( A ∩ a)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N( A ∩ a’)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N( A’ ∩ a)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N( A’ ∩ a’)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N(a’)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9" name="Google Shape;429;p52"/>
          <p:cNvSpPr txBox="1"/>
          <p:nvPr/>
        </p:nvSpPr>
        <p:spPr>
          <a:xfrm>
            <a:off x="426525" y="3065500"/>
            <a:ext cx="118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Truth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30" name="Google Shape;430;p52"/>
          <p:cNvSpPr txBox="1"/>
          <p:nvPr/>
        </p:nvSpPr>
        <p:spPr>
          <a:xfrm>
            <a:off x="3595275" y="1887850"/>
            <a:ext cx="1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Data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31" name="Google Shape;431;p52"/>
          <p:cNvSpPr txBox="1"/>
          <p:nvPr/>
        </p:nvSpPr>
        <p:spPr>
          <a:xfrm>
            <a:off x="1141025" y="2881006"/>
            <a:ext cx="105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432" name="Google Shape;432;p52"/>
          <p:cNvSpPr txBox="1"/>
          <p:nvPr/>
        </p:nvSpPr>
        <p:spPr>
          <a:xfrm rot="5400000">
            <a:off x="4151663" y="1920760"/>
            <a:ext cx="41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True/False </a:t>
            </a:r>
            <a:r>
              <a:rPr b="1" lang="en"/>
              <a:t>Positive/Negative</a:t>
            </a:r>
            <a:r>
              <a:rPr lang="en"/>
              <a:t>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3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 </a:t>
            </a:r>
            <a:r>
              <a:rPr b="1" lang="en" sz="1600">
                <a:solidFill>
                  <a:schemeClr val="dk1"/>
                </a:solidFill>
              </a:rPr>
              <a:t>Data Label</a:t>
            </a:r>
            <a:r>
              <a:rPr lang="en" sz="1600">
                <a:solidFill>
                  <a:schemeClr val="dk1"/>
                </a:solidFill>
              </a:rPr>
              <a:t> indicates a positive result (a) or a negative result (a’)</a:t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439" name="Google Shape;439;p53"/>
          <p:cNvGraphicFramePr/>
          <p:nvPr/>
        </p:nvGraphicFramePr>
        <p:xfrm>
          <a:off x="1448575" y="2458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TP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</a:rPr>
                        <a:t>TP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40" name="Google Shape;440;p53"/>
          <p:cNvSpPr txBox="1"/>
          <p:nvPr/>
        </p:nvSpPr>
        <p:spPr>
          <a:xfrm>
            <a:off x="426525" y="3065500"/>
            <a:ext cx="118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Truth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1" name="Google Shape;441;p53"/>
          <p:cNvSpPr txBox="1"/>
          <p:nvPr/>
        </p:nvSpPr>
        <p:spPr>
          <a:xfrm>
            <a:off x="3595275" y="1887850"/>
            <a:ext cx="1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Data Labels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42" name="Google Shape;442;p53"/>
          <p:cNvSpPr txBox="1"/>
          <p:nvPr/>
        </p:nvSpPr>
        <p:spPr>
          <a:xfrm>
            <a:off x="1141025" y="2881006"/>
            <a:ext cx="105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443" name="Google Shape;443;p53"/>
          <p:cNvSpPr txBox="1"/>
          <p:nvPr/>
        </p:nvSpPr>
        <p:spPr>
          <a:xfrm rot="5400000">
            <a:off x="4151663" y="1920760"/>
            <a:ext cx="41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{</a:t>
            </a:r>
            <a:endParaRPr sz="4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My Opinion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area of statistics does not have to be anywhere near as complicated and confusing as it most people present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want to know two things: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Did my labelling catch most of the true events of interest? “Efficiency”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fraction of my dataset is correctly labelled? “Purity”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 : </a:t>
            </a:r>
            <a:r>
              <a:rPr b="1" lang="en"/>
              <a:t>Efficiency = N correct / N truth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</a:t>
            </a:r>
            <a:r>
              <a:rPr lang="en"/>
              <a:t> : </a:t>
            </a:r>
            <a:r>
              <a:rPr b="1" lang="en"/>
              <a:t>Purity = N correct / N data</a:t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Simple versus Confusing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know two things: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Did my labelling catch most of the true events of interest? “Efficiency”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fraction of my dataset is correctly labelled? “Purity”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1 : </a:t>
            </a:r>
            <a:r>
              <a:rPr b="1" lang="en">
                <a:solidFill>
                  <a:schemeClr val="accent1"/>
                </a:solidFill>
              </a:rPr>
              <a:t>Efficiency = N correct / N truth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2 : </a:t>
            </a:r>
            <a:r>
              <a:rPr b="1" lang="en"/>
              <a:t>Purity = N correct / N data</a:t>
            </a:r>
            <a:endParaRPr b="1"/>
          </a:p>
        </p:txBody>
      </p:sp>
      <p:sp>
        <p:nvSpPr>
          <p:cNvPr id="456" name="Google Shape;456;p55"/>
          <p:cNvSpPr txBox="1"/>
          <p:nvPr/>
        </p:nvSpPr>
        <p:spPr>
          <a:xfrm>
            <a:off x="4296175" y="2879900"/>
            <a:ext cx="4722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TPR = </a:t>
            </a:r>
            <a:r>
              <a:rPr b="1" lang="en" sz="1600">
                <a:solidFill>
                  <a:schemeClr val="accent1"/>
                </a:solidFill>
              </a:rPr>
              <a:t>TP / (TP+FN) = </a:t>
            </a:r>
            <a:r>
              <a:rPr b="1" lang="en" sz="1800">
                <a:solidFill>
                  <a:schemeClr val="accent1"/>
                </a:solidFill>
              </a:rPr>
              <a:t> Sensitivity</a:t>
            </a:r>
            <a:r>
              <a:rPr lang="en" sz="1800">
                <a:solidFill>
                  <a:schemeClr val="accent1"/>
                </a:solidFill>
              </a:rPr>
              <a:t> = 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N correct (positive) / N truth (positive)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TNR = </a:t>
            </a:r>
            <a:r>
              <a:rPr b="1" lang="en" sz="1600">
                <a:solidFill>
                  <a:schemeClr val="accent1"/>
                </a:solidFill>
              </a:rPr>
              <a:t>TN / (FP+TN) = </a:t>
            </a:r>
            <a:r>
              <a:rPr b="1" lang="en" sz="1800">
                <a:solidFill>
                  <a:schemeClr val="accent1"/>
                </a:solidFill>
              </a:rPr>
              <a:t>Specificity</a:t>
            </a:r>
            <a:r>
              <a:rPr lang="en" sz="1800">
                <a:solidFill>
                  <a:schemeClr val="accent1"/>
                </a:solidFill>
              </a:rPr>
              <a:t> = 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N correct (negative) / N truth (negative)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57" name="Google Shape;457;p55"/>
          <p:cNvSpPr txBox="1"/>
          <p:nvPr/>
        </p:nvSpPr>
        <p:spPr>
          <a:xfrm>
            <a:off x="172800" y="4232850"/>
            <a:ext cx="884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Efficiency</a:t>
            </a:r>
            <a:r>
              <a:rPr b="1" lang="en" sz="1800">
                <a:solidFill>
                  <a:schemeClr val="dk1"/>
                </a:solidFill>
              </a:rPr>
              <a:t> is TPR or TNR, depending on the truth label in our denominator.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Simple versus Confusing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know two things: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Did my labelling catch most of the true events of interest? “Efficiency”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fraction of my dataset is correctly labelled? “Purity”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4403C"/>
                </a:solidFill>
              </a:rPr>
              <a:t>1 : Efficiency = N correct / N truth</a:t>
            </a:r>
            <a:endParaRPr>
              <a:solidFill>
                <a:srgbClr val="44403C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2 : </a:t>
            </a:r>
            <a:r>
              <a:rPr b="1" lang="en">
                <a:solidFill>
                  <a:schemeClr val="accent1"/>
                </a:solidFill>
              </a:rPr>
              <a:t>Purity = N correct / N data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464" name="Google Shape;464;p56"/>
          <p:cNvSpPr txBox="1"/>
          <p:nvPr/>
        </p:nvSpPr>
        <p:spPr>
          <a:xfrm>
            <a:off x="4296175" y="2879900"/>
            <a:ext cx="4722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</a:rPr>
              <a:t>TP / (TP + FP) = </a:t>
            </a:r>
            <a:r>
              <a:rPr b="1" lang="en" sz="1800">
                <a:solidFill>
                  <a:schemeClr val="accent1"/>
                </a:solidFill>
              </a:rPr>
              <a:t> Positive Predictive Value</a:t>
            </a:r>
            <a:r>
              <a:rPr lang="en" sz="1800">
                <a:solidFill>
                  <a:schemeClr val="accent1"/>
                </a:solidFill>
              </a:rPr>
              <a:t> = N correct (positive) / N data (positive)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accent1"/>
                </a:solidFill>
              </a:rPr>
              <a:t>TN / (TN + FN) = </a:t>
            </a:r>
            <a:r>
              <a:rPr b="1" lang="en" sz="1800">
                <a:solidFill>
                  <a:schemeClr val="accent1"/>
                </a:solidFill>
              </a:rPr>
              <a:t> Negative Predictive Value</a:t>
            </a:r>
            <a:r>
              <a:rPr lang="en" sz="1800">
                <a:solidFill>
                  <a:schemeClr val="accent1"/>
                </a:solidFill>
              </a:rPr>
              <a:t> = N correct (negative) / N data (negative)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5" name="Google Shape;465;p56"/>
          <p:cNvSpPr txBox="1"/>
          <p:nvPr/>
        </p:nvSpPr>
        <p:spPr>
          <a:xfrm>
            <a:off x="172800" y="4232850"/>
            <a:ext cx="884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Purity is 1-FPR or 1-FNR, </a:t>
            </a:r>
            <a:r>
              <a:rPr b="1" lang="en" sz="1800">
                <a:solidFill>
                  <a:schemeClr val="dk1"/>
                </a:solidFill>
              </a:rPr>
              <a:t>depending</a:t>
            </a:r>
            <a:r>
              <a:rPr b="1" lang="en" sz="1800">
                <a:solidFill>
                  <a:schemeClr val="dk1"/>
                </a:solidFill>
              </a:rPr>
              <a:t> on the data label in our denominator.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Positive Rate (Efficiency, Sensitivity)</a:t>
            </a:r>
            <a:endParaRPr/>
          </a:p>
        </p:txBody>
      </p:sp>
      <p:sp>
        <p:nvSpPr>
          <p:cNvPr id="471" name="Google Shape;471;p57"/>
          <p:cNvSpPr txBox="1"/>
          <p:nvPr>
            <p:ph idx="1" type="body"/>
          </p:nvPr>
        </p:nvSpPr>
        <p:spPr>
          <a:xfrm>
            <a:off x="311700" y="1085100"/>
            <a:ext cx="85206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“True Positive Rate” TPR</a:t>
            </a:r>
            <a:r>
              <a:rPr lang="en" sz="1600">
                <a:solidFill>
                  <a:schemeClr val="dk1"/>
                </a:solidFill>
              </a:rPr>
              <a:t> = </a:t>
            </a:r>
            <a:r>
              <a:rPr b="1" lang="en" sz="1600">
                <a:solidFill>
                  <a:schemeClr val="dk1"/>
                </a:solidFill>
              </a:rPr>
              <a:t>TP / (TP+FN)</a:t>
            </a:r>
            <a:r>
              <a:rPr lang="en" sz="1600">
                <a:solidFill>
                  <a:schemeClr val="dk1"/>
                </a:solidFill>
              </a:rPr>
              <a:t> : fraction of truth label with correct data label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Note: TPR + FNR = (</a:t>
            </a:r>
            <a:r>
              <a:rPr lang="en" sz="1600">
                <a:solidFill>
                  <a:schemeClr val="dk1"/>
                </a:solidFill>
              </a:rPr>
              <a:t>TP+FN) / (TP+FN) = 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accent1"/>
              </a:solidFill>
            </a:endParaRPr>
          </a:p>
        </p:txBody>
      </p:sp>
      <p:graphicFrame>
        <p:nvGraphicFramePr>
          <p:cNvPr id="472" name="Google Shape;472;p57"/>
          <p:cNvGraphicFramePr/>
          <p:nvPr/>
        </p:nvGraphicFramePr>
        <p:xfrm>
          <a:off x="1463500" y="1972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TP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</a:rPr>
                        <a:t>TP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73" name="Google Shape;473;p57"/>
          <p:cNvSpPr txBox="1"/>
          <p:nvPr/>
        </p:nvSpPr>
        <p:spPr>
          <a:xfrm>
            <a:off x="0" y="4658375"/>
            <a:ext cx="75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74" name="Google Shape;474;p57"/>
          <p:cNvSpPr txBox="1"/>
          <p:nvPr/>
        </p:nvSpPr>
        <p:spPr>
          <a:xfrm>
            <a:off x="99225" y="1925250"/>
            <a:ext cx="120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I am interested in this truth label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475" name="Google Shape;475;p57"/>
          <p:cNvCxnSpPr>
            <a:stCxn id="474" idx="3"/>
          </p:cNvCxnSpPr>
          <p:nvPr/>
        </p:nvCxnSpPr>
        <p:spPr>
          <a:xfrm flipH="1" rot="10800000">
            <a:off x="1299825" y="2569650"/>
            <a:ext cx="3870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57"/>
          <p:cNvSpPr txBox="1"/>
          <p:nvPr/>
        </p:nvSpPr>
        <p:spPr>
          <a:xfrm>
            <a:off x="1463500" y="4196950"/>
            <a:ext cx="287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The number I labelled correctly in data.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477" name="Google Shape;477;p57"/>
          <p:cNvCxnSpPr/>
          <p:nvPr/>
        </p:nvCxnSpPr>
        <p:spPr>
          <a:xfrm flipH="1" rot="10800000">
            <a:off x="2579700" y="2669025"/>
            <a:ext cx="555600" cy="15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8" name="Google Shape;478;p57"/>
          <p:cNvSpPr txBox="1"/>
          <p:nvPr/>
        </p:nvSpPr>
        <p:spPr>
          <a:xfrm>
            <a:off x="5769100" y="4187025"/>
            <a:ext cx="287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The total number with this truth label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479" name="Google Shape;479;p57"/>
          <p:cNvCxnSpPr/>
          <p:nvPr/>
        </p:nvCxnSpPr>
        <p:spPr>
          <a:xfrm rot="10800000">
            <a:off x="6528600" y="2698625"/>
            <a:ext cx="1091400" cy="14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Positive Rate</a:t>
            </a:r>
            <a:endParaRPr/>
          </a:p>
        </p:txBody>
      </p:sp>
      <p:sp>
        <p:nvSpPr>
          <p:cNvPr id="485" name="Google Shape;485;p58"/>
          <p:cNvSpPr txBox="1"/>
          <p:nvPr>
            <p:ph idx="1" type="body"/>
          </p:nvPr>
        </p:nvSpPr>
        <p:spPr>
          <a:xfrm>
            <a:off x="311700" y="1085100"/>
            <a:ext cx="85206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“True Positive Rate” TPR</a:t>
            </a:r>
            <a:r>
              <a:rPr lang="en" sz="1600">
                <a:solidFill>
                  <a:schemeClr val="dk1"/>
                </a:solidFill>
              </a:rPr>
              <a:t> = </a:t>
            </a:r>
            <a:r>
              <a:rPr b="1" lang="en" sz="1600">
                <a:solidFill>
                  <a:schemeClr val="dk1"/>
                </a:solidFill>
              </a:rPr>
              <a:t>TP / (TP+FN)</a:t>
            </a:r>
            <a:r>
              <a:rPr lang="en" sz="1600">
                <a:solidFill>
                  <a:schemeClr val="dk1"/>
                </a:solidFill>
              </a:rPr>
              <a:t> : fraction of truth label with correct data label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accent1"/>
              </a:solidFill>
            </a:endParaRPr>
          </a:p>
        </p:txBody>
      </p:sp>
      <p:graphicFrame>
        <p:nvGraphicFramePr>
          <p:cNvPr id="486" name="Google Shape;486;p58"/>
          <p:cNvGraphicFramePr/>
          <p:nvPr/>
        </p:nvGraphicFramePr>
        <p:xfrm>
          <a:off x="1463500" y="1972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TP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</a:rPr>
                        <a:t>TP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87" name="Google Shape;487;p58"/>
          <p:cNvSpPr txBox="1"/>
          <p:nvPr/>
        </p:nvSpPr>
        <p:spPr>
          <a:xfrm>
            <a:off x="0" y="4658375"/>
            <a:ext cx="75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88" name="Google Shape;488;p58"/>
          <p:cNvSpPr txBox="1"/>
          <p:nvPr/>
        </p:nvSpPr>
        <p:spPr>
          <a:xfrm>
            <a:off x="243150" y="4216800"/>
            <a:ext cx="8657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00"/>
                </a:highlight>
              </a:rPr>
              <a:t>Example 1:</a:t>
            </a:r>
            <a:r>
              <a:rPr b="1" lang="en" sz="1600">
                <a:solidFill>
                  <a:schemeClr val="dk1"/>
                </a:solidFill>
              </a:rPr>
              <a:t> TPR is the probability of someone testing positive (data label a) for a disease, given they have the disease (truth label A).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Positive Rate</a:t>
            </a:r>
            <a:endParaRPr/>
          </a:p>
        </p:txBody>
      </p:sp>
      <p:sp>
        <p:nvSpPr>
          <p:cNvPr id="494" name="Google Shape;494;p59"/>
          <p:cNvSpPr txBox="1"/>
          <p:nvPr>
            <p:ph idx="1" type="body"/>
          </p:nvPr>
        </p:nvSpPr>
        <p:spPr>
          <a:xfrm>
            <a:off x="311700" y="1085100"/>
            <a:ext cx="85206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“True Positive Rate” TPR</a:t>
            </a:r>
            <a:r>
              <a:rPr lang="en" sz="1600">
                <a:solidFill>
                  <a:schemeClr val="dk1"/>
                </a:solidFill>
              </a:rPr>
              <a:t> = </a:t>
            </a:r>
            <a:r>
              <a:rPr b="1" lang="en" sz="1600">
                <a:solidFill>
                  <a:schemeClr val="dk1"/>
                </a:solidFill>
              </a:rPr>
              <a:t>TP / (TP+FN)</a:t>
            </a:r>
            <a:r>
              <a:rPr lang="en" sz="1600">
                <a:solidFill>
                  <a:schemeClr val="dk1"/>
                </a:solidFill>
              </a:rPr>
              <a:t> : fraction of truth label with correct data label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accent1"/>
              </a:solidFill>
            </a:endParaRPr>
          </a:p>
        </p:txBody>
      </p:sp>
      <p:graphicFrame>
        <p:nvGraphicFramePr>
          <p:cNvPr id="495" name="Google Shape;495;p59"/>
          <p:cNvGraphicFramePr/>
          <p:nvPr/>
        </p:nvGraphicFramePr>
        <p:xfrm>
          <a:off x="1463500" y="1972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TP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</a:rPr>
                        <a:t>TP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6" name="Google Shape;496;p59"/>
          <p:cNvSpPr txBox="1"/>
          <p:nvPr/>
        </p:nvSpPr>
        <p:spPr>
          <a:xfrm>
            <a:off x="0" y="4658375"/>
            <a:ext cx="75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97" name="Google Shape;497;p59"/>
          <p:cNvSpPr txBox="1"/>
          <p:nvPr/>
        </p:nvSpPr>
        <p:spPr>
          <a:xfrm>
            <a:off x="243150" y="4216800"/>
            <a:ext cx="8657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00"/>
                </a:highlight>
              </a:rPr>
              <a:t>Example 2:</a:t>
            </a:r>
            <a:r>
              <a:rPr b="1" lang="en" sz="1600">
                <a:solidFill>
                  <a:schemeClr val="dk1"/>
                </a:solidFill>
              </a:rPr>
              <a:t> TPR is the probability of categorising a robot as a designed by Alf (data label a), given that it is indeed designed by Alf (truth label A).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Negative Rate (Efficiency, </a:t>
            </a:r>
            <a:r>
              <a:rPr lang="en"/>
              <a:t>Specificity</a:t>
            </a:r>
            <a:r>
              <a:rPr lang="en"/>
              <a:t>)</a:t>
            </a:r>
            <a:endParaRPr/>
          </a:p>
        </p:txBody>
      </p:sp>
      <p:sp>
        <p:nvSpPr>
          <p:cNvPr id="503" name="Google Shape;503;p60"/>
          <p:cNvSpPr txBox="1"/>
          <p:nvPr>
            <p:ph idx="1" type="body"/>
          </p:nvPr>
        </p:nvSpPr>
        <p:spPr>
          <a:xfrm>
            <a:off x="311700" y="1085100"/>
            <a:ext cx="85206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“True Negative Rate” TNR</a:t>
            </a:r>
            <a:r>
              <a:rPr lang="en" sz="1600">
                <a:solidFill>
                  <a:schemeClr val="dk1"/>
                </a:solidFill>
              </a:rPr>
              <a:t> = </a:t>
            </a:r>
            <a:r>
              <a:rPr b="1" lang="en" sz="1600">
                <a:solidFill>
                  <a:schemeClr val="dk1"/>
                </a:solidFill>
              </a:rPr>
              <a:t>TN</a:t>
            </a:r>
            <a:r>
              <a:rPr b="1" lang="en" sz="1600">
                <a:solidFill>
                  <a:schemeClr val="dk1"/>
                </a:solidFill>
              </a:rPr>
              <a:t> / (FP+TN)</a:t>
            </a:r>
            <a:r>
              <a:rPr lang="en" sz="1600">
                <a:solidFill>
                  <a:schemeClr val="dk1"/>
                </a:solidFill>
              </a:rPr>
              <a:t> : fraction of truth label with correct data label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  Note: TNR + FPR = (TN+FP) / (FP+TN) = 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504" name="Google Shape;504;p60"/>
          <p:cNvGraphicFramePr/>
          <p:nvPr/>
        </p:nvGraphicFramePr>
        <p:xfrm>
          <a:off x="1463500" y="1972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TP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</a:rPr>
                        <a:t>TP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5" name="Google Shape;505;p60"/>
          <p:cNvSpPr txBox="1"/>
          <p:nvPr/>
        </p:nvSpPr>
        <p:spPr>
          <a:xfrm>
            <a:off x="0" y="4658375"/>
            <a:ext cx="75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06" name="Google Shape;506;p60"/>
          <p:cNvSpPr txBox="1"/>
          <p:nvPr/>
        </p:nvSpPr>
        <p:spPr>
          <a:xfrm>
            <a:off x="99225" y="2480875"/>
            <a:ext cx="120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I am interested in this truth label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507" name="Google Shape;507;p60"/>
          <p:cNvCxnSpPr>
            <a:stCxn id="506" idx="3"/>
          </p:cNvCxnSpPr>
          <p:nvPr/>
        </p:nvCxnSpPr>
        <p:spPr>
          <a:xfrm flipH="1" rot="10800000">
            <a:off x="1299825" y="3125275"/>
            <a:ext cx="3870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8" name="Google Shape;508;p60"/>
          <p:cNvSpPr txBox="1"/>
          <p:nvPr/>
        </p:nvSpPr>
        <p:spPr>
          <a:xfrm>
            <a:off x="2038975" y="4187025"/>
            <a:ext cx="287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The number I labelled incorrectly in data.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509" name="Google Shape;509;p60"/>
          <p:cNvCxnSpPr>
            <a:stCxn id="508" idx="0"/>
          </p:cNvCxnSpPr>
          <p:nvPr/>
        </p:nvCxnSpPr>
        <p:spPr>
          <a:xfrm flipH="1" rot="10800000">
            <a:off x="3474175" y="3185025"/>
            <a:ext cx="1387500" cy="100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60"/>
          <p:cNvSpPr txBox="1"/>
          <p:nvPr/>
        </p:nvSpPr>
        <p:spPr>
          <a:xfrm>
            <a:off x="5769100" y="4187025"/>
            <a:ext cx="287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The total number with this truth label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511" name="Google Shape;511;p60"/>
          <p:cNvCxnSpPr/>
          <p:nvPr/>
        </p:nvCxnSpPr>
        <p:spPr>
          <a:xfrm rot="10800000">
            <a:off x="6518700" y="3274325"/>
            <a:ext cx="1101300" cy="86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Negative Rate</a:t>
            </a:r>
            <a:endParaRPr/>
          </a:p>
        </p:txBody>
      </p:sp>
      <p:sp>
        <p:nvSpPr>
          <p:cNvPr id="517" name="Google Shape;517;p61"/>
          <p:cNvSpPr txBox="1"/>
          <p:nvPr>
            <p:ph idx="1" type="body"/>
          </p:nvPr>
        </p:nvSpPr>
        <p:spPr>
          <a:xfrm>
            <a:off x="311700" y="1085100"/>
            <a:ext cx="85206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“True Negative Rate” TNR</a:t>
            </a:r>
            <a:r>
              <a:rPr lang="en" sz="1600">
                <a:solidFill>
                  <a:schemeClr val="dk1"/>
                </a:solidFill>
              </a:rPr>
              <a:t> = </a:t>
            </a:r>
            <a:r>
              <a:rPr b="1" lang="en" sz="1600">
                <a:solidFill>
                  <a:schemeClr val="dk1"/>
                </a:solidFill>
              </a:rPr>
              <a:t>TN / (FP+TN)</a:t>
            </a:r>
            <a:r>
              <a:rPr lang="en" sz="1600">
                <a:solidFill>
                  <a:schemeClr val="dk1"/>
                </a:solidFill>
              </a:rPr>
              <a:t> : fraction of truth label with correct data label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Note: TNR + FPR = (TN+FP) / (FP+TN) = 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518" name="Google Shape;518;p61"/>
          <p:cNvGraphicFramePr/>
          <p:nvPr/>
        </p:nvGraphicFramePr>
        <p:xfrm>
          <a:off x="1463500" y="1972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TP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</a:rPr>
                        <a:t>TP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9" name="Google Shape;519;p61"/>
          <p:cNvSpPr txBox="1"/>
          <p:nvPr/>
        </p:nvSpPr>
        <p:spPr>
          <a:xfrm>
            <a:off x="0" y="4658375"/>
            <a:ext cx="75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20" name="Google Shape;520;p61"/>
          <p:cNvSpPr txBox="1"/>
          <p:nvPr/>
        </p:nvSpPr>
        <p:spPr>
          <a:xfrm>
            <a:off x="99225" y="2480875"/>
            <a:ext cx="120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I am interested in this truth label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521" name="Google Shape;521;p61"/>
          <p:cNvCxnSpPr>
            <a:stCxn id="520" idx="3"/>
          </p:cNvCxnSpPr>
          <p:nvPr/>
        </p:nvCxnSpPr>
        <p:spPr>
          <a:xfrm flipH="1" rot="10800000">
            <a:off x="1299825" y="3125275"/>
            <a:ext cx="3870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2" name="Google Shape;522;p61"/>
          <p:cNvSpPr txBox="1"/>
          <p:nvPr/>
        </p:nvSpPr>
        <p:spPr>
          <a:xfrm>
            <a:off x="243150" y="4216800"/>
            <a:ext cx="8657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FFFF00"/>
                </a:highlight>
              </a:rPr>
              <a:t>Example 1:</a:t>
            </a:r>
            <a:r>
              <a:rPr b="1" lang="en" sz="1600">
                <a:solidFill>
                  <a:schemeClr val="dk1"/>
                </a:solidFill>
              </a:rPr>
              <a:t> TNR is the probability of someone testing negative (data label a’) for a disease, given they do not have the disease (truth label A’).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Purity</a:t>
            </a:r>
            <a:endParaRPr/>
          </a:p>
        </p:txBody>
      </p:sp>
      <p:sp>
        <p:nvSpPr>
          <p:cNvPr id="528" name="Google Shape;528;p62"/>
          <p:cNvSpPr txBox="1"/>
          <p:nvPr>
            <p:ph idx="1" type="body"/>
          </p:nvPr>
        </p:nvSpPr>
        <p:spPr>
          <a:xfrm>
            <a:off x="311700" y="1085100"/>
            <a:ext cx="85206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fraction of my dataset is correctly labelled?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Purity of sample labelled positive = TP / (TP+FP)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529" name="Google Shape;529;p62"/>
          <p:cNvGraphicFramePr/>
          <p:nvPr/>
        </p:nvGraphicFramePr>
        <p:xfrm>
          <a:off x="1463500" y="1972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TP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</a:rPr>
                        <a:t>TP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0" name="Google Shape;530;p62"/>
          <p:cNvSpPr txBox="1"/>
          <p:nvPr/>
        </p:nvSpPr>
        <p:spPr>
          <a:xfrm>
            <a:off x="0" y="4658375"/>
            <a:ext cx="75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31" name="Google Shape;531;p62"/>
          <p:cNvSpPr txBox="1"/>
          <p:nvPr/>
        </p:nvSpPr>
        <p:spPr>
          <a:xfrm>
            <a:off x="1379125" y="4335850"/>
            <a:ext cx="375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I am interested in this data label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532" name="Google Shape;532;p62"/>
          <p:cNvCxnSpPr/>
          <p:nvPr/>
        </p:nvCxnSpPr>
        <p:spPr>
          <a:xfrm rot="10800000">
            <a:off x="3204925" y="4058125"/>
            <a:ext cx="9900" cy="3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Purity</a:t>
            </a:r>
            <a:endParaRPr/>
          </a:p>
        </p:txBody>
      </p:sp>
      <p:sp>
        <p:nvSpPr>
          <p:cNvPr id="538" name="Google Shape;538;p63"/>
          <p:cNvSpPr txBox="1"/>
          <p:nvPr>
            <p:ph idx="1" type="body"/>
          </p:nvPr>
        </p:nvSpPr>
        <p:spPr>
          <a:xfrm>
            <a:off x="311700" y="1085100"/>
            <a:ext cx="85206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fraction of my dataset is correctly labelled?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Purity of sample labelled negative= TN / (TN+FN)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539" name="Google Shape;539;p63"/>
          <p:cNvGraphicFramePr/>
          <p:nvPr/>
        </p:nvGraphicFramePr>
        <p:xfrm>
          <a:off x="1463500" y="19725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810125"/>
                <a:gridCol w="2060275"/>
                <a:gridCol w="1435200"/>
                <a:gridCol w="1435200"/>
              </a:tblGrid>
              <a:tr h="3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a=positive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a’=negative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Truth Totals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TP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5"/>
                          </a:solidFill>
                        </a:rPr>
                        <a:t>TP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FN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A’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FP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+</a:t>
                      </a:r>
                      <a:r>
                        <a:rPr lang="en">
                          <a:solidFill>
                            <a:schemeClr val="accent5"/>
                          </a:solidFill>
                        </a:rPr>
                        <a:t>TN</a:t>
                      </a:r>
                      <a:endParaRPr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Totals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Positive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-25000" lang="en">
                          <a:solidFill>
                            <a:schemeClr val="dk1"/>
                          </a:solidFill>
                        </a:rPr>
                        <a:t>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40" name="Google Shape;540;p63"/>
          <p:cNvSpPr txBox="1"/>
          <p:nvPr/>
        </p:nvSpPr>
        <p:spPr>
          <a:xfrm>
            <a:off x="0" y="4658375"/>
            <a:ext cx="75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41" name="Google Shape;541;p63"/>
          <p:cNvSpPr txBox="1"/>
          <p:nvPr/>
        </p:nvSpPr>
        <p:spPr>
          <a:xfrm>
            <a:off x="3036075" y="4360825"/>
            <a:ext cx="375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I am interested in this data label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542" name="Google Shape;542;p63"/>
          <p:cNvCxnSpPr/>
          <p:nvPr/>
        </p:nvCxnSpPr>
        <p:spPr>
          <a:xfrm rot="10800000">
            <a:off x="5010700" y="4061175"/>
            <a:ext cx="9900" cy="3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Classification Example</a:t>
            </a:r>
            <a:endParaRPr/>
          </a:p>
        </p:txBody>
      </p:sp>
      <p:sp>
        <p:nvSpPr>
          <p:cNvPr id="548" name="Google Shape;548;p64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I have </a:t>
            </a:r>
            <a:r>
              <a:rPr b="1" lang="en" sz="1400">
                <a:solidFill>
                  <a:schemeClr val="accent5"/>
                </a:solidFill>
              </a:rPr>
              <a:t>61</a:t>
            </a:r>
            <a:r>
              <a:rPr lang="en" sz="1400">
                <a:solidFill>
                  <a:schemeClr val="accent5"/>
                </a:solidFill>
              </a:rPr>
              <a:t> robots</a:t>
            </a:r>
            <a:r>
              <a:rPr lang="en" sz="1400"/>
              <a:t>, </a:t>
            </a:r>
            <a:r>
              <a:rPr b="1" lang="en" sz="1400">
                <a:solidFill>
                  <a:srgbClr val="FF0000"/>
                </a:solidFill>
              </a:rPr>
              <a:t>18</a:t>
            </a:r>
            <a:r>
              <a:rPr lang="en" sz="1400">
                <a:solidFill>
                  <a:srgbClr val="FF0000"/>
                </a:solidFill>
              </a:rPr>
              <a:t> of whom were designed by my friend Alf</a:t>
            </a:r>
            <a:r>
              <a:rPr lang="en" sz="1400"/>
              <a:t>.  I am attempting to predict which ones are Alf's design using their features. </a:t>
            </a:r>
            <a:r>
              <a:rPr lang="en" sz="1400">
                <a:solidFill>
                  <a:srgbClr val="9900FF"/>
                </a:solidFill>
              </a:rPr>
              <a:t>My classifier identifies </a:t>
            </a:r>
            <a:r>
              <a:rPr b="1" lang="en" sz="1400">
                <a:solidFill>
                  <a:srgbClr val="9900FF"/>
                </a:solidFill>
              </a:rPr>
              <a:t>50</a:t>
            </a:r>
            <a:r>
              <a:rPr lang="en" sz="1400">
                <a:solidFill>
                  <a:srgbClr val="9900FF"/>
                </a:solidFill>
              </a:rPr>
              <a:t> robots as being designed by Alf.</a:t>
            </a:r>
            <a:r>
              <a:rPr lang="en" sz="1400"/>
              <a:t> Of these 50, </a:t>
            </a:r>
            <a:r>
              <a:rPr b="1" lang="en" sz="1400"/>
              <a:t>33</a:t>
            </a:r>
            <a:r>
              <a:rPr lang="en" sz="1400"/>
              <a:t> are in fact Alf's (my classifier was right), and </a:t>
            </a:r>
            <a:r>
              <a:rPr b="1" lang="en" sz="1400"/>
              <a:t>17</a:t>
            </a:r>
            <a:r>
              <a:rPr lang="en" sz="1400"/>
              <a:t> are not (my classifier was wrong). </a:t>
            </a:r>
            <a:endParaRPr sz="1400"/>
          </a:p>
        </p:txBody>
      </p:sp>
      <p:graphicFrame>
        <p:nvGraphicFramePr>
          <p:cNvPr id="549" name="Google Shape;549;p64"/>
          <p:cNvGraphicFramePr/>
          <p:nvPr/>
        </p:nvGraphicFramePr>
        <p:xfrm>
          <a:off x="1111225" y="2458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2197875"/>
                <a:gridCol w="1779600"/>
                <a:gridCol w="1779600"/>
                <a:gridCol w="1779600"/>
              </a:tblGrid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a’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Truth Totals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17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0000"/>
                          </a:solidFill>
                        </a:rPr>
                        <a:t>18</a:t>
                      </a:r>
                      <a:endParaRPr sz="15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A’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33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43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Data Totals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rgbClr val="9900FF"/>
                          </a:solidFill>
                        </a:rPr>
                        <a:t>50</a:t>
                      </a:r>
                      <a:endParaRPr sz="15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</a:rPr>
                        <a:t>61</a:t>
                      </a:r>
                      <a:endParaRPr sz="1500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0" name="Google Shape;550;p64"/>
          <p:cNvSpPr txBox="1"/>
          <p:nvPr/>
        </p:nvSpPr>
        <p:spPr>
          <a:xfrm>
            <a:off x="198425" y="3161775"/>
            <a:ext cx="118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Truth Labels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551" name="Google Shape;551;p64"/>
          <p:cNvSpPr txBox="1"/>
          <p:nvPr/>
        </p:nvSpPr>
        <p:spPr>
          <a:xfrm>
            <a:off x="3595275" y="1977150"/>
            <a:ext cx="1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Data Labels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Classification Example</a:t>
            </a:r>
            <a:endParaRPr/>
          </a:p>
        </p:txBody>
      </p:sp>
      <p:sp>
        <p:nvSpPr>
          <p:cNvPr id="557" name="Google Shape;557;p65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probability of labelling the robot as a, given that it is A: P(a|A) = 17/18 (TPR,  Sensitivity, Efficiency)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 probability the robot is A, given that I labelled it a: P(A|a) = 17/50 (Purity of sample a)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558" name="Google Shape;558;p65"/>
          <p:cNvGraphicFramePr/>
          <p:nvPr/>
        </p:nvGraphicFramePr>
        <p:xfrm>
          <a:off x="1111225" y="24587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1772550"/>
                <a:gridCol w="1435200"/>
                <a:gridCol w="1435200"/>
                <a:gridCol w="1435200"/>
              </a:tblGrid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a’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Truth Totals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17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18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A’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33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43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Data Totals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50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61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9" name="Google Shape;559;p65"/>
          <p:cNvSpPr txBox="1"/>
          <p:nvPr/>
        </p:nvSpPr>
        <p:spPr>
          <a:xfrm>
            <a:off x="198425" y="3161775"/>
            <a:ext cx="118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Truth Labels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560" name="Google Shape;560;p65"/>
          <p:cNvSpPr txBox="1"/>
          <p:nvPr/>
        </p:nvSpPr>
        <p:spPr>
          <a:xfrm>
            <a:off x="3595275" y="1977150"/>
            <a:ext cx="15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Data Labels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 Classification Example</a:t>
            </a:r>
            <a:endParaRPr/>
          </a:p>
        </p:txBody>
      </p:sp>
      <p:sp>
        <p:nvSpPr>
          <p:cNvPr id="566" name="Google Shape;566;p66"/>
          <p:cNvSpPr txBox="1"/>
          <p:nvPr>
            <p:ph idx="1" type="body"/>
          </p:nvPr>
        </p:nvSpPr>
        <p:spPr>
          <a:xfrm>
            <a:off x="311700" y="1013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Bayes’ Theorem  P(A|a) = P(a|A) P(A)  / P(a)</a:t>
            </a:r>
            <a:endParaRPr sz="1400"/>
          </a:p>
        </p:txBody>
      </p:sp>
      <p:graphicFrame>
        <p:nvGraphicFramePr>
          <p:cNvPr id="567" name="Google Shape;567;p66"/>
          <p:cNvGraphicFramePr/>
          <p:nvPr/>
        </p:nvGraphicFramePr>
        <p:xfrm>
          <a:off x="529975" y="19030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{B087F58F-2C63-47A2-B68B-D48E19888B3E}</a:tableStyleId>
              </a:tblPr>
              <a:tblGrid>
                <a:gridCol w="1028925"/>
                <a:gridCol w="833125"/>
                <a:gridCol w="833125"/>
                <a:gridCol w="833125"/>
              </a:tblGrid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a’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Truth Totals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17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18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A’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33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43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Data Totals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50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61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8" name="Google Shape;568;p66"/>
          <p:cNvSpPr txBox="1"/>
          <p:nvPr/>
        </p:nvSpPr>
        <p:spPr>
          <a:xfrm>
            <a:off x="4177100" y="1875225"/>
            <a:ext cx="49908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P(A|a) = 17/50</a:t>
            </a:r>
            <a:r>
              <a:rPr lang="en">
                <a:solidFill>
                  <a:schemeClr val="dk2"/>
                </a:solidFill>
              </a:rPr>
              <a:t>  prob of truth A, given data 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</a:rPr>
              <a:t>P(a|A) = 17/18 </a:t>
            </a:r>
            <a:r>
              <a:rPr lang="en">
                <a:solidFill>
                  <a:schemeClr val="dk2"/>
                </a:solidFill>
              </a:rPr>
              <a:t> prob of data a, given truth 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P(A) = 18/61</a:t>
            </a:r>
            <a:r>
              <a:rPr lang="en">
                <a:solidFill>
                  <a:schemeClr val="dk2"/>
                </a:solidFill>
              </a:rPr>
              <a:t>     prob of truth 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P(a) = 50/61 </a:t>
            </a:r>
            <a:r>
              <a:rPr lang="en">
                <a:solidFill>
                  <a:schemeClr val="dk2"/>
                </a:solidFill>
              </a:rPr>
              <a:t>    prob of data a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17/50 = (</a:t>
            </a:r>
            <a:r>
              <a:rPr lang="en">
                <a:solidFill>
                  <a:schemeClr val="dk2"/>
                </a:solidFill>
              </a:rPr>
              <a:t>17/18) (18/61) / (50/61)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Good.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69" name="Google Shape;569;p66"/>
          <p:cNvSpPr txBox="1"/>
          <p:nvPr/>
        </p:nvSpPr>
        <p:spPr>
          <a:xfrm>
            <a:off x="575450" y="4322650"/>
            <a:ext cx="8195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Note! In non-toy problems, we will have a data distribution, and probabilities will be distributions, not numbers</a:t>
            </a:r>
            <a:r>
              <a:rPr lang="en" sz="1800">
                <a:solidFill>
                  <a:schemeClr val="accent1"/>
                </a:solidFill>
              </a:rPr>
              <a:t>.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Later we will consider Data Distribution, not single outcome</a:t>
            </a:r>
            <a:endParaRPr sz="2420"/>
          </a:p>
        </p:txBody>
      </p:sp>
      <p:sp>
        <p:nvSpPr>
          <p:cNvPr id="575" name="Google Shape;575;p67"/>
          <p:cNvSpPr txBox="1"/>
          <p:nvPr>
            <p:ph idx="1" type="body"/>
          </p:nvPr>
        </p:nvSpPr>
        <p:spPr>
          <a:xfrm>
            <a:off x="311700" y="1013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Bayes’ Theorem  P(A|a) = P(a|A) P(A)  / P(a)    →   </a:t>
            </a:r>
            <a:r>
              <a:rPr lang="en" sz="1200">
                <a:solidFill>
                  <a:schemeClr val="dk1"/>
                </a:solidFill>
              </a:rPr>
              <a:t>P(A | data) </a:t>
            </a:r>
            <a:r>
              <a:rPr lang="en" sz="1200"/>
              <a:t>= </a:t>
            </a:r>
            <a:r>
              <a:rPr lang="en" sz="1200">
                <a:solidFill>
                  <a:schemeClr val="accent1"/>
                </a:solidFill>
              </a:rPr>
              <a:t>L(data | A)</a:t>
            </a:r>
            <a:r>
              <a:rPr lang="en" sz="1200"/>
              <a:t> </a:t>
            </a:r>
            <a:r>
              <a:rPr lang="en" sz="1200">
                <a:solidFill>
                  <a:srgbClr val="9900FF"/>
                </a:solidFill>
              </a:rPr>
              <a:t>π(A)</a:t>
            </a:r>
            <a:r>
              <a:rPr lang="en" sz="1200"/>
              <a:t>  / </a:t>
            </a:r>
            <a:r>
              <a:rPr lang="en" sz="1200">
                <a:solidFill>
                  <a:srgbClr val="FF0000"/>
                </a:solidFill>
              </a:rPr>
              <a:t>P(data)</a:t>
            </a:r>
            <a:endParaRPr sz="1200"/>
          </a:p>
        </p:txBody>
      </p:sp>
      <p:pic>
        <p:nvPicPr>
          <p:cNvPr id="576" name="Google Shape;576;p67" title="AlfsRobots-Counts-Ano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75" y="1446188"/>
            <a:ext cx="3756275" cy="281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67" title="AlfsRobots-PMF-Ano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3525" y="1413418"/>
            <a:ext cx="3799950" cy="2849982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67"/>
          <p:cNvSpPr txBox="1"/>
          <p:nvPr/>
        </p:nvSpPr>
        <p:spPr>
          <a:xfrm>
            <a:off x="575450" y="4322650"/>
            <a:ext cx="81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These data are binary : a or a’. Described by </a:t>
            </a:r>
            <a:r>
              <a:rPr b="1" lang="en" sz="1600">
                <a:solidFill>
                  <a:schemeClr val="accent1"/>
                </a:solidFill>
              </a:rPr>
              <a:t>Bernoulli </a:t>
            </a:r>
            <a:r>
              <a:rPr lang="en" sz="1600">
                <a:solidFill>
                  <a:schemeClr val="accent1"/>
                </a:solidFill>
              </a:rPr>
              <a:t>PMF </a:t>
            </a:r>
            <a:r>
              <a:rPr b="1" lang="en" sz="1600">
                <a:solidFill>
                  <a:schemeClr val="accent1"/>
                </a:solidFill>
              </a:rPr>
              <a:t>for a given Truth Label.</a:t>
            </a:r>
            <a:r>
              <a:rPr b="1" lang="en" sz="1800">
                <a:solidFill>
                  <a:schemeClr val="accent1"/>
                </a:solidFill>
              </a:rPr>
              <a:t> </a:t>
            </a:r>
            <a:endParaRPr b="1"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Focus: Hypothesis Tests</a:t>
            </a:r>
            <a:endParaRPr/>
          </a:p>
        </p:txBody>
      </p:sp>
      <p:sp>
        <p:nvSpPr>
          <p:cNvPr id="584" name="Google Shape;584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Designing a test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Terminology : So. Many. Words (and acronyms)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What a p value is and is not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 values</a:t>
            </a:r>
            <a:endParaRPr/>
          </a:p>
        </p:txBody>
      </p:sp>
      <p:sp>
        <p:nvSpPr>
          <p:cNvPr id="590" name="Google Shape;590;p69"/>
          <p:cNvSpPr txBox="1"/>
          <p:nvPr>
            <p:ph idx="1" type="body"/>
          </p:nvPr>
        </p:nvSpPr>
        <p:spPr>
          <a:xfrm>
            <a:off x="311700" y="1152475"/>
            <a:ext cx="394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z: “standard normal RV”, centered on zero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Deviation from mean x-𝜇 = z𝝈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z value of 1.96 corresponds to x value of 1.96</a:t>
            </a:r>
            <a:r>
              <a:rPr lang="en"/>
              <a:t>𝝈 above the mean.</a:t>
            </a:r>
            <a:r>
              <a:rPr lang="en"/>
              <a:t> </a:t>
            </a:r>
            <a:endParaRPr/>
          </a:p>
        </p:txBody>
      </p:sp>
      <p:pic>
        <p:nvPicPr>
          <p:cNvPr id="591" name="Google Shape;591;p69" title="Screenshot 2026-10-17 at 20.4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325" y="898675"/>
            <a:ext cx="4780875" cy="395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9" title="Screenshot 2026-10-11 at 20.27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074" y="148825"/>
            <a:ext cx="3533651" cy="809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69" title="Screenshot 2026-10-17 at 20.42.3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152475"/>
            <a:ext cx="1589050" cy="92694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9"/>
          <p:cNvSpPr/>
          <p:nvPr/>
        </p:nvSpPr>
        <p:spPr>
          <a:xfrm>
            <a:off x="8145850" y="317500"/>
            <a:ext cx="686400" cy="51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9"/>
          <p:cNvSpPr txBox="1"/>
          <p:nvPr/>
        </p:nvSpPr>
        <p:spPr>
          <a:xfrm>
            <a:off x="8347850" y="-694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z</a:t>
            </a:r>
            <a:r>
              <a:rPr baseline="30000" lang="en" sz="1800">
                <a:solidFill>
                  <a:schemeClr val="accent1"/>
                </a:solidFill>
              </a:rPr>
              <a:t>2</a:t>
            </a:r>
            <a:endParaRPr baseline="30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</a:t>
            </a:r>
            <a:endParaRPr/>
          </a:p>
        </p:txBody>
      </p:sp>
      <p:sp>
        <p:nvSpPr>
          <p:cNvPr id="601" name="Google Shape;601;p70"/>
          <p:cNvSpPr txBox="1"/>
          <p:nvPr>
            <p:ph idx="1" type="body"/>
          </p:nvPr>
        </p:nvSpPr>
        <p:spPr>
          <a:xfrm>
            <a:off x="311700" y="1152475"/>
            <a:ext cx="5820000" cy="30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</a:rPr>
              <a:t>68.3% of a Normal PDF lies within the “1 sigma” confidence interval.</a:t>
            </a:r>
            <a:endParaRPr sz="14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What this means: 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If I ran 1000 repeated experiments, I would expect to measure my data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inside this interval in 683 of them.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0000"/>
                </a:solidFill>
              </a:rPr>
              <a:t>What this does not mean:</a:t>
            </a:r>
            <a:endParaRPr b="1" sz="1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</a:rPr>
              <a:t>In a single experiment I have a 68.3% chance of measuring the data in this region.</a:t>
            </a:r>
            <a:endParaRPr sz="1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Frequentist Confidence Intervals ONLY tells us about the long-run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over many repeated experiments</a:t>
            </a:r>
            <a:r>
              <a:rPr lang="en" sz="1400"/>
              <a:t>.</a:t>
            </a:r>
            <a:endParaRPr sz="1400"/>
          </a:p>
        </p:txBody>
      </p:sp>
      <p:pic>
        <p:nvPicPr>
          <p:cNvPr id="602" name="Google Shape;602;p70" title="Screenshot 2026-10-17 at 19.20.36.png"/>
          <p:cNvPicPr preferRelativeResize="0"/>
          <p:nvPr/>
        </p:nvPicPr>
        <p:blipFill rotWithShape="1">
          <a:blip r:embed="rId3">
            <a:alphaModFix/>
          </a:blip>
          <a:srcRect b="0" l="0" r="66279" t="0"/>
          <a:stretch/>
        </p:blipFill>
        <p:spPr>
          <a:xfrm>
            <a:off x="6221150" y="1329525"/>
            <a:ext cx="2873225" cy="219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70"/>
          <p:cNvSpPr txBox="1"/>
          <p:nvPr/>
        </p:nvSpPr>
        <p:spPr>
          <a:xfrm>
            <a:off x="311700" y="4186975"/>
            <a:ext cx="8225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We will see later that the (Bayesian) </a:t>
            </a:r>
            <a:r>
              <a:rPr b="1" lang="en">
                <a:solidFill>
                  <a:schemeClr val="dk2"/>
                </a:solidFill>
              </a:rPr>
              <a:t>Credible Interval</a:t>
            </a:r>
            <a:r>
              <a:rPr lang="en">
                <a:solidFill>
                  <a:schemeClr val="dk2"/>
                </a:solidFill>
              </a:rPr>
              <a:t> gives us the much more intuitive “chance of measuring the data in this region” interval.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values</a:t>
            </a:r>
            <a:endParaRPr/>
          </a:p>
        </p:txBody>
      </p:sp>
      <p:sp>
        <p:nvSpPr>
          <p:cNvPr id="609" name="Google Shape;609;p71"/>
          <p:cNvSpPr txBox="1"/>
          <p:nvPr>
            <p:ph idx="1" type="body"/>
          </p:nvPr>
        </p:nvSpPr>
        <p:spPr>
          <a:xfrm>
            <a:off x="311700" y="1152475"/>
            <a:ext cx="407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z value is the “inside probability” in units of </a:t>
            </a:r>
            <a:r>
              <a:rPr lang="en"/>
              <a:t>𝝈.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 value is the corresponding “outside probability” as a fraction of 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Observation of data with a </a:t>
            </a:r>
            <a:r>
              <a:rPr b="1" lang="en">
                <a:solidFill>
                  <a:schemeClr val="accent1"/>
                </a:solidFill>
              </a:rPr>
              <a:t>large z value (small p value)</a:t>
            </a:r>
            <a:r>
              <a:rPr lang="en">
                <a:solidFill>
                  <a:schemeClr val="accent1"/>
                </a:solidFill>
              </a:rPr>
              <a:t> </a:t>
            </a:r>
            <a:r>
              <a:rPr b="1" lang="en">
                <a:solidFill>
                  <a:schemeClr val="accent1"/>
                </a:solidFill>
              </a:rPr>
              <a:t>is rare </a:t>
            </a:r>
            <a:r>
              <a:rPr lang="en">
                <a:solidFill>
                  <a:schemeClr val="accent1"/>
                </a:solidFill>
              </a:rPr>
              <a:t>(expected to occur with low frequency over a large number of experiments</a:t>
            </a:r>
            <a:r>
              <a:rPr b="1" lang="en">
                <a:solidFill>
                  <a:schemeClr val="accent1"/>
                </a:solidFill>
              </a:rPr>
              <a:t>*</a:t>
            </a:r>
            <a:r>
              <a:rPr lang="en">
                <a:solidFill>
                  <a:schemeClr val="accent1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0" name="Google Shape;610;p71" title="Screenshot 2026-10-17 at 20.4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337" y="898675"/>
            <a:ext cx="4941659" cy="408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71" title="Screenshot 2026-10-11 at 20.27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074" y="148825"/>
            <a:ext cx="3533651" cy="80979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71"/>
          <p:cNvSpPr/>
          <p:nvPr/>
        </p:nvSpPr>
        <p:spPr>
          <a:xfrm>
            <a:off x="8145850" y="317500"/>
            <a:ext cx="686400" cy="516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1"/>
          <p:cNvSpPr txBox="1"/>
          <p:nvPr/>
        </p:nvSpPr>
        <p:spPr>
          <a:xfrm>
            <a:off x="8347850" y="-694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z</a:t>
            </a:r>
            <a:r>
              <a:rPr baseline="30000" lang="en" sz="1800">
                <a:solidFill>
                  <a:schemeClr val="accent1"/>
                </a:solidFill>
              </a:rPr>
              <a:t>2</a:t>
            </a:r>
            <a:endParaRPr baseline="30000">
              <a:solidFill>
                <a:schemeClr val="accent1"/>
              </a:solidFill>
            </a:endParaRPr>
          </a:p>
        </p:txBody>
      </p:sp>
      <p:sp>
        <p:nvSpPr>
          <p:cNvPr id="614" name="Google Shape;614;p71"/>
          <p:cNvSpPr txBox="1"/>
          <p:nvPr/>
        </p:nvSpPr>
        <p:spPr>
          <a:xfrm>
            <a:off x="361300" y="4087800"/>
            <a:ext cx="3890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</a:rPr>
              <a:t>*if  </a:t>
            </a:r>
            <a:r>
              <a:rPr lang="en" sz="1600">
                <a:solidFill>
                  <a:schemeClr val="dk2"/>
                </a:solidFill>
              </a:rPr>
              <a:t>the null hypothesis is the underlying truth!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 values</a:t>
            </a:r>
            <a:endParaRPr/>
          </a:p>
        </p:txBody>
      </p:sp>
      <p:pic>
        <p:nvPicPr>
          <p:cNvPr id="620" name="Google Shape;620;p72" title="Screenshot 2026-10-18 at 20.54.01.png"/>
          <p:cNvPicPr preferRelativeResize="0"/>
          <p:nvPr/>
        </p:nvPicPr>
        <p:blipFill rotWithShape="1">
          <a:blip r:embed="rId3">
            <a:alphaModFix/>
          </a:blip>
          <a:srcRect b="12119" l="0" r="0" t="0"/>
          <a:stretch/>
        </p:blipFill>
        <p:spPr>
          <a:xfrm>
            <a:off x="2665500" y="1017725"/>
            <a:ext cx="6029499" cy="33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72"/>
          <p:cNvSpPr txBox="1"/>
          <p:nvPr/>
        </p:nvSpPr>
        <p:spPr>
          <a:xfrm>
            <a:off x="2093525" y="297650"/>
            <a:ext cx="685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</a:t>
            </a:r>
            <a:r>
              <a:rPr b="1" lang="en" sz="1800">
                <a:solidFill>
                  <a:schemeClr val="dk2"/>
                </a:solidFill>
              </a:rPr>
              <a:t>measure </a:t>
            </a:r>
            <a:r>
              <a:rPr lang="en" sz="1800">
                <a:solidFill>
                  <a:schemeClr val="dk2"/>
                </a:solidFill>
              </a:rPr>
              <a:t>our statistic in the data, eg the output of a classifier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22" name="Google Shape;622;p72"/>
          <p:cNvCxnSpPr/>
          <p:nvPr/>
        </p:nvCxnSpPr>
        <p:spPr>
          <a:xfrm flipH="1">
            <a:off x="5625650" y="853300"/>
            <a:ext cx="2014200" cy="16470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" name="Google Shape;623;p72"/>
          <p:cNvSpPr txBox="1"/>
          <p:nvPr/>
        </p:nvSpPr>
        <p:spPr>
          <a:xfrm>
            <a:off x="525900" y="1727613"/>
            <a:ext cx="2139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 see where that intersects the </a:t>
            </a:r>
            <a:r>
              <a:rPr b="1" lang="en" sz="1800">
                <a:solidFill>
                  <a:schemeClr val="dk2"/>
                </a:solidFill>
              </a:rPr>
              <a:t>Null Hypothesis </a:t>
            </a:r>
            <a:r>
              <a:rPr lang="en" sz="1800">
                <a:solidFill>
                  <a:schemeClr val="dk2"/>
                </a:solidFill>
              </a:rPr>
              <a:t>distribution, which may or may not be the correct underlying distribution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24" name="Google Shape;624;p72"/>
          <p:cNvCxnSpPr/>
          <p:nvPr/>
        </p:nvCxnSpPr>
        <p:spPr>
          <a:xfrm flipH="1" rot="10800000">
            <a:off x="2014150" y="2708725"/>
            <a:ext cx="2450700" cy="972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72"/>
          <p:cNvSpPr txBox="1"/>
          <p:nvPr/>
        </p:nvSpPr>
        <p:spPr>
          <a:xfrm>
            <a:off x="1061650" y="4375550"/>
            <a:ext cx="796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 the area under intersection (p value) is smaller than our </a:t>
            </a:r>
            <a:r>
              <a:rPr lang="en" sz="1800">
                <a:solidFill>
                  <a:schemeClr val="dk2"/>
                </a:solidFill>
              </a:rPr>
              <a:t>predefined significance level α, the Null Hypothesis is rejected (a positive result).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module notes!</a:t>
            </a:r>
            <a:endParaRPr/>
          </a:p>
        </p:txBody>
      </p:sp>
      <p:sp>
        <p:nvSpPr>
          <p:cNvPr id="631" name="Google Shape;631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Lectures only pull out a few key things that I happen to think are either interesting or easily </a:t>
            </a:r>
            <a:r>
              <a:rPr lang="en"/>
              <a:t>misunderstood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module notes are where my thoughtful time goes.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Working through </a:t>
            </a:r>
            <a:r>
              <a:rPr lang="en" u="sng">
                <a:solidFill>
                  <a:schemeClr val="hlink"/>
                </a:solidFill>
                <a:hlinkClick r:id="rId3"/>
              </a:rPr>
              <a:t>5 Hypothesis Tests</a:t>
            </a:r>
            <a:r>
              <a:rPr lang="en"/>
              <a:t> and </a:t>
            </a:r>
            <a:r>
              <a:rPr lang="en" u="sng">
                <a:solidFill>
                  <a:schemeClr val="hlink"/>
                </a:solidFill>
                <a:hlinkClick r:id="rId4"/>
              </a:rPr>
              <a:t>6 Normal Tests</a:t>
            </a:r>
            <a:r>
              <a:rPr lang="en"/>
              <a:t> before next Monday will set you up nicely for the </a:t>
            </a:r>
            <a:r>
              <a:rPr b="1" lang="en"/>
              <a:t>second assessed coursework</a:t>
            </a:r>
            <a:r>
              <a:rPr lang="en"/>
              <a:t>, which will be released next week.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is very little “lecture fodder” in </a:t>
            </a:r>
            <a:r>
              <a:rPr b="1" lang="en"/>
              <a:t>Normal Tests</a:t>
            </a:r>
            <a:r>
              <a:rPr lang="en"/>
              <a:t>, other than the SEM (Standard Error on the Mean).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I’d better get on with Part 2 of the notes, sharpish!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your time</a:t>
            </a:r>
            <a:endParaRPr/>
          </a:p>
        </p:txBody>
      </p:sp>
      <p:sp>
        <p:nvSpPr>
          <p:cNvPr id="637" name="Google Shape;637;p74"/>
          <p:cNvSpPr txBox="1"/>
          <p:nvPr>
            <p:ph idx="1" type="body"/>
          </p:nvPr>
        </p:nvSpPr>
        <p:spPr>
          <a:xfrm>
            <a:off x="3492500" y="2295075"/>
            <a:ext cx="17325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/>
              <a:t>Fin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