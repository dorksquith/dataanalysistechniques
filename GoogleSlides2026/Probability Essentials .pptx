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6f21ccd0b92349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6f21ccd0b92349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6f21ccd0b92349d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h6f21ccd0b92349d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6f21ccd0b92349d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6f21ccd0b92349d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603d50c6f9435f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1603d50c6f9435f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6f21ccd0b92349db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6f21ccd0b92349d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f21ccd0b92349d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6f21ccd0b92349d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1603d50c6f9435f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1603d50c6f9435f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1603d50c6f9435f4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1603d50c6f9435f4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34fc788bb5e37e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34fc788bb5e37e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1603d50c6f9435f4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h1603d50c6f9435f4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1603d50c6f9435f4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1603d50c6f9435f4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1603d50c6f9435f4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1603d50c6f9435f4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603d50c6f9435f4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1603d50c6f9435f4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1603d50c6f9435f4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h1603d50c6f9435f4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1603d50c6f9435f4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1603d50c6f9435f4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1603d50c6f9435f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1603d50c6f9435f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1603d50c6f9435f4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1603d50c6f9435f4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1603d50c6f9435f4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1603d50c6f9435f4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603d50c6f9435f4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h1603d50c6f9435f4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1603d50c6f9435f4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1603d50c6f9435f4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1603d50c6f9435f4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1603d50c6f9435f4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1603d50c6f9435f4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1603d50c6f9435f4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1603d50c6f9435f4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h1603d50c6f9435f4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h1603d50c6f9435f4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h1603d50c6f9435f4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1603d50c6f9435f4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h1603d50c6f9435f4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34fc788bb5e37e9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34fc788bb5e37e9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34fc788bb5e37e9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34fc788bb5e37e9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34fc788bb5e37e9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h34fc788bb5e37e9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34fc788bb5e37e9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h34fc788bb5e37e9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34fc788bb5e37e9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h34fc788bb5e37e9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34fc788bb5e37e9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34fc788bb5e37e9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1603d50c6f9435f4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h1603d50c6f9435f4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1603d50c6f9435f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1603d50c6f9435f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1603d50c6f9435f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h1603d50c6f9435f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1603d50c6f9435f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h1603d50c6f9435f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1603d50c6f9435f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1603d50c6f9435f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1603d50c6f9435f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h1603d50c6f9435f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1603d50c6f9435f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h1603d50c6f9435f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1603d50c6f9435f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1603d50c6f9435f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h1603d50c6f9435f4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h1603d50c6f9435f4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h1603d50c6f9435f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h1603d50c6f9435f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1603d50c6f9435f4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h1603d50c6f9435f4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h1603d50c6f9435f4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h1603d50c6f9435f4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1603d50c6f9435f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h1603d50c6f9435f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1603d50c6f9435f4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h1603d50c6f9435f4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h1603d50c6f9435f4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h1603d50c6f9435f4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h1603d50c6f9435f4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h1603d50c6f9435f4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1603d50c6f9435f4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h1603d50c6f9435f4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h34fc788bb5e37e9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h34fc788bb5e37e9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h34fc788bb5e37e9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h34fc788bb5e37e9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h34fc788bb5e37e9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h34fc788bb5e37e9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1603d50c6f9435f4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h1603d50c6f9435f4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dorksquith.github.io/DataAnalysisTechniques/" TargetMode="External"/><Relationship Id="rId4" Type="http://schemas.openxmlformats.org/officeDocument/2006/relationships/hyperlink" Target="https://canvas.sussex.ac.uk/courses/39055" TargetMode="External"/><Relationship Id="rId5" Type="http://schemas.openxmlformats.org/officeDocument/2006/relationships/hyperlink" Target="https://canvas.sussex.ac.uk/courses/39055/pages/welcome-to-dat" TargetMode="External"/><Relationship Id="rId6" Type="http://schemas.openxmlformats.org/officeDocument/2006/relationships/hyperlink" Target="https://canvas.sussex.ac.uk/courses/39055/pages/terminology-and-concep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rksquith.github.io/DataAnalysisTechniques/terminologyandconcepts/" TargetMode="External"/><Relationship Id="rId4" Type="http://schemas.openxmlformats.org/officeDocument/2006/relationships/hyperlink" Target="https://dorksquith.github.io/DataAnalysisTechniques/probabilityessentials/" TargetMode="External"/><Relationship Id="rId5" Type="http://schemas.openxmlformats.org/officeDocument/2006/relationships/hyperlink" Target="https://dorksquith.github.io/DataAnalysisTechniqu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orksquith.github.io/DataAnalysisTechniques/probabilityessentials/"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4.png"/><Relationship Id="rId9" Type="http://schemas.openxmlformats.org/officeDocument/2006/relationships/image" Target="../media/image22.png"/><Relationship Id="rId5" Type="http://schemas.openxmlformats.org/officeDocument/2006/relationships/image" Target="../media/image12.png"/><Relationship Id="rId6" Type="http://schemas.openxmlformats.org/officeDocument/2006/relationships/image" Target="../media/image23.png"/><Relationship Id="rId7" Type="http://schemas.openxmlformats.org/officeDocument/2006/relationships/image" Target="../media/image15.png"/><Relationship Id="rId8"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dorksquith.github.io/DataAnalysisTechniques/" TargetMode="External"/><Relationship Id="rId4" Type="http://schemas.openxmlformats.org/officeDocument/2006/relationships/hyperlink" Target="https://canvas.sussex.ac.uk/courses/39055" TargetMode="External"/><Relationship Id="rId5" Type="http://schemas.openxmlformats.org/officeDocument/2006/relationships/hyperlink" Target="https://canvas.sussex.ac.uk/courses/39055/pages/welcome-to-dat" TargetMode="External"/><Relationship Id="rId6" Type="http://schemas.openxmlformats.org/officeDocument/2006/relationships/hyperlink" Target="https://canvas.sussex.ac.uk/courses/39055/pages/terminology-and-concept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jp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0.png"/><Relationship Id="rId4" Type="http://schemas.openxmlformats.org/officeDocument/2006/relationships/image" Target="../media/image35.png"/><Relationship Id="rId5"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0.png"/><Relationship Id="rId4" Type="http://schemas.openxmlformats.org/officeDocument/2006/relationships/image" Target="../media/image35.png"/><Relationship Id="rId5"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8.jpg"/><Relationship Id="rId6" Type="http://schemas.openxmlformats.org/officeDocument/2006/relationships/image" Target="../media/image4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36.png"/><Relationship Id="rId5"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0.png"/><Relationship Id="rId4" Type="http://schemas.openxmlformats.org/officeDocument/2006/relationships/image" Target="../media/image35.png"/><Relationship Id="rId5"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 Id="rId6" Type="http://schemas.openxmlformats.org/officeDocument/2006/relationships/image" Target="../media/image4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37.jpg"/><Relationship Id="rId6" Type="http://schemas.openxmlformats.org/officeDocument/2006/relationships/image" Target="../media/image4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38.jpg"/><Relationship Id="rId5" Type="http://schemas.openxmlformats.org/officeDocument/2006/relationships/image" Target="../media/image3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5.png"/><Relationship Id="rId4" Type="http://schemas.openxmlformats.org/officeDocument/2006/relationships/image" Target="../media/image38.jpg"/><Relationship Id="rId5" Type="http://schemas.openxmlformats.org/officeDocument/2006/relationships/image" Target="../media/image3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5.png"/><Relationship Id="rId4"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5.png"/><Relationship Id="rId4" Type="http://schemas.openxmlformats.org/officeDocument/2006/relationships/image" Target="../media/image3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Data Analysis Techniques 890F3</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Probability Essentials</a:t>
            </a:r>
            <a:endParaRPr/>
          </a:p>
        </p:txBody>
      </p:sp>
      <p:pic>
        <p:nvPicPr>
          <p:cNvPr id="56" name="Google Shape;56;p13" title="dice (1).png"/>
          <p:cNvPicPr preferRelativeResize="0"/>
          <p:nvPr/>
        </p:nvPicPr>
        <p:blipFill>
          <a:blip r:embed="rId3">
            <a:alphaModFix/>
          </a:blip>
          <a:stretch>
            <a:fillRect/>
          </a:stretch>
        </p:blipFill>
        <p:spPr>
          <a:xfrm>
            <a:off x="3199575" y="3626725"/>
            <a:ext cx="1215450" cy="1226400"/>
          </a:xfrm>
          <a:prstGeom prst="rect">
            <a:avLst/>
          </a:prstGeom>
          <a:noFill/>
          <a:ln>
            <a:noFill/>
          </a:ln>
        </p:spPr>
      </p:pic>
      <p:pic>
        <p:nvPicPr>
          <p:cNvPr id="57" name="Google Shape;57;p13" title="sussex-logo.png"/>
          <p:cNvPicPr preferRelativeResize="0"/>
          <p:nvPr/>
        </p:nvPicPr>
        <p:blipFill>
          <a:blip r:embed="rId4">
            <a:alphaModFix/>
          </a:blip>
          <a:stretch>
            <a:fillRect/>
          </a:stretch>
        </p:blipFill>
        <p:spPr>
          <a:xfrm>
            <a:off x="4572001" y="3626725"/>
            <a:ext cx="1406757" cy="1226400"/>
          </a:xfrm>
          <a:prstGeom prst="rect">
            <a:avLst/>
          </a:prstGeom>
          <a:noFill/>
          <a:ln>
            <a:noFill/>
          </a:ln>
        </p:spPr>
      </p:pic>
      <p:sp>
        <p:nvSpPr>
          <p:cNvPr id="58" name="Google Shape;58;p13"/>
          <p:cNvSpPr txBox="1"/>
          <p:nvPr/>
        </p:nvSpPr>
        <p:spPr>
          <a:xfrm>
            <a:off x="3228450" y="366875"/>
            <a:ext cx="4226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dk2"/>
                </a:solidFill>
              </a:rPr>
              <a:t>ER KC JE</a:t>
            </a:r>
            <a:endParaRPr sz="32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Welcome New People</a:t>
            </a:r>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 name="Google Shape;65;p14"/>
          <p:cNvSpPr txBox="1"/>
          <p:nvPr/>
        </p:nvSpPr>
        <p:spPr>
          <a:xfrm>
            <a:off x="667750" y="1440750"/>
            <a:ext cx="8164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Module Notes</a:t>
            </a:r>
            <a:r>
              <a:rPr lang="en" sz="1800">
                <a:solidFill>
                  <a:schemeClr val="dk1"/>
                </a:solidFill>
              </a:rPr>
              <a:t>: </a:t>
            </a:r>
            <a:r>
              <a:rPr lang="en" sz="1800" u="sng">
                <a:solidFill>
                  <a:schemeClr val="accent5"/>
                </a:solidFill>
                <a:hlinkClick r:id="rId3">
                  <a:extLst>
                    <a:ext uri="{A12FA001-AC4F-418D-AE19-62706E023703}">
                      <ahyp:hlinkClr val="tx"/>
                    </a:ext>
                  </a:extLst>
                </a:hlinkClick>
              </a:rPr>
              <a:t>https://dorksquith.github.io/DataAnalysisTechniques/</a:t>
            </a:r>
            <a:endParaRPr sz="18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Read the front page and follow the technical guidance</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All the notes for part 1 are at this link along with python examples.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Expect frequent updates</a:t>
            </a:r>
            <a:endParaRPr sz="1600">
              <a:solidFill>
                <a:schemeClr val="dk1"/>
              </a:solidFill>
            </a:endParaRPr>
          </a:p>
          <a:p>
            <a:pPr indent="0" lvl="0" marL="0" rtl="0" algn="l">
              <a:spcBef>
                <a:spcPts val="0"/>
              </a:spcBef>
              <a:spcAft>
                <a:spcPts val="0"/>
              </a:spcAft>
              <a:buNone/>
            </a:pPr>
            <a:r>
              <a:t/>
            </a:r>
            <a:endParaRPr b="1" sz="1800">
              <a:solidFill>
                <a:schemeClr val="accent1"/>
              </a:solidFill>
            </a:endParaRPr>
          </a:p>
          <a:p>
            <a:pPr indent="0" lvl="0" marL="0" rtl="0" algn="l">
              <a:spcBef>
                <a:spcPts val="0"/>
              </a:spcBef>
              <a:spcAft>
                <a:spcPts val="0"/>
              </a:spcAft>
              <a:buNone/>
            </a:pPr>
            <a:r>
              <a:rPr b="1" lang="en" sz="1800">
                <a:solidFill>
                  <a:schemeClr val="accent1"/>
                </a:solidFill>
              </a:rPr>
              <a:t>Canvas:</a:t>
            </a:r>
            <a:r>
              <a:rPr lang="en" sz="1800"/>
              <a:t>  </a:t>
            </a:r>
            <a:r>
              <a:rPr lang="en" sz="1800" u="sng">
                <a:solidFill>
                  <a:schemeClr val="hlink"/>
                </a:solidFill>
                <a:hlinkClick r:id="rId4"/>
              </a:rPr>
              <a:t>https://canvas.sussex.ac.uk/courses/39055</a:t>
            </a:r>
            <a:endParaRPr sz="1800"/>
          </a:p>
          <a:p>
            <a:pPr indent="-330200" lvl="0" marL="457200" rtl="0" algn="l">
              <a:spcBef>
                <a:spcPts val="0"/>
              </a:spcBef>
              <a:spcAft>
                <a:spcPts val="0"/>
              </a:spcAft>
              <a:buSzPts val="1600"/>
              <a:buChar char="-"/>
            </a:pPr>
            <a:r>
              <a:rPr lang="en" sz="1600"/>
              <a:t>Read the Module Information and Assessments &amp; Guidance pages</a:t>
            </a:r>
            <a:endParaRPr sz="1600"/>
          </a:p>
          <a:p>
            <a:pPr indent="-330200" lvl="0" marL="457200" rtl="0" algn="l">
              <a:spcBef>
                <a:spcPts val="0"/>
              </a:spcBef>
              <a:spcAft>
                <a:spcPts val="0"/>
              </a:spcAft>
              <a:buSzPts val="1600"/>
              <a:buChar char="-"/>
            </a:pPr>
            <a:r>
              <a:rPr lang="en" sz="1600"/>
              <a:t>Watch the Intro lecture under Introduction &amp; Resources-&gt; </a:t>
            </a:r>
            <a:r>
              <a:rPr lang="en" sz="1600" u="sng">
                <a:solidFill>
                  <a:schemeClr val="hlink"/>
                </a:solidFill>
                <a:hlinkClick r:id="rId5"/>
              </a:rPr>
              <a:t>Welcome and Introduction</a:t>
            </a:r>
            <a:endParaRPr sz="1600"/>
          </a:p>
          <a:p>
            <a:pPr indent="-330200" lvl="0" marL="457200" rtl="0" algn="l">
              <a:spcBef>
                <a:spcPts val="0"/>
              </a:spcBef>
              <a:spcAft>
                <a:spcPts val="0"/>
              </a:spcAft>
              <a:buSzPts val="1600"/>
              <a:buChar char="-"/>
            </a:pPr>
            <a:r>
              <a:rPr lang="en" sz="1600"/>
              <a:t>Watch the week 1 lecture under </a:t>
            </a:r>
            <a:r>
              <a:rPr lang="en" sz="1600" u="sng">
                <a:solidFill>
                  <a:schemeClr val="hlink"/>
                </a:solidFill>
                <a:hlinkClick r:id="rId6"/>
              </a:rPr>
              <a:t>1. Terminology and Concepts</a:t>
            </a:r>
            <a:r>
              <a:rPr lang="en" sz="1600"/>
              <a:t> </a:t>
            </a:r>
            <a:endParaRPr sz="1600">
              <a:solidFill>
                <a:srgbClr val="0A3135"/>
              </a:solidFill>
              <a:highlight>
                <a:srgbClr val="FFFFFF"/>
              </a:highlight>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week’s Tasks</a:t>
            </a:r>
            <a:endParaRPr/>
          </a:p>
        </p:txBody>
      </p:sp>
      <p:sp>
        <p:nvSpPr>
          <p:cNvPr id="71" name="Google Shape;71;p15"/>
          <p:cNvSpPr txBox="1"/>
          <p:nvPr>
            <p:ph idx="1" type="body"/>
          </p:nvPr>
        </p:nvSpPr>
        <p:spPr>
          <a:xfrm>
            <a:off x="770650" y="1152475"/>
            <a:ext cx="7542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accent1"/>
                </a:solidFill>
              </a:rPr>
              <a:t>Week 1 tasks for you:</a:t>
            </a:r>
            <a:endParaRPr b="1">
              <a:solidFill>
                <a:schemeClr val="accent1"/>
              </a:solidFill>
            </a:endParaRPr>
          </a:p>
          <a:p>
            <a:pPr indent="-317500" lvl="0" marL="457200" rtl="0" algn="l">
              <a:spcBef>
                <a:spcPts val="1200"/>
              </a:spcBef>
              <a:spcAft>
                <a:spcPts val="0"/>
              </a:spcAft>
              <a:buClr>
                <a:schemeClr val="dk1"/>
              </a:buClr>
              <a:buSzPts val="1400"/>
              <a:buAutoNum type="arabicPeriod"/>
            </a:pPr>
            <a:r>
              <a:rPr lang="en" sz="1400">
                <a:solidFill>
                  <a:schemeClr val="dk1"/>
                </a:solidFill>
              </a:rPr>
              <a:t>Take the time to decide if this is the right module for you by reviewing the jupyter book notes available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Work through </a:t>
            </a:r>
            <a:r>
              <a:rPr lang="en" sz="1400" u="sng">
                <a:solidFill>
                  <a:schemeClr val="dk1"/>
                </a:solidFill>
                <a:hlinkClick r:id="rId3">
                  <a:extLst>
                    <a:ext uri="{A12FA001-AC4F-418D-AE19-62706E023703}">
                      <ahyp:hlinkClr val="tx"/>
                    </a:ext>
                  </a:extLst>
                </a:hlinkClick>
              </a:rPr>
              <a:t>Terminology &amp; Concepts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Do a first read of </a:t>
            </a:r>
            <a:r>
              <a:rPr lang="en" sz="1400" u="sng">
                <a:solidFill>
                  <a:schemeClr val="dk1"/>
                </a:solidFill>
                <a:hlinkClick r:id="rId4">
                  <a:extLst>
                    <a:ext uri="{A12FA001-AC4F-418D-AE19-62706E023703}">
                      <ahyp:hlinkClr val="tx"/>
                    </a:ext>
                  </a:extLst>
                </a:hlinkClick>
              </a:rPr>
              <a:t>Probability Essentials</a:t>
            </a:r>
            <a:r>
              <a:rPr lang="en" sz="1400">
                <a:solidFill>
                  <a:schemeClr val="dk1"/>
                </a:solidFill>
              </a:rPr>
              <a:t> before we meet on Monday</a:t>
            </a:r>
            <a:endParaRPr sz="1400">
              <a:solidFill>
                <a:schemeClr val="dk1"/>
              </a:solidFill>
            </a:endParaRPr>
          </a:p>
          <a:p>
            <a:pPr indent="0" lvl="0" marL="0" rtl="0" algn="l">
              <a:spcBef>
                <a:spcPts val="1200"/>
              </a:spcBef>
              <a:spcAft>
                <a:spcPts val="0"/>
              </a:spcAft>
              <a:buNone/>
            </a:pPr>
            <a:r>
              <a:rPr lang="en" sz="1400">
                <a:solidFill>
                  <a:schemeClr val="accent1"/>
                </a:solidFill>
              </a:rPr>
              <a:t>In the Workshop we identified some issues with people not </a:t>
            </a:r>
            <a:r>
              <a:rPr lang="en" sz="1400">
                <a:solidFill>
                  <a:schemeClr val="accent1"/>
                </a:solidFill>
              </a:rPr>
              <a:t>having</a:t>
            </a:r>
            <a:r>
              <a:rPr lang="en" sz="1400">
                <a:solidFill>
                  <a:schemeClr val="accent1"/>
                </a:solidFill>
              </a:rPr>
              <a:t> access to a </a:t>
            </a:r>
            <a:r>
              <a:rPr b="1" lang="en" sz="1400">
                <a:solidFill>
                  <a:schemeClr val="accent1"/>
                </a:solidFill>
                <a:latin typeface="Courier New"/>
                <a:ea typeface="Courier New"/>
                <a:cs typeface="Courier New"/>
                <a:sym typeface="Courier New"/>
              </a:rPr>
              <a:t>Terminal</a:t>
            </a:r>
            <a:r>
              <a:rPr lang="en" sz="1400">
                <a:solidFill>
                  <a:schemeClr val="accent1"/>
                </a:solidFill>
              </a:rPr>
              <a:t>.</a:t>
            </a:r>
            <a:r>
              <a:rPr lang="en" sz="1400"/>
              <a:t> </a:t>
            </a:r>
            <a:r>
              <a:rPr lang="en" sz="1400">
                <a:solidFill>
                  <a:schemeClr val="dk1"/>
                </a:solidFill>
              </a:rPr>
              <a:t>Please see the </a:t>
            </a:r>
            <a:r>
              <a:rPr b="1" lang="en" sz="1400">
                <a:solidFill>
                  <a:schemeClr val="dk1"/>
                </a:solidFill>
              </a:rPr>
              <a:t>updated instructions</a:t>
            </a:r>
            <a:r>
              <a:rPr lang="en" sz="1400">
                <a:solidFill>
                  <a:schemeClr val="dk1"/>
                </a:solidFill>
              </a:rPr>
              <a:t> </a:t>
            </a:r>
            <a:r>
              <a:rPr lang="en" sz="1400" u="sng">
                <a:solidFill>
                  <a:schemeClr val="dk1"/>
                </a:solidFill>
                <a:hlinkClick r:id="rId5">
                  <a:extLst>
                    <a:ext uri="{A12FA001-AC4F-418D-AE19-62706E023703}">
                      <ahyp:hlinkClr val="tx"/>
                    </a:ext>
                  </a:extLst>
                </a:hlinkClick>
              </a:rPr>
              <a:t>https://dorksquith.github.io/DataAnalysisTechniques/</a:t>
            </a:r>
            <a:endParaRPr sz="1400">
              <a:solidFill>
                <a:schemeClr val="dk1"/>
              </a:solidFill>
            </a:endParaRPr>
          </a:p>
          <a:p>
            <a:pPr indent="0" lvl="0" marL="0" rtl="0" algn="l">
              <a:lnSpc>
                <a:spcPct val="100000"/>
              </a:lnSpc>
              <a:spcBef>
                <a:spcPts val="1200"/>
              </a:spcBef>
              <a:spcAft>
                <a:spcPts val="0"/>
              </a:spcAft>
              <a:buNone/>
            </a:pPr>
            <a:r>
              <a:rPr b="1" lang="en" sz="1400">
                <a:solidFill>
                  <a:srgbClr val="FF0000"/>
                </a:solidFill>
              </a:rPr>
              <a:t>It is essential that you can execute markdown files as a jupyter book, as this will be the format for all your assessed submissions</a:t>
            </a:r>
            <a:r>
              <a:rPr lang="en" sz="1400">
                <a:solidFill>
                  <a:srgbClr val="FF0000"/>
                </a:solidFill>
              </a:rPr>
              <a:t>.</a:t>
            </a:r>
            <a:endParaRPr sz="1400">
              <a:solidFill>
                <a:srgbClr val="FF0000"/>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The first coursework task is due week 4 and will be released this week prior to the workshop. </a:t>
            </a:r>
            <a:endParaRPr b="1">
              <a:solidFill>
                <a:schemeClr val="accent1"/>
              </a:solidFill>
            </a:endParaRPr>
          </a:p>
        </p:txBody>
      </p:sp>
      <p:sp>
        <p:nvSpPr>
          <p:cNvPr id="72" name="Google Shape;72;p15"/>
          <p:cNvSpPr txBox="1"/>
          <p:nvPr/>
        </p:nvSpPr>
        <p:spPr>
          <a:xfrm>
            <a:off x="4225625" y="60600"/>
            <a:ext cx="480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we are</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9" name="Google Shape;79;p16" title="Screenshot 2026-10-04 at 17.07.02.png"/>
          <p:cNvPicPr preferRelativeResize="0"/>
          <p:nvPr/>
        </p:nvPicPr>
        <p:blipFill>
          <a:blip r:embed="rId3">
            <a:alphaModFix/>
          </a:blip>
          <a:stretch>
            <a:fillRect/>
          </a:stretch>
        </p:blipFill>
        <p:spPr>
          <a:xfrm>
            <a:off x="787975" y="1197726"/>
            <a:ext cx="6417752" cy="3025350"/>
          </a:xfrm>
          <a:prstGeom prst="rect">
            <a:avLst/>
          </a:prstGeom>
          <a:noFill/>
          <a:ln>
            <a:noFill/>
          </a:ln>
        </p:spPr>
      </p:pic>
      <p:sp>
        <p:nvSpPr>
          <p:cNvPr id="80" name="Google Shape;80;p16"/>
          <p:cNvSpPr/>
          <p:nvPr/>
        </p:nvSpPr>
        <p:spPr>
          <a:xfrm>
            <a:off x="6762750" y="1835825"/>
            <a:ext cx="1896300" cy="716400"/>
          </a:xfrm>
          <a:prstGeom prst="leftArrow">
            <a:avLst>
              <a:gd fmla="val 50000" name="adj1"/>
              <a:gd fmla="val 50000" name="adj2"/>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Today</a:t>
            </a:r>
            <a:endParaRPr b="1"/>
          </a:p>
        </p:txBody>
      </p:sp>
      <p:sp>
        <p:nvSpPr>
          <p:cNvPr id="81" name="Google Shape;81;p16"/>
          <p:cNvSpPr txBox="1"/>
          <p:nvPr/>
        </p:nvSpPr>
        <p:spPr>
          <a:xfrm>
            <a:off x="4953000" y="355025"/>
            <a:ext cx="3879300" cy="738900"/>
          </a:xfrm>
          <a:prstGeom prst="rect">
            <a:avLst/>
          </a:prstGeom>
          <a:solidFill>
            <a:srgbClr val="00C20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Broad &amp; Shallow intro to things we will keep revisiting</a:t>
            </a:r>
            <a:endParaRPr b="1" sz="1800">
              <a:solidFill>
                <a:schemeClr val="lt1"/>
              </a:solidFill>
            </a:endParaRPr>
          </a:p>
        </p:txBody>
      </p:sp>
      <p:cxnSp>
        <p:nvCxnSpPr>
          <p:cNvPr id="82" name="Google Shape;82;p16"/>
          <p:cNvCxnSpPr>
            <a:endCxn id="81" idx="2"/>
          </p:cNvCxnSpPr>
          <p:nvPr/>
        </p:nvCxnSpPr>
        <p:spPr>
          <a:xfrm flipH="1" rot="10800000">
            <a:off x="3809850" y="1093925"/>
            <a:ext cx="3082800" cy="741900"/>
          </a:xfrm>
          <a:prstGeom prst="bentConnector2">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9" name="Google Shape;89;p17"/>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Probability Essentials</a:t>
            </a:r>
            <a:endParaRPr/>
          </a:p>
        </p:txBody>
      </p:sp>
      <p:pic>
        <p:nvPicPr>
          <p:cNvPr id="95" name="Google Shape;95;p18" title="Screenshot 2026-09-29 at 12.26.29.png"/>
          <p:cNvPicPr preferRelativeResize="0"/>
          <p:nvPr/>
        </p:nvPicPr>
        <p:blipFill>
          <a:blip r:embed="rId3">
            <a:alphaModFix/>
          </a:blip>
          <a:stretch>
            <a:fillRect/>
          </a:stretch>
        </p:blipFill>
        <p:spPr>
          <a:xfrm>
            <a:off x="311700" y="1330200"/>
            <a:ext cx="8520600" cy="36130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Probability Essentials: let’s go to the notes</a:t>
            </a:r>
            <a:endParaRPr/>
          </a:p>
          <a:p>
            <a:pPr indent="0" lvl="0" marL="0" rtl="0" algn="l">
              <a:spcBef>
                <a:spcPts val="0"/>
              </a:spcBef>
              <a:spcAft>
                <a:spcPts val="0"/>
              </a:spcAft>
              <a:buNone/>
            </a:pPr>
            <a:r>
              <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https://dorksquith.github.io/DataAnalysisTechniques/probabilityessentials/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2" name="Google Shape;102;p19"/>
          <p:cNvSpPr txBox="1"/>
          <p:nvPr/>
        </p:nvSpPr>
        <p:spPr>
          <a:xfrm>
            <a:off x="406050" y="2102525"/>
            <a:ext cx="5197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Focus:</a:t>
            </a:r>
            <a:endParaRPr b="1"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Conditional and Total Probability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Distributions and Normalisation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n" sz="1800">
                <a:solidFill>
                  <a:schemeClr val="dk2"/>
                </a:solidFill>
              </a:rPr>
              <a:t>Extra:</a:t>
            </a:r>
            <a:endParaRPr b="1"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Monty Hall Problem</a:t>
            </a:r>
            <a:endParaRPr sz="1800">
              <a:solidFill>
                <a:schemeClr val="dk2"/>
              </a:solidFill>
            </a:endParaRPr>
          </a:p>
        </p:txBody>
      </p:sp>
      <p:pic>
        <p:nvPicPr>
          <p:cNvPr id="103" name="Google Shape;103;p19" title="qr-code (3).png"/>
          <p:cNvPicPr preferRelativeResize="0"/>
          <p:nvPr/>
        </p:nvPicPr>
        <p:blipFill>
          <a:blip r:embed="rId4">
            <a:alphaModFix/>
          </a:blip>
          <a:stretch>
            <a:fillRect/>
          </a:stretch>
        </p:blipFill>
        <p:spPr>
          <a:xfrm>
            <a:off x="5189200" y="1790275"/>
            <a:ext cx="3416399" cy="34163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926525" y="1298875"/>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09" name="Google Shape;109;p20"/>
          <p:cNvSpPr txBox="1"/>
          <p:nvPr/>
        </p:nvSpPr>
        <p:spPr>
          <a:xfrm>
            <a:off x="519525" y="987150"/>
            <a:ext cx="7931700" cy="1985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3900">
                <a:solidFill>
                  <a:schemeClr val="dk2"/>
                </a:solidFill>
              </a:rPr>
              <a:t>Focus </a:t>
            </a:r>
            <a:r>
              <a:rPr lang="en" sz="3900">
                <a:solidFill>
                  <a:schemeClr val="dk2"/>
                </a:solidFill>
              </a:rPr>
              <a:t>1/2</a:t>
            </a:r>
            <a:r>
              <a:rPr lang="en" sz="3900">
                <a:solidFill>
                  <a:schemeClr val="dk2"/>
                </a:solidFill>
              </a:rPr>
              <a:t>: </a:t>
            </a:r>
            <a:endParaRPr sz="3900">
              <a:solidFill>
                <a:schemeClr val="dk2"/>
              </a:solidFill>
            </a:endParaRPr>
          </a:p>
          <a:p>
            <a:pPr indent="0" lvl="0" marL="457200" rtl="0" algn="l">
              <a:spcBef>
                <a:spcPts val="0"/>
              </a:spcBef>
              <a:spcAft>
                <a:spcPts val="0"/>
              </a:spcAft>
              <a:buNone/>
            </a:pPr>
            <a:r>
              <a:rPr lang="en" sz="3900">
                <a:solidFill>
                  <a:schemeClr val="dk2"/>
                </a:solidFill>
              </a:rPr>
              <a:t>Conditional and Total Probability</a:t>
            </a:r>
            <a:endParaRPr sz="3900">
              <a:solidFill>
                <a:schemeClr val="dk2"/>
              </a:solidFill>
            </a:endParaRPr>
          </a:p>
          <a:p>
            <a:pPr indent="0" lvl="0" marL="457200" rtl="0" algn="l">
              <a:spcBef>
                <a:spcPts val="0"/>
              </a:spcBef>
              <a:spcAft>
                <a:spcPts val="0"/>
              </a:spcAft>
              <a:buNone/>
            </a:pPr>
            <a:r>
              <a:rPr lang="en" sz="3900">
                <a:solidFill>
                  <a:schemeClr val="dk2"/>
                </a:solidFill>
              </a:rPr>
              <a:t>(&amp; Bayes’ Theorem)</a:t>
            </a:r>
            <a:endParaRPr sz="39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Notation </a:t>
            </a:r>
            <a:endParaRPr/>
          </a:p>
        </p:txBody>
      </p:sp>
      <p:pic>
        <p:nvPicPr>
          <p:cNvPr id="115" name="Google Shape;115;p21" title="Screenshot 2026-10-05 at 11.36.30.png"/>
          <p:cNvPicPr preferRelativeResize="0"/>
          <p:nvPr/>
        </p:nvPicPr>
        <p:blipFill>
          <a:blip r:embed="rId3">
            <a:alphaModFix/>
          </a:blip>
          <a:stretch>
            <a:fillRect/>
          </a:stretch>
        </p:blipFill>
        <p:spPr>
          <a:xfrm>
            <a:off x="514350" y="1622377"/>
            <a:ext cx="7333252" cy="2856850"/>
          </a:xfrm>
          <a:prstGeom prst="rect">
            <a:avLst/>
          </a:prstGeom>
          <a:noFill/>
          <a:ln>
            <a:noFill/>
          </a:ln>
        </p:spPr>
      </p:pic>
      <p:sp>
        <p:nvSpPr>
          <p:cNvPr id="116" name="Google Shape;116;p21"/>
          <p:cNvSpPr txBox="1"/>
          <p:nvPr/>
        </p:nvSpPr>
        <p:spPr>
          <a:xfrm>
            <a:off x="514350" y="1089200"/>
            <a:ext cx="382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Union: (A) or (B) or (Both A and B)</a:t>
            </a:r>
            <a:endParaRPr sz="1800">
              <a:solidFill>
                <a:schemeClr val="accent1"/>
              </a:solidFill>
            </a:endParaRPr>
          </a:p>
        </p:txBody>
      </p:sp>
      <p:sp>
        <p:nvSpPr>
          <p:cNvPr id="117" name="Google Shape;117;p21"/>
          <p:cNvSpPr txBox="1"/>
          <p:nvPr/>
        </p:nvSpPr>
        <p:spPr>
          <a:xfrm>
            <a:off x="4572000" y="1089175"/>
            <a:ext cx="347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Intersection</a:t>
            </a:r>
            <a:r>
              <a:rPr lang="en" sz="1800">
                <a:solidFill>
                  <a:schemeClr val="accent1"/>
                </a:solidFill>
              </a:rPr>
              <a:t>: (Both A and B)</a:t>
            </a:r>
            <a:endParaRPr sz="18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Fundamental</a:t>
            </a:r>
            <a:endParaRPr/>
          </a:p>
        </p:txBody>
      </p:sp>
      <p:pic>
        <p:nvPicPr>
          <p:cNvPr id="123" name="Google Shape;123;p22" title="Screenshot 2026-10-04 at 19.36.42.png"/>
          <p:cNvPicPr preferRelativeResize="0"/>
          <p:nvPr/>
        </p:nvPicPr>
        <p:blipFill>
          <a:blip r:embed="rId3">
            <a:alphaModFix/>
          </a:blip>
          <a:stretch>
            <a:fillRect/>
          </a:stretch>
        </p:blipFill>
        <p:spPr>
          <a:xfrm>
            <a:off x="4042106" y="445025"/>
            <a:ext cx="4790195" cy="4123849"/>
          </a:xfrm>
          <a:prstGeom prst="rect">
            <a:avLst/>
          </a:prstGeom>
          <a:noFill/>
          <a:ln>
            <a:noFill/>
          </a:ln>
        </p:spPr>
      </p:pic>
      <p:sp>
        <p:nvSpPr>
          <p:cNvPr id="124" name="Google Shape;124;p22"/>
          <p:cNvSpPr/>
          <p:nvPr/>
        </p:nvSpPr>
        <p:spPr>
          <a:xfrm flipH="1">
            <a:off x="233900" y="1705850"/>
            <a:ext cx="3532800" cy="2862900"/>
          </a:xfrm>
          <a:prstGeom prst="leftArrow">
            <a:avLst>
              <a:gd fmla="val 50000" name="adj1"/>
              <a:gd fmla="val 50000"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rPr>
              <a:t>Things can get complicated, so we must always check Kolmogorov 2 is satisfied</a:t>
            </a:r>
            <a:endParaRPr>
              <a:solidFill>
                <a:schemeClr val="accent1"/>
              </a:solidFill>
            </a:endParaRPr>
          </a:p>
        </p:txBody>
      </p:sp>
      <p:sp>
        <p:nvSpPr>
          <p:cNvPr id="125" name="Google Shape;125;p22"/>
          <p:cNvSpPr/>
          <p:nvPr/>
        </p:nvSpPr>
        <p:spPr>
          <a:xfrm>
            <a:off x="4061125" y="2753600"/>
            <a:ext cx="4771200" cy="8226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2"/>
          <p:cNvSpPr txBox="1"/>
          <p:nvPr/>
        </p:nvSpPr>
        <p:spPr>
          <a:xfrm>
            <a:off x="7256400" y="1654813"/>
            <a:ext cx="188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means “for all A”</a:t>
            </a:r>
            <a:endParaRPr sz="1800">
              <a:solidFill>
                <a:schemeClr val="accent1"/>
              </a:solidFill>
            </a:endParaRPr>
          </a:p>
        </p:txBody>
      </p:sp>
      <p:pic>
        <p:nvPicPr>
          <p:cNvPr id="127" name="Google Shape;127;p22" title="Screenshot 2026-10-04 at 19.36.42.png"/>
          <p:cNvPicPr preferRelativeResize="0"/>
          <p:nvPr/>
        </p:nvPicPr>
        <p:blipFill rotWithShape="1">
          <a:blip r:embed="rId3">
            <a:alphaModFix/>
          </a:blip>
          <a:srcRect b="46215" l="55227" r="39309" t="48752"/>
          <a:stretch/>
        </p:blipFill>
        <p:spPr>
          <a:xfrm>
            <a:off x="6712715" y="1696351"/>
            <a:ext cx="477408" cy="378624"/>
          </a:xfrm>
          <a:prstGeom prst="rect">
            <a:avLst/>
          </a:prstGeom>
          <a:noFill/>
          <a:ln>
            <a:noFill/>
          </a:ln>
        </p:spPr>
      </p:pic>
      <p:pic>
        <p:nvPicPr>
          <p:cNvPr id="128" name="Google Shape;128;p22" title="Screenshot 2026-10-05 at 11.40.22.png"/>
          <p:cNvPicPr preferRelativeResize="0"/>
          <p:nvPr/>
        </p:nvPicPr>
        <p:blipFill>
          <a:blip r:embed="rId4">
            <a:alphaModFix/>
          </a:blip>
          <a:stretch>
            <a:fillRect/>
          </a:stretch>
        </p:blipFill>
        <p:spPr>
          <a:xfrm>
            <a:off x="3982050" y="4674625"/>
            <a:ext cx="2985895" cy="378625"/>
          </a:xfrm>
          <a:prstGeom prst="rect">
            <a:avLst/>
          </a:prstGeom>
          <a:noFill/>
          <a:ln cap="flat" cmpd="sng" w="9525">
            <a:solidFill>
              <a:schemeClr val="accent1"/>
            </a:solidFill>
            <a:prstDash val="solid"/>
            <a:round/>
            <a:headEnd len="sm" w="sm" type="none"/>
            <a:tailEnd len="sm" w="sm" type="none"/>
          </a:ln>
        </p:spPr>
      </p:pic>
      <p:cxnSp>
        <p:nvCxnSpPr>
          <p:cNvPr id="129" name="Google Shape;129;p22"/>
          <p:cNvCxnSpPr/>
          <p:nvPr/>
        </p:nvCxnSpPr>
        <p:spPr>
          <a:xfrm flipH="1" rot="10800000">
            <a:off x="6163175" y="4656300"/>
            <a:ext cx="694800" cy="369900"/>
          </a:xfrm>
          <a:prstGeom prst="straightConnector1">
            <a:avLst/>
          </a:prstGeom>
          <a:noFill/>
          <a:ln cap="flat" cmpd="sng" w="19050">
            <a:solidFill>
              <a:srgbClr val="FF0000"/>
            </a:solidFill>
            <a:prstDash val="solid"/>
            <a:round/>
            <a:headEnd len="med" w="med" type="none"/>
            <a:tailEnd len="med" w="med" type="none"/>
          </a:ln>
        </p:spPr>
      </p:cxnSp>
      <p:sp>
        <p:nvSpPr>
          <p:cNvPr id="130" name="Google Shape;130;p22"/>
          <p:cNvSpPr/>
          <p:nvPr/>
        </p:nvSpPr>
        <p:spPr>
          <a:xfrm>
            <a:off x="5170575" y="3844100"/>
            <a:ext cx="902400" cy="1641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Conditional Probability</a:t>
            </a:r>
            <a:endParaRPr/>
          </a:p>
        </p:txBody>
      </p:sp>
      <p:pic>
        <p:nvPicPr>
          <p:cNvPr id="136" name="Google Shape;136;p23" title="Screenshot 2026-10-04 at 19.40.40.png"/>
          <p:cNvPicPr preferRelativeResize="0"/>
          <p:nvPr/>
        </p:nvPicPr>
        <p:blipFill>
          <a:blip r:embed="rId3">
            <a:alphaModFix/>
          </a:blip>
          <a:stretch>
            <a:fillRect/>
          </a:stretch>
        </p:blipFill>
        <p:spPr>
          <a:xfrm>
            <a:off x="545525" y="1680125"/>
            <a:ext cx="7882599" cy="2014575"/>
          </a:xfrm>
          <a:prstGeom prst="rect">
            <a:avLst/>
          </a:prstGeom>
          <a:noFill/>
          <a:ln>
            <a:noFill/>
          </a:ln>
        </p:spPr>
      </p:pic>
      <p:sp>
        <p:nvSpPr>
          <p:cNvPr id="137" name="Google Shape;137;p23"/>
          <p:cNvSpPr txBox="1"/>
          <p:nvPr/>
        </p:nvSpPr>
        <p:spPr>
          <a:xfrm>
            <a:off x="4490825" y="321350"/>
            <a:ext cx="4545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Joint Probability of A and B: “the probability that both A and B are true”</a:t>
            </a:r>
            <a:endParaRPr sz="1800">
              <a:solidFill>
                <a:schemeClr val="accent1"/>
              </a:solidFill>
            </a:endParaRPr>
          </a:p>
        </p:txBody>
      </p:sp>
      <p:sp>
        <p:nvSpPr>
          <p:cNvPr id="138" name="Google Shape;138;p23"/>
          <p:cNvSpPr txBox="1"/>
          <p:nvPr/>
        </p:nvSpPr>
        <p:spPr>
          <a:xfrm>
            <a:off x="6515075" y="3437000"/>
            <a:ext cx="241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Total Probability of B</a:t>
            </a:r>
            <a:endParaRPr sz="1800">
              <a:solidFill>
                <a:schemeClr val="accent1"/>
              </a:solidFill>
            </a:endParaRPr>
          </a:p>
        </p:txBody>
      </p:sp>
      <p:cxnSp>
        <p:nvCxnSpPr>
          <p:cNvPr id="139" name="Google Shape;139;p23"/>
          <p:cNvCxnSpPr/>
          <p:nvPr/>
        </p:nvCxnSpPr>
        <p:spPr>
          <a:xfrm flipH="1">
            <a:off x="4800650" y="1017725"/>
            <a:ext cx="636000" cy="14910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23"/>
          <p:cNvCxnSpPr/>
          <p:nvPr/>
        </p:nvCxnSpPr>
        <p:spPr>
          <a:xfrm rot="10800000">
            <a:off x="4908850" y="3023050"/>
            <a:ext cx="2156700" cy="505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a:t>
            </a:r>
            <a:endParaRPr/>
          </a:p>
        </p:txBody>
      </p:sp>
      <p:pic>
        <p:nvPicPr>
          <p:cNvPr id="146" name="Google Shape;146;p24" title="Screenshot 2026-10-04 at 19.42.54.png"/>
          <p:cNvPicPr preferRelativeResize="0"/>
          <p:nvPr/>
        </p:nvPicPr>
        <p:blipFill rotWithShape="1">
          <a:blip r:embed="rId3">
            <a:alphaModFix/>
          </a:blip>
          <a:srcRect b="38830" l="0" r="0" t="0"/>
          <a:stretch/>
        </p:blipFill>
        <p:spPr>
          <a:xfrm>
            <a:off x="3321850" y="553300"/>
            <a:ext cx="5710876" cy="2523774"/>
          </a:xfrm>
          <a:prstGeom prst="rect">
            <a:avLst/>
          </a:prstGeom>
          <a:noFill/>
          <a:ln>
            <a:noFill/>
          </a:ln>
        </p:spPr>
      </p:pic>
      <p:pic>
        <p:nvPicPr>
          <p:cNvPr id="147" name="Google Shape;147;p24" title="Screenshot 2026-10-04 at 19.40.40.png"/>
          <p:cNvPicPr preferRelativeResize="0"/>
          <p:nvPr/>
        </p:nvPicPr>
        <p:blipFill rotWithShape="1">
          <a:blip r:embed="rId4">
            <a:alphaModFix/>
          </a:blip>
          <a:srcRect b="24264" l="33506" r="37455" t="35919"/>
          <a:stretch/>
        </p:blipFill>
        <p:spPr>
          <a:xfrm>
            <a:off x="450263" y="2517950"/>
            <a:ext cx="2026227" cy="710050"/>
          </a:xfrm>
          <a:prstGeom prst="rect">
            <a:avLst/>
          </a:prstGeom>
          <a:noFill/>
          <a:ln>
            <a:noFill/>
          </a:ln>
        </p:spPr>
      </p:pic>
      <p:sp>
        <p:nvSpPr>
          <p:cNvPr id="148" name="Google Shape;148;p24"/>
          <p:cNvSpPr/>
          <p:nvPr/>
        </p:nvSpPr>
        <p:spPr>
          <a:xfrm>
            <a:off x="389650" y="2457325"/>
            <a:ext cx="2026200" cy="8919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9" name="Google Shape;149;p24"/>
          <p:cNvCxnSpPr>
            <a:stCxn id="148" idx="3"/>
          </p:cNvCxnSpPr>
          <p:nvPr/>
        </p:nvCxnSpPr>
        <p:spPr>
          <a:xfrm flipH="1" rot="10800000">
            <a:off x="2415850" y="1609375"/>
            <a:ext cx="2041800" cy="1293900"/>
          </a:xfrm>
          <a:prstGeom prst="straightConnector1">
            <a:avLst/>
          </a:prstGeom>
          <a:noFill/>
          <a:ln cap="flat" cmpd="sng" w="9525">
            <a:solidFill>
              <a:schemeClr val="accent1"/>
            </a:solidFill>
            <a:prstDash val="solid"/>
            <a:round/>
            <a:headEnd len="med" w="med" type="none"/>
            <a:tailEnd len="med" w="med" type="none"/>
          </a:ln>
        </p:spPr>
      </p:cxnSp>
      <p:sp>
        <p:nvSpPr>
          <p:cNvPr id="150" name="Google Shape;150;p24"/>
          <p:cNvSpPr txBox="1"/>
          <p:nvPr/>
        </p:nvSpPr>
        <p:spPr>
          <a:xfrm>
            <a:off x="142375" y="1941475"/>
            <a:ext cx="2781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Conditional = Joint / Total</a:t>
            </a:r>
            <a:endParaRPr sz="1800">
              <a:solidFill>
                <a:schemeClr val="dk2"/>
              </a:solidFill>
            </a:endParaRPr>
          </a:p>
        </p:txBody>
      </p:sp>
      <p:sp>
        <p:nvSpPr>
          <p:cNvPr id="151" name="Google Shape;151;p24"/>
          <p:cNvSpPr txBox="1"/>
          <p:nvPr/>
        </p:nvSpPr>
        <p:spPr>
          <a:xfrm>
            <a:off x="558575" y="3857900"/>
            <a:ext cx="305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Bayes’ Theorem only has Conditionals and Totals</a:t>
            </a:r>
            <a:endParaRPr sz="1800">
              <a:solidFill>
                <a:schemeClr val="dk2"/>
              </a:solidFill>
            </a:endParaRPr>
          </a:p>
        </p:txBody>
      </p:sp>
      <p:pic>
        <p:nvPicPr>
          <p:cNvPr id="152" name="Google Shape;152;p24" title="Screenshot 2026-10-04 at 19.42.54.png"/>
          <p:cNvPicPr preferRelativeResize="0"/>
          <p:nvPr/>
        </p:nvPicPr>
        <p:blipFill rotWithShape="1">
          <a:blip r:embed="rId3">
            <a:alphaModFix/>
          </a:blip>
          <a:srcRect b="0" l="2873" r="35345" t="70818"/>
          <a:stretch/>
        </p:blipFill>
        <p:spPr>
          <a:xfrm>
            <a:off x="3780925" y="3250963"/>
            <a:ext cx="5251799" cy="1792116"/>
          </a:xfrm>
          <a:prstGeom prst="rect">
            <a:avLst/>
          </a:prstGeom>
          <a:noFill/>
          <a:ln>
            <a:noFill/>
          </a:ln>
        </p:spPr>
      </p:pic>
      <p:sp>
        <p:nvSpPr>
          <p:cNvPr id="153" name="Google Shape;153;p24"/>
          <p:cNvSpPr/>
          <p:nvPr/>
        </p:nvSpPr>
        <p:spPr>
          <a:xfrm>
            <a:off x="3780925" y="3349175"/>
            <a:ext cx="5251800" cy="1595700"/>
          </a:xfrm>
          <a:prstGeom prst="roundRect">
            <a:avLst>
              <a:gd fmla="val 16667"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 Theorem does not a Bayesian make</a:t>
            </a:r>
            <a:endParaRPr/>
          </a:p>
        </p:txBody>
      </p:sp>
      <p:pic>
        <p:nvPicPr>
          <p:cNvPr id="159" name="Google Shape;159;p25" title="Screenshot 2026-10-04 at 19.52.30.png"/>
          <p:cNvPicPr preferRelativeResize="0"/>
          <p:nvPr/>
        </p:nvPicPr>
        <p:blipFill>
          <a:blip r:embed="rId3">
            <a:alphaModFix/>
          </a:blip>
          <a:stretch>
            <a:fillRect/>
          </a:stretch>
        </p:blipFill>
        <p:spPr>
          <a:xfrm>
            <a:off x="606125" y="1289625"/>
            <a:ext cx="8091851" cy="1697750"/>
          </a:xfrm>
          <a:prstGeom prst="rect">
            <a:avLst/>
          </a:prstGeom>
          <a:noFill/>
          <a:ln>
            <a:noFill/>
          </a:ln>
        </p:spPr>
      </p:pic>
      <p:sp>
        <p:nvSpPr>
          <p:cNvPr id="160" name="Google Shape;160;p25"/>
          <p:cNvSpPr txBox="1"/>
          <p:nvPr/>
        </p:nvSpPr>
        <p:spPr>
          <a:xfrm>
            <a:off x="668800" y="2987375"/>
            <a:ext cx="7966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A Bayesian uses Prior Knowledge in their probability calculation.</a:t>
            </a:r>
            <a:endParaRPr sz="1800">
              <a:solidFill>
                <a:schemeClr val="accent1"/>
              </a:solidFill>
            </a:endParaRPr>
          </a:p>
          <a:p>
            <a:pPr indent="0" lvl="0" marL="0" rtl="0" algn="l">
              <a:spcBef>
                <a:spcPts val="0"/>
              </a:spcBef>
              <a:spcAft>
                <a:spcPts val="0"/>
              </a:spcAft>
              <a:buNone/>
            </a:pPr>
            <a:r>
              <a:t/>
            </a:r>
            <a:endParaRPr sz="1800">
              <a:solidFill>
                <a:schemeClr val="dk2"/>
              </a:solidFill>
            </a:endParaRPr>
          </a:p>
        </p:txBody>
      </p:sp>
      <p:pic>
        <p:nvPicPr>
          <p:cNvPr id="161" name="Google Shape;161;p25" title="Screenshot 2026-10-04 at 21.01.52.png"/>
          <p:cNvPicPr preferRelativeResize="0"/>
          <p:nvPr/>
        </p:nvPicPr>
        <p:blipFill>
          <a:blip r:embed="rId4">
            <a:alphaModFix/>
          </a:blip>
          <a:stretch>
            <a:fillRect/>
          </a:stretch>
        </p:blipFill>
        <p:spPr>
          <a:xfrm>
            <a:off x="3394375" y="3516475"/>
            <a:ext cx="5498499" cy="1433725"/>
          </a:xfrm>
          <a:prstGeom prst="rect">
            <a:avLst/>
          </a:prstGeom>
          <a:noFill/>
          <a:ln>
            <a:noFill/>
          </a:ln>
        </p:spPr>
      </p:pic>
      <p:sp>
        <p:nvSpPr>
          <p:cNvPr id="162" name="Google Shape;162;p25"/>
          <p:cNvSpPr txBox="1"/>
          <p:nvPr/>
        </p:nvSpPr>
        <p:spPr>
          <a:xfrm>
            <a:off x="1649325" y="3404238"/>
            <a:ext cx="149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Frequentist</a:t>
            </a:r>
            <a:endParaRPr sz="1800">
              <a:solidFill>
                <a:schemeClr val="dk2"/>
              </a:solidFill>
            </a:endParaRPr>
          </a:p>
        </p:txBody>
      </p:sp>
      <p:sp>
        <p:nvSpPr>
          <p:cNvPr id="163" name="Google Shape;163;p25"/>
          <p:cNvSpPr txBox="1"/>
          <p:nvPr/>
        </p:nvSpPr>
        <p:spPr>
          <a:xfrm>
            <a:off x="1649325" y="4189450"/>
            <a:ext cx="149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Bayesian</a:t>
            </a:r>
            <a:endParaRPr sz="1800">
              <a:solidFill>
                <a:schemeClr val="dk2"/>
              </a:solidFill>
            </a:endParaRPr>
          </a:p>
        </p:txBody>
      </p:sp>
      <p:cxnSp>
        <p:nvCxnSpPr>
          <p:cNvPr id="164" name="Google Shape;164;p25"/>
          <p:cNvCxnSpPr/>
          <p:nvPr/>
        </p:nvCxnSpPr>
        <p:spPr>
          <a:xfrm>
            <a:off x="3143325" y="3634038"/>
            <a:ext cx="285600" cy="2100"/>
          </a:xfrm>
          <a:prstGeom prst="straightConnector1">
            <a:avLst/>
          </a:prstGeom>
          <a:noFill/>
          <a:ln cap="flat" cmpd="sng" w="9525">
            <a:solidFill>
              <a:schemeClr val="accent1"/>
            </a:solidFill>
            <a:prstDash val="solid"/>
            <a:round/>
            <a:headEnd len="med" w="med" type="none"/>
            <a:tailEnd len="med" w="med" type="triangle"/>
          </a:ln>
        </p:spPr>
      </p:cxnSp>
      <p:cxnSp>
        <p:nvCxnSpPr>
          <p:cNvPr id="165" name="Google Shape;165;p25"/>
          <p:cNvCxnSpPr/>
          <p:nvPr/>
        </p:nvCxnSpPr>
        <p:spPr>
          <a:xfrm>
            <a:off x="3022100" y="4419250"/>
            <a:ext cx="285600" cy="2100"/>
          </a:xfrm>
          <a:prstGeom prst="straightConnector1">
            <a:avLst/>
          </a:prstGeom>
          <a:noFill/>
          <a:ln cap="flat" cmpd="sng" w="9525">
            <a:solidFill>
              <a:schemeClr val="accent1"/>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6" title="Screenshot 2026-10-04 at 20.04.10.png"/>
          <p:cNvPicPr preferRelativeResize="0"/>
          <p:nvPr/>
        </p:nvPicPr>
        <p:blipFill>
          <a:blip r:embed="rId3">
            <a:alphaModFix/>
          </a:blip>
          <a:stretch>
            <a:fillRect/>
          </a:stretch>
        </p:blipFill>
        <p:spPr>
          <a:xfrm>
            <a:off x="311700" y="314976"/>
            <a:ext cx="8165526" cy="624825"/>
          </a:xfrm>
          <a:prstGeom prst="rect">
            <a:avLst/>
          </a:prstGeom>
          <a:noFill/>
          <a:ln>
            <a:noFill/>
          </a:ln>
        </p:spPr>
      </p:pic>
      <p:pic>
        <p:nvPicPr>
          <p:cNvPr id="171" name="Google Shape;171;p26" title="Screenshot 2026-10-04 at 20.04.59.png"/>
          <p:cNvPicPr preferRelativeResize="0"/>
          <p:nvPr/>
        </p:nvPicPr>
        <p:blipFill>
          <a:blip r:embed="rId4">
            <a:alphaModFix/>
          </a:blip>
          <a:stretch>
            <a:fillRect/>
          </a:stretch>
        </p:blipFill>
        <p:spPr>
          <a:xfrm>
            <a:off x="662400" y="1282552"/>
            <a:ext cx="7464125" cy="1454450"/>
          </a:xfrm>
          <a:prstGeom prst="rect">
            <a:avLst/>
          </a:prstGeom>
          <a:noFill/>
          <a:ln>
            <a:noFill/>
          </a:ln>
        </p:spPr>
      </p:pic>
      <p:sp>
        <p:nvSpPr>
          <p:cNvPr id="172" name="Google Shape;172;p26"/>
          <p:cNvSpPr/>
          <p:nvPr/>
        </p:nvSpPr>
        <p:spPr>
          <a:xfrm>
            <a:off x="4849100" y="2571750"/>
            <a:ext cx="1463100" cy="1433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Y’</a:t>
            </a:r>
            <a:endParaRPr sz="3000"/>
          </a:p>
        </p:txBody>
      </p:sp>
      <p:sp>
        <p:nvSpPr>
          <p:cNvPr id="173" name="Google Shape;173;p26"/>
          <p:cNvSpPr/>
          <p:nvPr/>
        </p:nvSpPr>
        <p:spPr>
          <a:xfrm>
            <a:off x="2412425" y="2563639"/>
            <a:ext cx="1458900" cy="1449900"/>
          </a:xfrm>
          <a:prstGeom prst="ellipse">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t>Y</a:t>
            </a:r>
            <a:endParaRPr sz="3000"/>
          </a:p>
        </p:txBody>
      </p:sp>
      <p:pic>
        <p:nvPicPr>
          <p:cNvPr id="174" name="Google Shape;174;p26" title="Screenshot 2026-10-04 at 20.14.21.png"/>
          <p:cNvPicPr preferRelativeResize="0"/>
          <p:nvPr/>
        </p:nvPicPr>
        <p:blipFill rotWithShape="1">
          <a:blip r:embed="rId5">
            <a:alphaModFix/>
          </a:blip>
          <a:srcRect b="0" l="1351" r="0" t="0"/>
          <a:stretch/>
        </p:blipFill>
        <p:spPr>
          <a:xfrm>
            <a:off x="815700" y="4121725"/>
            <a:ext cx="6791301" cy="850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7" title="Screenshot 2026-10-04 at 20.07.11.png"/>
          <p:cNvPicPr preferRelativeResize="0"/>
          <p:nvPr/>
        </p:nvPicPr>
        <p:blipFill>
          <a:blip r:embed="rId3">
            <a:alphaModFix/>
          </a:blip>
          <a:stretch>
            <a:fillRect/>
          </a:stretch>
        </p:blipFill>
        <p:spPr>
          <a:xfrm>
            <a:off x="168550" y="242450"/>
            <a:ext cx="6217375" cy="4840426"/>
          </a:xfrm>
          <a:prstGeom prst="rect">
            <a:avLst/>
          </a:prstGeom>
          <a:noFill/>
          <a:ln>
            <a:noFill/>
          </a:ln>
        </p:spPr>
      </p:pic>
      <p:sp>
        <p:nvSpPr>
          <p:cNvPr id="180" name="Google Shape;180;p27"/>
          <p:cNvSpPr/>
          <p:nvPr/>
        </p:nvSpPr>
        <p:spPr>
          <a:xfrm>
            <a:off x="2164768" y="1584625"/>
            <a:ext cx="11604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7"/>
          <p:cNvSpPr/>
          <p:nvPr/>
        </p:nvSpPr>
        <p:spPr>
          <a:xfrm>
            <a:off x="1944818" y="2532763"/>
            <a:ext cx="11604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7"/>
          <p:cNvSpPr/>
          <p:nvPr/>
        </p:nvSpPr>
        <p:spPr>
          <a:xfrm>
            <a:off x="1742207" y="3480925"/>
            <a:ext cx="23448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7"/>
          <p:cNvSpPr txBox="1"/>
          <p:nvPr/>
        </p:nvSpPr>
        <p:spPr>
          <a:xfrm>
            <a:off x="2615050" y="858875"/>
            <a:ext cx="4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Upper case letters for the universe: Y or Y’</a:t>
            </a:r>
            <a:endParaRPr>
              <a:solidFill>
                <a:schemeClr val="accent1"/>
              </a:solidFill>
            </a:endParaRPr>
          </a:p>
        </p:txBody>
      </p:sp>
      <p:sp>
        <p:nvSpPr>
          <p:cNvPr id="184" name="Google Shape;184;p27"/>
          <p:cNvSpPr txBox="1"/>
          <p:nvPr/>
        </p:nvSpPr>
        <p:spPr>
          <a:xfrm>
            <a:off x="3362000" y="1300875"/>
            <a:ext cx="4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Intersection symbol looks like n: means “and”</a:t>
            </a:r>
            <a:endParaRPr>
              <a:solidFill>
                <a:schemeClr val="accent1"/>
              </a:solidFill>
            </a:endParaRPr>
          </a:p>
        </p:txBody>
      </p:sp>
      <p:sp>
        <p:nvSpPr>
          <p:cNvPr id="185" name="Google Shape;185;p27"/>
          <p:cNvSpPr txBox="1"/>
          <p:nvPr/>
        </p:nvSpPr>
        <p:spPr>
          <a:xfrm>
            <a:off x="3154450" y="2462575"/>
            <a:ext cx="4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Because Conditional = Joint / Total, and Joint = 0 </a:t>
            </a:r>
            <a:endParaRPr>
              <a:solidFill>
                <a:schemeClr val="accent1"/>
              </a:solidFill>
            </a:endParaRPr>
          </a:p>
        </p:txBody>
      </p:sp>
      <p:sp>
        <p:nvSpPr>
          <p:cNvPr id="186" name="Google Shape;186;p27"/>
          <p:cNvSpPr txBox="1"/>
          <p:nvPr/>
        </p:nvSpPr>
        <p:spPr>
          <a:xfrm>
            <a:off x="6253425" y="1701075"/>
            <a:ext cx="278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This is the </a:t>
            </a:r>
            <a:r>
              <a:rPr b="1" lang="en">
                <a:solidFill>
                  <a:schemeClr val="accent1"/>
                </a:solidFill>
              </a:rPr>
              <a:t>Joint Probability</a:t>
            </a:r>
            <a:r>
              <a:rPr lang="en">
                <a:solidFill>
                  <a:schemeClr val="accent1"/>
                </a:solidFill>
              </a:rPr>
              <a:t> of Y being true and Y being false</a:t>
            </a:r>
            <a:endParaRPr>
              <a:solidFill>
                <a:schemeClr val="accent1"/>
              </a:solidFill>
            </a:endParaRPr>
          </a:p>
        </p:txBody>
      </p:sp>
      <p:sp>
        <p:nvSpPr>
          <p:cNvPr id="187" name="Google Shape;187;p27"/>
          <p:cNvSpPr txBox="1"/>
          <p:nvPr/>
        </p:nvSpPr>
        <p:spPr>
          <a:xfrm>
            <a:off x="4272400" y="3410725"/>
            <a:ext cx="4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rPr>
              <a:t>Probability of Y being true or false is 1.</a:t>
            </a:r>
            <a:endParaRPr>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8" title="Screenshot 2026-10-04 at 20.07.48.png"/>
          <p:cNvPicPr preferRelativeResize="0"/>
          <p:nvPr/>
        </p:nvPicPr>
        <p:blipFill>
          <a:blip r:embed="rId3">
            <a:alphaModFix/>
          </a:blip>
          <a:stretch>
            <a:fillRect/>
          </a:stretch>
        </p:blipFill>
        <p:spPr>
          <a:xfrm>
            <a:off x="178377" y="247650"/>
            <a:ext cx="6183726" cy="4838702"/>
          </a:xfrm>
          <a:prstGeom prst="rect">
            <a:avLst/>
          </a:prstGeom>
          <a:noFill/>
          <a:ln>
            <a:noFill/>
          </a:ln>
        </p:spPr>
      </p:pic>
      <p:sp>
        <p:nvSpPr>
          <p:cNvPr id="193" name="Google Shape;193;p28"/>
          <p:cNvSpPr txBox="1"/>
          <p:nvPr/>
        </p:nvSpPr>
        <p:spPr>
          <a:xfrm>
            <a:off x="2615050" y="858875"/>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Lower</a:t>
            </a:r>
            <a:r>
              <a:rPr lang="en" sz="1800">
                <a:solidFill>
                  <a:schemeClr val="accent1"/>
                </a:solidFill>
              </a:rPr>
              <a:t> case letters for the data: y or y’</a:t>
            </a:r>
            <a:endParaRPr sz="1800">
              <a:solidFill>
                <a:schemeClr val="accent1"/>
              </a:solidFill>
            </a:endParaRPr>
          </a:p>
        </p:txBody>
      </p:sp>
      <p:sp>
        <p:nvSpPr>
          <p:cNvPr id="194" name="Google Shape;194;p28"/>
          <p:cNvSpPr/>
          <p:nvPr/>
        </p:nvSpPr>
        <p:spPr>
          <a:xfrm>
            <a:off x="2164768" y="1584625"/>
            <a:ext cx="11604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8"/>
          <p:cNvSpPr/>
          <p:nvPr/>
        </p:nvSpPr>
        <p:spPr>
          <a:xfrm>
            <a:off x="1944818" y="2532763"/>
            <a:ext cx="11604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8"/>
          <p:cNvSpPr/>
          <p:nvPr/>
        </p:nvSpPr>
        <p:spPr>
          <a:xfrm>
            <a:off x="1742207" y="3480925"/>
            <a:ext cx="2344800" cy="25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Zorg Happiness</a:t>
            </a:r>
            <a:endParaRPr/>
          </a:p>
        </p:txBody>
      </p:sp>
      <p:pic>
        <p:nvPicPr>
          <p:cNvPr id="202" name="Google Shape;202;p29" title="Screenshot 2026-10-04 at 20.18.26.png"/>
          <p:cNvPicPr preferRelativeResize="0"/>
          <p:nvPr/>
        </p:nvPicPr>
        <p:blipFill rotWithShape="1">
          <a:blip r:embed="rId3">
            <a:alphaModFix/>
          </a:blip>
          <a:srcRect b="0" l="0" r="0" t="11348"/>
          <a:stretch/>
        </p:blipFill>
        <p:spPr>
          <a:xfrm>
            <a:off x="381325" y="1017725"/>
            <a:ext cx="7046149" cy="3584875"/>
          </a:xfrm>
          <a:prstGeom prst="rect">
            <a:avLst/>
          </a:prstGeom>
          <a:noFill/>
          <a:ln>
            <a:noFill/>
          </a:ln>
        </p:spPr>
      </p:pic>
      <p:sp>
        <p:nvSpPr>
          <p:cNvPr id="203" name="Google Shape;203;p29"/>
          <p:cNvSpPr/>
          <p:nvPr/>
        </p:nvSpPr>
        <p:spPr>
          <a:xfrm>
            <a:off x="422450" y="1746125"/>
            <a:ext cx="6963900" cy="9612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Total Probability of the Data, P(y)</a:t>
            </a:r>
            <a:endParaRPr/>
          </a:p>
        </p:txBody>
      </p:sp>
      <p:pic>
        <p:nvPicPr>
          <p:cNvPr id="209" name="Google Shape;209;p30" title="Screenshot 2026-10-04 at 20.22.16.png"/>
          <p:cNvPicPr preferRelativeResize="0"/>
          <p:nvPr/>
        </p:nvPicPr>
        <p:blipFill>
          <a:blip r:embed="rId3">
            <a:alphaModFix/>
          </a:blip>
          <a:stretch>
            <a:fillRect/>
          </a:stretch>
        </p:blipFill>
        <p:spPr>
          <a:xfrm>
            <a:off x="398300" y="1185998"/>
            <a:ext cx="7845126" cy="3632775"/>
          </a:xfrm>
          <a:prstGeom prst="rect">
            <a:avLst/>
          </a:prstGeom>
          <a:noFill/>
          <a:ln>
            <a:noFill/>
          </a:ln>
        </p:spPr>
      </p:pic>
      <p:pic>
        <p:nvPicPr>
          <p:cNvPr id="210" name="Google Shape;210;p30" title="Screenshot 2026-10-04 at 19.40.40.png"/>
          <p:cNvPicPr preferRelativeResize="0"/>
          <p:nvPr/>
        </p:nvPicPr>
        <p:blipFill rotWithShape="1">
          <a:blip r:embed="rId4">
            <a:alphaModFix/>
          </a:blip>
          <a:srcRect b="25236" l="32638" r="40185" t="39316"/>
          <a:stretch/>
        </p:blipFill>
        <p:spPr>
          <a:xfrm>
            <a:off x="5550587" y="1692937"/>
            <a:ext cx="1896326" cy="632125"/>
          </a:xfrm>
          <a:prstGeom prst="rect">
            <a:avLst/>
          </a:prstGeom>
          <a:noFill/>
          <a:ln>
            <a:noFill/>
          </a:ln>
        </p:spPr>
      </p:pic>
      <p:sp>
        <p:nvSpPr>
          <p:cNvPr id="211" name="Google Shape;211;p30"/>
          <p:cNvSpPr/>
          <p:nvPr/>
        </p:nvSpPr>
        <p:spPr>
          <a:xfrm>
            <a:off x="5595713" y="1627988"/>
            <a:ext cx="1896300" cy="762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Joint = Conditional x Total</a:t>
            </a:r>
            <a:endParaRPr/>
          </a:p>
        </p:txBody>
      </p:sp>
      <p:pic>
        <p:nvPicPr>
          <p:cNvPr id="217" name="Google Shape;217;p31" title="Screenshot 2026-10-04 at 20.26.51.png"/>
          <p:cNvPicPr preferRelativeResize="0"/>
          <p:nvPr/>
        </p:nvPicPr>
        <p:blipFill>
          <a:blip r:embed="rId3">
            <a:alphaModFix/>
          </a:blip>
          <a:stretch>
            <a:fillRect/>
          </a:stretch>
        </p:blipFill>
        <p:spPr>
          <a:xfrm>
            <a:off x="311700" y="1095652"/>
            <a:ext cx="7420850" cy="3941401"/>
          </a:xfrm>
          <a:prstGeom prst="rect">
            <a:avLst/>
          </a:prstGeom>
          <a:noFill/>
          <a:ln>
            <a:noFill/>
          </a:ln>
        </p:spPr>
      </p:pic>
      <p:pic>
        <p:nvPicPr>
          <p:cNvPr id="218" name="Google Shape;218;p31" title="Screenshot 2026-10-04 at 20.18.26.png"/>
          <p:cNvPicPr preferRelativeResize="0"/>
          <p:nvPr/>
        </p:nvPicPr>
        <p:blipFill rotWithShape="1">
          <a:blip r:embed="rId4">
            <a:alphaModFix/>
          </a:blip>
          <a:srcRect b="0" l="0" r="27468" t="58243"/>
          <a:stretch/>
        </p:blipFill>
        <p:spPr>
          <a:xfrm>
            <a:off x="4805775" y="103925"/>
            <a:ext cx="4147675" cy="1370375"/>
          </a:xfrm>
          <a:prstGeom prst="rect">
            <a:avLst/>
          </a:prstGeom>
          <a:noFill/>
          <a:ln cap="flat" cmpd="sng" w="9525">
            <a:solidFill>
              <a:schemeClr val="accent1"/>
            </a:solidFill>
            <a:prstDash val="solid"/>
            <a:round/>
            <a:headEnd len="sm" w="sm" type="none"/>
            <a:tailEnd len="sm" w="sm" type="none"/>
          </a:ln>
        </p:spPr>
      </p:pic>
      <p:sp>
        <p:nvSpPr>
          <p:cNvPr id="219" name="Google Shape;219;p31"/>
          <p:cNvSpPr/>
          <p:nvPr/>
        </p:nvSpPr>
        <p:spPr>
          <a:xfrm>
            <a:off x="6477000" y="4554675"/>
            <a:ext cx="450300" cy="407100"/>
          </a:xfrm>
          <a:prstGeom prst="roundRect">
            <a:avLst>
              <a:gd fmla="val 50000" name="adj"/>
            </a:avLst>
          </a:prstGeom>
          <a:noFill/>
          <a:ln cap="flat" cmpd="sng" w="38100">
            <a:solidFill>
              <a:srgbClr val="00C2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31"/>
          <p:cNvSpPr/>
          <p:nvPr/>
        </p:nvSpPr>
        <p:spPr>
          <a:xfrm>
            <a:off x="372350" y="969825"/>
            <a:ext cx="4199700" cy="8313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31"/>
          <p:cNvSpPr/>
          <p:nvPr/>
        </p:nvSpPr>
        <p:spPr>
          <a:xfrm>
            <a:off x="4412675" y="2311975"/>
            <a:ext cx="497100" cy="3204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1"/>
          <p:cNvSpPr/>
          <p:nvPr/>
        </p:nvSpPr>
        <p:spPr>
          <a:xfrm>
            <a:off x="2223650" y="3835975"/>
            <a:ext cx="408600" cy="273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1"/>
          <p:cNvSpPr/>
          <p:nvPr/>
        </p:nvSpPr>
        <p:spPr>
          <a:xfrm>
            <a:off x="2341425" y="4213500"/>
            <a:ext cx="408600" cy="273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31"/>
          <p:cNvSpPr/>
          <p:nvPr/>
        </p:nvSpPr>
        <p:spPr>
          <a:xfrm>
            <a:off x="5004950" y="4261975"/>
            <a:ext cx="408600" cy="273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31"/>
          <p:cNvSpPr/>
          <p:nvPr/>
        </p:nvSpPr>
        <p:spPr>
          <a:xfrm>
            <a:off x="4854300" y="3835975"/>
            <a:ext cx="408600" cy="273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nvSpPr>
        <p:spPr>
          <a:xfrm>
            <a:off x="926525" y="1298875"/>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31" name="Google Shape;231;p32"/>
          <p:cNvSpPr txBox="1"/>
          <p:nvPr/>
        </p:nvSpPr>
        <p:spPr>
          <a:xfrm>
            <a:off x="519525" y="987150"/>
            <a:ext cx="7931700" cy="1385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3900">
                <a:solidFill>
                  <a:schemeClr val="dk2"/>
                </a:solidFill>
              </a:rPr>
              <a:t>Focus 2/2: </a:t>
            </a:r>
            <a:endParaRPr sz="3900">
              <a:solidFill>
                <a:schemeClr val="dk2"/>
              </a:solidFill>
            </a:endParaRPr>
          </a:p>
          <a:p>
            <a:pPr indent="0" lvl="0" marL="457200" rtl="0" algn="l">
              <a:spcBef>
                <a:spcPts val="0"/>
              </a:spcBef>
              <a:spcAft>
                <a:spcPts val="0"/>
              </a:spcAft>
              <a:buNone/>
            </a:pPr>
            <a:r>
              <a:rPr lang="en" sz="3900">
                <a:solidFill>
                  <a:schemeClr val="dk2"/>
                </a:solidFill>
              </a:rPr>
              <a:t>Distributions and Normalisation</a:t>
            </a:r>
            <a:endParaRPr sz="60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3" title="Screenshot 2026-10-04 at 20.32.54.png"/>
          <p:cNvPicPr preferRelativeResize="0"/>
          <p:nvPr/>
        </p:nvPicPr>
        <p:blipFill>
          <a:blip r:embed="rId3">
            <a:alphaModFix/>
          </a:blip>
          <a:stretch>
            <a:fillRect/>
          </a:stretch>
        </p:blipFill>
        <p:spPr>
          <a:xfrm>
            <a:off x="376950" y="554800"/>
            <a:ext cx="8390100" cy="4033925"/>
          </a:xfrm>
          <a:prstGeom prst="rect">
            <a:avLst/>
          </a:prstGeom>
          <a:noFill/>
          <a:ln>
            <a:noFill/>
          </a:ln>
        </p:spPr>
      </p:pic>
      <p:sp>
        <p:nvSpPr>
          <p:cNvPr id="237" name="Google Shape;237;p33"/>
          <p:cNvSpPr/>
          <p:nvPr/>
        </p:nvSpPr>
        <p:spPr>
          <a:xfrm>
            <a:off x="1757846" y="1549975"/>
            <a:ext cx="2591700" cy="318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3"/>
          <p:cNvSpPr txBox="1"/>
          <p:nvPr/>
        </p:nvSpPr>
        <p:spPr>
          <a:xfrm>
            <a:off x="6745450" y="3863575"/>
            <a:ext cx="158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This is a PMF</a:t>
            </a:r>
            <a:endParaRPr sz="1800">
              <a:solidFill>
                <a:schemeClr val="accent1"/>
              </a:solidFill>
            </a:endParaRPr>
          </a:p>
        </p:txBody>
      </p:sp>
      <p:cxnSp>
        <p:nvCxnSpPr>
          <p:cNvPr id="239" name="Google Shape;239;p33"/>
          <p:cNvCxnSpPr>
            <a:stCxn id="238" idx="0"/>
          </p:cNvCxnSpPr>
          <p:nvPr/>
        </p:nvCxnSpPr>
        <p:spPr>
          <a:xfrm rot="10800000">
            <a:off x="6779950" y="2762275"/>
            <a:ext cx="757800" cy="1101300"/>
          </a:xfrm>
          <a:prstGeom prst="straightConnector1">
            <a:avLst/>
          </a:prstGeom>
          <a:noFill/>
          <a:ln cap="flat" cmpd="sng" w="9525">
            <a:solidFill>
              <a:schemeClr val="accent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311700" y="445025"/>
            <a:ext cx="131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PMFs</a:t>
            </a:r>
            <a:endParaRPr/>
          </a:p>
        </p:txBody>
      </p:sp>
      <p:pic>
        <p:nvPicPr>
          <p:cNvPr id="245" name="Google Shape;245;p34" title="Screenshot 2026-10-04 at 20.36.16.png"/>
          <p:cNvPicPr preferRelativeResize="0"/>
          <p:nvPr/>
        </p:nvPicPr>
        <p:blipFill>
          <a:blip r:embed="rId3">
            <a:alphaModFix/>
          </a:blip>
          <a:stretch>
            <a:fillRect/>
          </a:stretch>
        </p:blipFill>
        <p:spPr>
          <a:xfrm>
            <a:off x="349575" y="1385450"/>
            <a:ext cx="3641051" cy="2649676"/>
          </a:xfrm>
          <a:prstGeom prst="rect">
            <a:avLst/>
          </a:prstGeom>
          <a:noFill/>
          <a:ln>
            <a:noFill/>
          </a:ln>
        </p:spPr>
      </p:pic>
      <p:pic>
        <p:nvPicPr>
          <p:cNvPr id="246" name="Google Shape;246;p34" title="Screenshot 2026-10-04 at 20.36.53.png"/>
          <p:cNvPicPr preferRelativeResize="0"/>
          <p:nvPr/>
        </p:nvPicPr>
        <p:blipFill rotWithShape="1">
          <a:blip r:embed="rId4">
            <a:alphaModFix/>
          </a:blip>
          <a:srcRect b="15870" l="37354" r="41870" t="71106"/>
          <a:stretch/>
        </p:blipFill>
        <p:spPr>
          <a:xfrm>
            <a:off x="2511138" y="436363"/>
            <a:ext cx="1264224" cy="486074"/>
          </a:xfrm>
          <a:prstGeom prst="rect">
            <a:avLst/>
          </a:prstGeom>
          <a:noFill/>
          <a:ln cap="flat" cmpd="sng" w="9525">
            <a:solidFill>
              <a:schemeClr val="accent1"/>
            </a:solidFill>
            <a:prstDash val="solid"/>
            <a:round/>
            <a:headEnd len="sm" w="sm" type="none"/>
            <a:tailEnd len="sm" w="sm" type="none"/>
          </a:ln>
        </p:spPr>
      </p:pic>
      <p:pic>
        <p:nvPicPr>
          <p:cNvPr id="247" name="Google Shape;247;p34" title="Screenshot 2026-10-04 at 20.36.53.png"/>
          <p:cNvPicPr preferRelativeResize="0"/>
          <p:nvPr/>
        </p:nvPicPr>
        <p:blipFill rotWithShape="1">
          <a:blip r:embed="rId4">
            <a:alphaModFix/>
          </a:blip>
          <a:srcRect b="62610" l="31623" r="58088" t="28282"/>
          <a:stretch/>
        </p:blipFill>
        <p:spPr>
          <a:xfrm>
            <a:off x="1252175" y="445023"/>
            <a:ext cx="1054907" cy="572700"/>
          </a:xfrm>
          <a:prstGeom prst="rect">
            <a:avLst/>
          </a:prstGeom>
          <a:noFill/>
          <a:ln>
            <a:noFill/>
          </a:ln>
        </p:spPr>
      </p:pic>
      <p:pic>
        <p:nvPicPr>
          <p:cNvPr id="248" name="Google Shape;248;p34" title="Screenshot 2026-10-04 at 20.43.40.png"/>
          <p:cNvPicPr preferRelativeResize="0"/>
          <p:nvPr/>
        </p:nvPicPr>
        <p:blipFill>
          <a:blip r:embed="rId5">
            <a:alphaModFix/>
          </a:blip>
          <a:stretch>
            <a:fillRect/>
          </a:stretch>
        </p:blipFill>
        <p:spPr>
          <a:xfrm>
            <a:off x="6239638" y="388430"/>
            <a:ext cx="895300" cy="581945"/>
          </a:xfrm>
          <a:prstGeom prst="rect">
            <a:avLst/>
          </a:prstGeom>
          <a:noFill/>
          <a:ln>
            <a:noFill/>
          </a:ln>
        </p:spPr>
      </p:pic>
      <p:sp>
        <p:nvSpPr>
          <p:cNvPr id="249" name="Google Shape;249;p34"/>
          <p:cNvSpPr txBox="1"/>
          <p:nvPr>
            <p:ph type="title"/>
          </p:nvPr>
        </p:nvSpPr>
        <p:spPr>
          <a:xfrm>
            <a:off x="5261250" y="393050"/>
            <a:ext cx="131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PDFs</a:t>
            </a:r>
            <a:endParaRPr/>
          </a:p>
        </p:txBody>
      </p:sp>
      <p:pic>
        <p:nvPicPr>
          <p:cNvPr id="250" name="Google Shape;250;p34" title="Screenshot 2026-10-04 at 20.44.46.png"/>
          <p:cNvPicPr preferRelativeResize="0"/>
          <p:nvPr/>
        </p:nvPicPr>
        <p:blipFill>
          <a:blip r:embed="rId6">
            <a:alphaModFix/>
          </a:blip>
          <a:stretch>
            <a:fillRect/>
          </a:stretch>
        </p:blipFill>
        <p:spPr>
          <a:xfrm>
            <a:off x="4774850" y="1433949"/>
            <a:ext cx="3485925" cy="2522476"/>
          </a:xfrm>
          <a:prstGeom prst="rect">
            <a:avLst/>
          </a:prstGeom>
          <a:noFill/>
          <a:ln>
            <a:noFill/>
          </a:ln>
        </p:spPr>
      </p:pic>
      <p:sp>
        <p:nvSpPr>
          <p:cNvPr id="251" name="Google Shape;251;p34"/>
          <p:cNvSpPr txBox="1"/>
          <p:nvPr/>
        </p:nvSpPr>
        <p:spPr>
          <a:xfrm>
            <a:off x="199150" y="4208325"/>
            <a:ext cx="4987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x-axis: </a:t>
            </a:r>
            <a:r>
              <a:rPr b="1" lang="en" sz="1800">
                <a:solidFill>
                  <a:schemeClr val="dk2"/>
                </a:solidFill>
              </a:rPr>
              <a:t>Discrete</a:t>
            </a:r>
            <a:r>
              <a:rPr lang="en" sz="1800">
                <a:solidFill>
                  <a:schemeClr val="dk2"/>
                </a:solidFill>
              </a:rPr>
              <a:t> RV values </a:t>
            </a:r>
            <a:r>
              <a:rPr b="1" lang="en" sz="1800">
                <a:solidFill>
                  <a:schemeClr val="dk2"/>
                </a:solidFill>
              </a:rPr>
              <a:t>k</a:t>
            </a:r>
            <a:endParaRPr b="1" sz="1800">
              <a:solidFill>
                <a:schemeClr val="dk2"/>
              </a:solidFill>
            </a:endParaRPr>
          </a:p>
          <a:p>
            <a:pPr indent="0" lvl="0" marL="0" rtl="0" algn="l">
              <a:spcBef>
                <a:spcPts val="0"/>
              </a:spcBef>
              <a:spcAft>
                <a:spcPts val="0"/>
              </a:spcAft>
              <a:buNone/>
            </a:pPr>
            <a:r>
              <a:rPr lang="en" sz="1800">
                <a:solidFill>
                  <a:schemeClr val="dk2"/>
                </a:solidFill>
              </a:rPr>
              <a:t>y-axis: </a:t>
            </a:r>
            <a:r>
              <a:rPr b="1" lang="en" sz="1800">
                <a:solidFill>
                  <a:schemeClr val="dk2"/>
                </a:solidFill>
              </a:rPr>
              <a:t>PMF = probability of k</a:t>
            </a:r>
            <a:endParaRPr b="1" sz="1800">
              <a:solidFill>
                <a:schemeClr val="dk2"/>
              </a:solidFill>
            </a:endParaRPr>
          </a:p>
        </p:txBody>
      </p:sp>
      <p:pic>
        <p:nvPicPr>
          <p:cNvPr id="252" name="Google Shape;252;p34" title="Screenshot 2026-10-04 at 20.47.07.png"/>
          <p:cNvPicPr preferRelativeResize="0"/>
          <p:nvPr/>
        </p:nvPicPr>
        <p:blipFill>
          <a:blip r:embed="rId7">
            <a:alphaModFix/>
          </a:blip>
          <a:stretch>
            <a:fillRect/>
          </a:stretch>
        </p:blipFill>
        <p:spPr>
          <a:xfrm>
            <a:off x="7339450" y="350375"/>
            <a:ext cx="1316100" cy="658050"/>
          </a:xfrm>
          <a:prstGeom prst="rect">
            <a:avLst/>
          </a:prstGeom>
          <a:noFill/>
          <a:ln cap="flat" cmpd="sng" w="9525">
            <a:solidFill>
              <a:schemeClr val="accent1"/>
            </a:solidFill>
            <a:prstDash val="solid"/>
            <a:round/>
            <a:headEnd len="sm" w="sm" type="none"/>
            <a:tailEnd len="sm" w="sm" type="none"/>
          </a:ln>
        </p:spPr>
      </p:pic>
      <p:sp>
        <p:nvSpPr>
          <p:cNvPr id="253" name="Google Shape;253;p34"/>
          <p:cNvSpPr txBox="1"/>
          <p:nvPr/>
        </p:nvSpPr>
        <p:spPr>
          <a:xfrm>
            <a:off x="4667249" y="4208325"/>
            <a:ext cx="4439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x-axis: </a:t>
            </a:r>
            <a:r>
              <a:rPr b="1" lang="en" sz="1800">
                <a:solidFill>
                  <a:schemeClr val="dk2"/>
                </a:solidFill>
              </a:rPr>
              <a:t>Continuous</a:t>
            </a:r>
            <a:r>
              <a:rPr lang="en" sz="1800">
                <a:solidFill>
                  <a:schemeClr val="dk2"/>
                </a:solidFill>
              </a:rPr>
              <a:t> RV values </a:t>
            </a:r>
            <a:r>
              <a:rPr b="1" lang="en" sz="1800">
                <a:solidFill>
                  <a:schemeClr val="dk2"/>
                </a:solidFill>
              </a:rPr>
              <a:t>x</a:t>
            </a:r>
            <a:endParaRPr b="1" sz="1800">
              <a:solidFill>
                <a:schemeClr val="dk2"/>
              </a:solidFill>
            </a:endParaRPr>
          </a:p>
          <a:p>
            <a:pPr indent="0" lvl="0" marL="0" rtl="0" algn="l">
              <a:spcBef>
                <a:spcPts val="0"/>
              </a:spcBef>
              <a:spcAft>
                <a:spcPts val="0"/>
              </a:spcAft>
              <a:buNone/>
            </a:pPr>
            <a:r>
              <a:rPr lang="en" sz="1800">
                <a:solidFill>
                  <a:schemeClr val="dk2"/>
                </a:solidFill>
              </a:rPr>
              <a:t>y-axis: </a:t>
            </a:r>
            <a:r>
              <a:rPr b="1" lang="en" sz="1800">
                <a:solidFill>
                  <a:schemeClr val="dk2"/>
                </a:solidFill>
              </a:rPr>
              <a:t>PDF = density of x</a:t>
            </a:r>
            <a:endParaRPr b="1" sz="1800">
              <a:solidFill>
                <a:schemeClr val="dk2"/>
              </a:solidFill>
            </a:endParaRPr>
          </a:p>
        </p:txBody>
      </p:sp>
      <p:pic>
        <p:nvPicPr>
          <p:cNvPr id="254" name="Google Shape;254;p34" title="dice (1).png"/>
          <p:cNvPicPr preferRelativeResize="0"/>
          <p:nvPr/>
        </p:nvPicPr>
        <p:blipFill>
          <a:blip r:embed="rId8">
            <a:alphaModFix/>
          </a:blip>
          <a:stretch>
            <a:fillRect/>
          </a:stretch>
        </p:blipFill>
        <p:spPr>
          <a:xfrm>
            <a:off x="146575" y="3205453"/>
            <a:ext cx="895275" cy="903360"/>
          </a:xfrm>
          <a:prstGeom prst="rect">
            <a:avLst/>
          </a:prstGeom>
          <a:noFill/>
          <a:ln>
            <a:noFill/>
          </a:ln>
        </p:spPr>
      </p:pic>
      <p:pic>
        <p:nvPicPr>
          <p:cNvPr id="255" name="Google Shape;255;p34" title="Screenshot 2026-10-05 at 12.00.02.png"/>
          <p:cNvPicPr preferRelativeResize="0"/>
          <p:nvPr/>
        </p:nvPicPr>
        <p:blipFill>
          <a:blip r:embed="rId9">
            <a:alphaModFix/>
          </a:blip>
          <a:stretch>
            <a:fillRect/>
          </a:stretch>
        </p:blipFill>
        <p:spPr>
          <a:xfrm>
            <a:off x="7634025" y="3105950"/>
            <a:ext cx="1416751" cy="1102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5" title="Screenshot 2026-10-04 at 20.44.46.png"/>
          <p:cNvPicPr preferRelativeResize="0"/>
          <p:nvPr/>
        </p:nvPicPr>
        <p:blipFill>
          <a:blip r:embed="rId3">
            <a:alphaModFix/>
          </a:blip>
          <a:stretch>
            <a:fillRect/>
          </a:stretch>
        </p:blipFill>
        <p:spPr>
          <a:xfrm>
            <a:off x="5261250" y="2253899"/>
            <a:ext cx="3752876" cy="2715651"/>
          </a:xfrm>
          <a:prstGeom prst="rect">
            <a:avLst/>
          </a:prstGeom>
          <a:noFill/>
          <a:ln>
            <a:noFill/>
          </a:ln>
        </p:spPr>
      </p:pic>
      <p:pic>
        <p:nvPicPr>
          <p:cNvPr id="261" name="Google Shape;261;p35" title="Screenshot 2026-10-04 at 20.50.07.png"/>
          <p:cNvPicPr preferRelativeResize="0"/>
          <p:nvPr/>
        </p:nvPicPr>
        <p:blipFill>
          <a:blip r:embed="rId4">
            <a:alphaModFix/>
          </a:blip>
          <a:stretch>
            <a:fillRect/>
          </a:stretch>
        </p:blipFill>
        <p:spPr>
          <a:xfrm>
            <a:off x="329050" y="1073200"/>
            <a:ext cx="6464749" cy="2243252"/>
          </a:xfrm>
          <a:prstGeom prst="rect">
            <a:avLst/>
          </a:prstGeom>
          <a:noFill/>
          <a:ln>
            <a:noFill/>
          </a:ln>
        </p:spPr>
      </p:pic>
      <p:sp>
        <p:nvSpPr>
          <p:cNvPr id="262" name="Google Shape;262;p35"/>
          <p:cNvSpPr txBox="1"/>
          <p:nvPr/>
        </p:nvSpPr>
        <p:spPr>
          <a:xfrm>
            <a:off x="329050" y="3610825"/>
            <a:ext cx="4009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For a continuous RV, we find the probability for a range of values from the area under the distribution (CDF).</a:t>
            </a:r>
            <a:r>
              <a:rPr lang="en" sz="1800">
                <a:solidFill>
                  <a:schemeClr val="dk2"/>
                </a:solidFill>
              </a:rPr>
              <a:t> </a:t>
            </a:r>
            <a:endParaRPr sz="1800">
              <a:solidFill>
                <a:schemeClr val="dk2"/>
              </a:solidFill>
            </a:endParaRPr>
          </a:p>
        </p:txBody>
      </p:sp>
      <p:sp>
        <p:nvSpPr>
          <p:cNvPr id="263" name="Google Shape;263;p35"/>
          <p:cNvSpPr txBox="1"/>
          <p:nvPr>
            <p:ph type="title"/>
          </p:nvPr>
        </p:nvSpPr>
        <p:spPr>
          <a:xfrm>
            <a:off x="329050" y="289150"/>
            <a:ext cx="1316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PDFs</a:t>
            </a:r>
            <a:endParaRPr/>
          </a:p>
        </p:txBody>
      </p:sp>
      <p:pic>
        <p:nvPicPr>
          <p:cNvPr id="264" name="Google Shape;264;p35" title="Screenshot 2026-10-04 at 20.47.07.png"/>
          <p:cNvPicPr preferRelativeResize="0"/>
          <p:nvPr/>
        </p:nvPicPr>
        <p:blipFill>
          <a:blip r:embed="rId5">
            <a:alphaModFix/>
          </a:blip>
          <a:stretch>
            <a:fillRect/>
          </a:stretch>
        </p:blipFill>
        <p:spPr>
          <a:xfrm>
            <a:off x="6987875" y="1189625"/>
            <a:ext cx="1853100" cy="926550"/>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311700" y="375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sum or integral is not 1, it is not a probability distribution</a:t>
            </a:r>
            <a:endParaRPr/>
          </a:p>
        </p:txBody>
      </p:sp>
      <p:pic>
        <p:nvPicPr>
          <p:cNvPr id="270" name="Google Shape;270;p36" title="Screenshot 2026-10-04 at 20.55.39.png"/>
          <p:cNvPicPr preferRelativeResize="0"/>
          <p:nvPr/>
        </p:nvPicPr>
        <p:blipFill>
          <a:blip r:embed="rId3">
            <a:alphaModFix/>
          </a:blip>
          <a:stretch>
            <a:fillRect/>
          </a:stretch>
        </p:blipFill>
        <p:spPr>
          <a:xfrm>
            <a:off x="794075" y="1267325"/>
            <a:ext cx="7426501" cy="3592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Normalisation</a:t>
            </a:r>
            <a:endParaRPr/>
          </a:p>
        </p:txBody>
      </p:sp>
      <p:sp>
        <p:nvSpPr>
          <p:cNvPr id="276" name="Google Shape;27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accent1"/>
                </a:solidFill>
              </a:rPr>
              <a:t>Normalisation means scaling a function to area 1. Sometimes here “Normalised to unity” but more often just “Normalised”.</a:t>
            </a:r>
            <a:endParaRPr>
              <a:solidFill>
                <a:schemeClr val="accent1"/>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77" name="Google Shape;277;p37" title="Screenshot 2026-10-04 at 20.59.09.png"/>
          <p:cNvPicPr preferRelativeResize="0"/>
          <p:nvPr/>
        </p:nvPicPr>
        <p:blipFill>
          <a:blip r:embed="rId3">
            <a:alphaModFix/>
          </a:blip>
          <a:stretch>
            <a:fillRect/>
          </a:stretch>
        </p:blipFill>
        <p:spPr>
          <a:xfrm>
            <a:off x="1212275" y="1927000"/>
            <a:ext cx="6537626" cy="32164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000"/>
              <a:t>3pm Lecture starts here!</a:t>
            </a:r>
            <a:endParaRPr sz="4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8" name="Google Shape;28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39"/>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while I ran to lunchtime meeting</a:t>
            </a:r>
            <a:endParaRPr/>
          </a:p>
        </p:txBody>
      </p:sp>
      <p:sp>
        <p:nvSpPr>
          <p:cNvPr id="295" name="Google Shape;29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Will there be an exam? </a:t>
            </a:r>
            <a:endParaRPr b="1"/>
          </a:p>
          <a:p>
            <a:pPr indent="0" lvl="0" marL="0" rtl="0" algn="l">
              <a:spcBef>
                <a:spcPts val="1200"/>
              </a:spcBef>
              <a:spcAft>
                <a:spcPts val="0"/>
              </a:spcAft>
              <a:buNone/>
            </a:pPr>
            <a:r>
              <a:rPr lang="en"/>
              <a:t>No. 70% software exercise, 30% best ⅔ coursework grades.</a:t>
            </a:r>
            <a:endParaRPr/>
          </a:p>
          <a:p>
            <a:pPr indent="0" lvl="0" marL="0" rtl="0" algn="l">
              <a:spcBef>
                <a:spcPts val="1200"/>
              </a:spcBef>
              <a:spcAft>
                <a:spcPts val="0"/>
              </a:spcAft>
              <a:buNone/>
            </a:pPr>
            <a:r>
              <a:rPr b="1" lang="en"/>
              <a:t>What really no kind of exam at all?</a:t>
            </a:r>
            <a:endParaRPr b="1"/>
          </a:p>
          <a:p>
            <a:pPr indent="0" lvl="0" marL="0" rtl="0" algn="l">
              <a:spcBef>
                <a:spcPts val="1200"/>
              </a:spcBef>
              <a:spcAft>
                <a:spcPts val="0"/>
              </a:spcAft>
              <a:buNone/>
            </a:pPr>
            <a:r>
              <a:rPr lang="en"/>
              <a:t>That’s right. An AI or your mate could </a:t>
            </a:r>
            <a:r>
              <a:rPr b="1" lang="en">
                <a:solidFill>
                  <a:srgbClr val="FF0000"/>
                </a:solidFill>
              </a:rPr>
              <a:t>theoretically</a:t>
            </a:r>
            <a:r>
              <a:rPr lang="en"/>
              <a:t> do all the work towards your grade. I inherited this situation. My goal is to try to make the actual material useful to you.</a:t>
            </a:r>
            <a:endParaRPr/>
          </a:p>
          <a:p>
            <a:pPr indent="0" lvl="0" marL="0" rtl="0" algn="l">
              <a:spcBef>
                <a:spcPts val="1200"/>
              </a:spcBef>
              <a:spcAft>
                <a:spcPts val="1200"/>
              </a:spcAft>
              <a:buNone/>
            </a:pPr>
            <a:r>
              <a:rPr b="1" lang="en">
                <a:solidFill>
                  <a:srgbClr val="FF0000"/>
                </a:solidFill>
              </a:rPr>
              <a:t>Do not have an AI or a mate do the work for you for this module. That would be plagiarism and is strictly against university guidelines.</a:t>
            </a:r>
            <a:endParaRPr b="1">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while I ran to lunchtime meeting</a:t>
            </a:r>
            <a:endParaRPr/>
          </a:p>
        </p:txBody>
      </p:sp>
      <p:sp>
        <p:nvSpPr>
          <p:cNvPr id="301" name="Google Shape;301;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rPr b="1" lang="en"/>
              <a:t>What will be the exact format of the coursework?</a:t>
            </a:r>
            <a:endParaRPr b="1"/>
          </a:p>
          <a:p>
            <a:pPr indent="0" lvl="0" marL="0" rtl="0" algn="l">
              <a:spcBef>
                <a:spcPts val="1200"/>
              </a:spcBef>
              <a:spcAft>
                <a:spcPts val="0"/>
              </a:spcAft>
              <a:buNone/>
            </a:pPr>
            <a:r>
              <a:rPr lang="en"/>
              <a:t>You will find out the exact format of the coursework when it is released Wednesday. They will all be the same format, with submission via canvas.</a:t>
            </a:r>
            <a:endParaRPr/>
          </a:p>
          <a:p>
            <a:pPr indent="0" lvl="0" marL="0" rtl="0" algn="l">
              <a:spcBef>
                <a:spcPts val="1200"/>
              </a:spcBef>
              <a:spcAft>
                <a:spcPts val="0"/>
              </a:spcAft>
              <a:buNone/>
            </a:pPr>
            <a:r>
              <a:rPr b="1" lang="en"/>
              <a:t>You said there will be canvas quizzes with multiple choice</a:t>
            </a:r>
            <a:endParaRPr b="1"/>
          </a:p>
          <a:p>
            <a:pPr indent="0" lvl="0" marL="0" rtl="0" algn="l">
              <a:spcBef>
                <a:spcPts val="1200"/>
              </a:spcBef>
              <a:spcAft>
                <a:spcPts val="0"/>
              </a:spcAft>
              <a:buNone/>
            </a:pPr>
            <a:r>
              <a:rPr lang="en"/>
              <a:t>That is still my plan, in an effort to go some way to addressing the issue of not knowing who did the work students submit. But for the first coursework, we will not have this. </a:t>
            </a:r>
            <a:endParaRPr/>
          </a:p>
          <a:p>
            <a:pPr indent="0" lvl="0" marL="0" rtl="0" algn="l">
              <a:spcBef>
                <a:spcPts val="1200"/>
              </a:spcBef>
              <a:spcAft>
                <a:spcPts val="0"/>
              </a:spcAft>
              <a:buNone/>
            </a:pPr>
            <a:r>
              <a:rPr b="1" lang="en"/>
              <a:t>When will office hour be?</a:t>
            </a:r>
            <a:endParaRPr b="1"/>
          </a:p>
          <a:p>
            <a:pPr indent="0" lvl="0" marL="0" rtl="0" algn="l">
              <a:spcBef>
                <a:spcPts val="1200"/>
              </a:spcBef>
              <a:spcAft>
                <a:spcPts val="1200"/>
              </a:spcAft>
              <a:buNone/>
            </a:pPr>
            <a:r>
              <a:rPr lang="en"/>
              <a:t>Currently Tuesdays 12-1. Placeholder because of non-triviality of finding slots.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Reminder</a:t>
            </a:r>
            <a:endParaRPr/>
          </a:p>
        </p:txBody>
      </p:sp>
      <p:sp>
        <p:nvSpPr>
          <p:cNvPr id="307" name="Google Shape;30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2"/>
          <p:cNvSpPr txBox="1"/>
          <p:nvPr/>
        </p:nvSpPr>
        <p:spPr>
          <a:xfrm>
            <a:off x="667750" y="1440750"/>
            <a:ext cx="8164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Module Notes</a:t>
            </a:r>
            <a:r>
              <a:rPr lang="en" sz="1800">
                <a:solidFill>
                  <a:schemeClr val="dk1"/>
                </a:solidFill>
              </a:rPr>
              <a:t>: </a:t>
            </a:r>
            <a:r>
              <a:rPr lang="en" sz="1800" u="sng">
                <a:solidFill>
                  <a:schemeClr val="accent5"/>
                </a:solidFill>
                <a:hlinkClick r:id="rId3">
                  <a:extLst>
                    <a:ext uri="{A12FA001-AC4F-418D-AE19-62706E023703}">
                      <ahyp:hlinkClr val="tx"/>
                    </a:ext>
                  </a:extLst>
                </a:hlinkClick>
              </a:rPr>
              <a:t>https://dorksquith.github.io/DataAnalysisTechniques/</a:t>
            </a:r>
            <a:endParaRPr sz="18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highlight>
                  <a:schemeClr val="accent6"/>
                </a:highlight>
              </a:rPr>
              <a:t>Read the front page and follow the technical guidance</a:t>
            </a:r>
            <a:endParaRPr sz="1600">
              <a:solidFill>
                <a:schemeClr val="dk1"/>
              </a:solidFill>
              <a:highlight>
                <a:schemeClr val="accent6"/>
              </a:highlight>
            </a:endParaRPr>
          </a:p>
          <a:p>
            <a:pPr indent="-330200" lvl="0" marL="457200" rtl="0" algn="l">
              <a:spcBef>
                <a:spcPts val="0"/>
              </a:spcBef>
              <a:spcAft>
                <a:spcPts val="0"/>
              </a:spcAft>
              <a:buClr>
                <a:schemeClr val="dk1"/>
              </a:buClr>
              <a:buSzPts val="1600"/>
              <a:buChar char="-"/>
            </a:pPr>
            <a:r>
              <a:rPr lang="en" sz="1600">
                <a:solidFill>
                  <a:schemeClr val="dk1"/>
                </a:solidFill>
              </a:rPr>
              <a:t>All the notes for part 1 are at this link along with python examples.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Expect frequent updates</a:t>
            </a:r>
            <a:endParaRPr sz="1600">
              <a:solidFill>
                <a:schemeClr val="dk1"/>
              </a:solidFill>
            </a:endParaRPr>
          </a:p>
          <a:p>
            <a:pPr indent="0" lvl="0" marL="0" rtl="0" algn="l">
              <a:spcBef>
                <a:spcPts val="0"/>
              </a:spcBef>
              <a:spcAft>
                <a:spcPts val="0"/>
              </a:spcAft>
              <a:buNone/>
            </a:pPr>
            <a:r>
              <a:t/>
            </a:r>
            <a:endParaRPr b="1" sz="1800">
              <a:solidFill>
                <a:schemeClr val="accent1"/>
              </a:solidFill>
            </a:endParaRPr>
          </a:p>
          <a:p>
            <a:pPr indent="0" lvl="0" marL="0" rtl="0" algn="l">
              <a:spcBef>
                <a:spcPts val="0"/>
              </a:spcBef>
              <a:spcAft>
                <a:spcPts val="0"/>
              </a:spcAft>
              <a:buNone/>
            </a:pPr>
            <a:r>
              <a:rPr b="1" lang="en" sz="1800">
                <a:solidFill>
                  <a:schemeClr val="accent1"/>
                </a:solidFill>
              </a:rPr>
              <a:t>Canvas:</a:t>
            </a:r>
            <a:r>
              <a:rPr lang="en" sz="1800"/>
              <a:t>  </a:t>
            </a:r>
            <a:r>
              <a:rPr lang="en" sz="1800" u="sng">
                <a:solidFill>
                  <a:schemeClr val="hlink"/>
                </a:solidFill>
                <a:hlinkClick r:id="rId4"/>
              </a:rPr>
              <a:t>https://canvas.sussex.ac.uk/courses/39055</a:t>
            </a:r>
            <a:endParaRPr sz="1800"/>
          </a:p>
          <a:p>
            <a:pPr indent="-330200" lvl="0" marL="457200" rtl="0" algn="l">
              <a:spcBef>
                <a:spcPts val="0"/>
              </a:spcBef>
              <a:spcAft>
                <a:spcPts val="0"/>
              </a:spcAft>
              <a:buSzPts val="1600"/>
              <a:buChar char="-"/>
            </a:pPr>
            <a:r>
              <a:rPr lang="en" sz="1600">
                <a:highlight>
                  <a:schemeClr val="accent6"/>
                </a:highlight>
              </a:rPr>
              <a:t>Read the Module Information and Assessments &amp; Guidance pages</a:t>
            </a:r>
            <a:endParaRPr sz="1600">
              <a:highlight>
                <a:schemeClr val="accent6"/>
              </a:highlight>
            </a:endParaRPr>
          </a:p>
          <a:p>
            <a:pPr indent="-330200" lvl="0" marL="457200" rtl="0" algn="l">
              <a:spcBef>
                <a:spcPts val="0"/>
              </a:spcBef>
              <a:spcAft>
                <a:spcPts val="0"/>
              </a:spcAft>
              <a:buSzPts val="1600"/>
              <a:buChar char="-"/>
            </a:pPr>
            <a:r>
              <a:rPr lang="en" sz="1600">
                <a:highlight>
                  <a:schemeClr val="accent6"/>
                </a:highlight>
              </a:rPr>
              <a:t>Watch the Intro lecture under Introduction &amp; Resources-&gt; </a:t>
            </a:r>
            <a:r>
              <a:rPr lang="en" sz="1600" u="sng">
                <a:solidFill>
                  <a:schemeClr val="hlink"/>
                </a:solidFill>
                <a:highlight>
                  <a:schemeClr val="accent6"/>
                </a:highlight>
                <a:hlinkClick r:id="rId5"/>
              </a:rPr>
              <a:t>Welcome and Introduction</a:t>
            </a:r>
            <a:endParaRPr sz="1600">
              <a:highlight>
                <a:schemeClr val="accent6"/>
              </a:highlight>
            </a:endParaRPr>
          </a:p>
          <a:p>
            <a:pPr indent="-330200" lvl="0" marL="457200" rtl="0" algn="l">
              <a:spcBef>
                <a:spcPts val="0"/>
              </a:spcBef>
              <a:spcAft>
                <a:spcPts val="0"/>
              </a:spcAft>
              <a:buSzPts val="1600"/>
              <a:buChar char="-"/>
            </a:pPr>
            <a:r>
              <a:rPr lang="en" sz="1600">
                <a:highlight>
                  <a:schemeClr val="accent6"/>
                </a:highlight>
              </a:rPr>
              <a:t>Watch the week 1 lecture under </a:t>
            </a:r>
            <a:r>
              <a:rPr lang="en" sz="1600" u="sng">
                <a:solidFill>
                  <a:schemeClr val="hlink"/>
                </a:solidFill>
                <a:highlight>
                  <a:schemeClr val="accent6"/>
                </a:highlight>
                <a:hlinkClick r:id="rId6"/>
              </a:rPr>
              <a:t>1. Terminology and Concepts</a:t>
            </a:r>
            <a:r>
              <a:rPr lang="en" sz="1600">
                <a:highlight>
                  <a:schemeClr val="accent6"/>
                </a:highlight>
              </a:rPr>
              <a:t> </a:t>
            </a:r>
            <a:endParaRPr sz="1600">
              <a:solidFill>
                <a:srgbClr val="0A3135"/>
              </a:solidFill>
              <a:highlight>
                <a:schemeClr val="accent6"/>
              </a:highlight>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a:p>
        </p:txBody>
      </p:sp>
      <p:sp>
        <p:nvSpPr>
          <p:cNvPr id="309" name="Google Shape;309;p42"/>
          <p:cNvSpPr txBox="1"/>
          <p:nvPr/>
        </p:nvSpPr>
        <p:spPr>
          <a:xfrm>
            <a:off x="781625" y="4336425"/>
            <a:ext cx="6167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The same for 2. Probability Essentials</a:t>
            </a:r>
            <a:endParaRPr sz="18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Most Important Thing</a:t>
            </a:r>
            <a:endParaRPr b="1"/>
          </a:p>
        </p:txBody>
      </p:sp>
      <p:sp>
        <p:nvSpPr>
          <p:cNvPr id="315" name="Google Shape;315;p43"/>
          <p:cNvSpPr txBox="1"/>
          <p:nvPr>
            <p:ph idx="1" type="body"/>
          </p:nvPr>
        </p:nvSpPr>
        <p:spPr>
          <a:xfrm>
            <a:off x="311700" y="1152475"/>
            <a:ext cx="36330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Get this working for your operating system.</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Making sure everyone is on top of this will be the main focus of Wednesday’s workshop.</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It is essential for all your assessed work (3 courseworks and software exercise)</a:t>
            </a:r>
            <a:endParaRPr/>
          </a:p>
        </p:txBody>
      </p:sp>
      <p:pic>
        <p:nvPicPr>
          <p:cNvPr id="316" name="Google Shape;316;p43" title="Screenshot 2026-10-05 at 14.22.36.png"/>
          <p:cNvPicPr preferRelativeResize="0"/>
          <p:nvPr/>
        </p:nvPicPr>
        <p:blipFill>
          <a:blip r:embed="rId3">
            <a:alphaModFix/>
          </a:blip>
          <a:stretch>
            <a:fillRect/>
          </a:stretch>
        </p:blipFill>
        <p:spPr>
          <a:xfrm>
            <a:off x="4125950" y="533350"/>
            <a:ext cx="5018050" cy="4401074"/>
          </a:xfrm>
          <a:prstGeom prst="rect">
            <a:avLst/>
          </a:prstGeom>
          <a:noFill/>
          <a:ln>
            <a:noFill/>
          </a:ln>
        </p:spPr>
      </p:pic>
      <p:sp>
        <p:nvSpPr>
          <p:cNvPr id="317" name="Google Shape;317;p43"/>
          <p:cNvSpPr txBox="1"/>
          <p:nvPr/>
        </p:nvSpPr>
        <p:spPr>
          <a:xfrm>
            <a:off x="4125950" y="0"/>
            <a:ext cx="501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https://dorksquith.github.io/DataAnalysisTechniques/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nvSpPr>
        <p:spPr>
          <a:xfrm>
            <a:off x="449850" y="1202388"/>
            <a:ext cx="498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Monty Hall was the host of the TV show</a:t>
            </a:r>
            <a:endParaRPr sz="1800">
              <a:solidFill>
                <a:schemeClr val="accent1"/>
              </a:solidFill>
            </a:endParaRPr>
          </a:p>
        </p:txBody>
      </p:sp>
      <p:sp>
        <p:nvSpPr>
          <p:cNvPr id="323" name="Google Shape;323;p44"/>
          <p:cNvSpPr txBox="1"/>
          <p:nvPr/>
        </p:nvSpPr>
        <p:spPr>
          <a:xfrm>
            <a:off x="73500" y="178700"/>
            <a:ext cx="7931700" cy="785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3900">
                <a:solidFill>
                  <a:schemeClr val="dk2"/>
                </a:solidFill>
              </a:rPr>
              <a:t>Extra</a:t>
            </a:r>
            <a:r>
              <a:rPr lang="en" sz="3900">
                <a:solidFill>
                  <a:schemeClr val="dk2"/>
                </a:solidFill>
              </a:rPr>
              <a:t>: Monty Hall</a:t>
            </a:r>
            <a:endParaRPr sz="6000">
              <a:solidFill>
                <a:schemeClr val="dk2"/>
              </a:solidFill>
            </a:endParaRPr>
          </a:p>
        </p:txBody>
      </p:sp>
      <p:pic>
        <p:nvPicPr>
          <p:cNvPr id="324" name="Google Shape;324;p44" title="marilyn.jpeg"/>
          <p:cNvPicPr preferRelativeResize="0"/>
          <p:nvPr/>
        </p:nvPicPr>
        <p:blipFill rotWithShape="1">
          <a:blip r:embed="rId3">
            <a:alphaModFix/>
          </a:blip>
          <a:srcRect b="30825" l="0" r="0" t="0"/>
          <a:stretch/>
        </p:blipFill>
        <p:spPr>
          <a:xfrm>
            <a:off x="6016099" y="-3500"/>
            <a:ext cx="3068001" cy="5143500"/>
          </a:xfrm>
          <a:prstGeom prst="rect">
            <a:avLst/>
          </a:prstGeom>
          <a:noFill/>
          <a:ln>
            <a:noFill/>
          </a:ln>
        </p:spPr>
      </p:pic>
      <p:pic>
        <p:nvPicPr>
          <p:cNvPr id="325" name="Google Shape;325;p44" title="monty.png"/>
          <p:cNvPicPr preferRelativeResize="0"/>
          <p:nvPr/>
        </p:nvPicPr>
        <p:blipFill rotWithShape="1">
          <a:blip r:embed="rId4">
            <a:alphaModFix/>
          </a:blip>
          <a:srcRect b="18367" l="6291" r="39103" t="0"/>
          <a:stretch/>
        </p:blipFill>
        <p:spPr>
          <a:xfrm rot="5400000">
            <a:off x="516662" y="1597288"/>
            <a:ext cx="2369626" cy="2503250"/>
          </a:xfrm>
          <a:prstGeom prst="rect">
            <a:avLst/>
          </a:prstGeom>
          <a:noFill/>
          <a:ln>
            <a:noFill/>
          </a:ln>
        </p:spPr>
      </p:pic>
      <p:sp>
        <p:nvSpPr>
          <p:cNvPr id="326" name="Google Shape;326;p44"/>
          <p:cNvSpPr txBox="1"/>
          <p:nvPr/>
        </p:nvSpPr>
        <p:spPr>
          <a:xfrm>
            <a:off x="393200" y="4449275"/>
            <a:ext cx="562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Marilyn Vos Savant solved the problem in her column</a:t>
            </a:r>
            <a:endParaRPr sz="1800">
              <a:solidFill>
                <a:schemeClr val="accen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a:t>
            </a:r>
            <a:endParaRPr/>
          </a:p>
        </p:txBody>
      </p:sp>
      <p:pic>
        <p:nvPicPr>
          <p:cNvPr id="332" name="Google Shape;332;p45" title="AdobeStock_1010047626.jpeg"/>
          <p:cNvPicPr preferRelativeResize="0"/>
          <p:nvPr/>
        </p:nvPicPr>
        <p:blipFill>
          <a:blip r:embed="rId3">
            <a:alphaModFix/>
          </a:blip>
          <a:stretch>
            <a:fillRect/>
          </a:stretch>
        </p:blipFill>
        <p:spPr>
          <a:xfrm>
            <a:off x="582775" y="1790702"/>
            <a:ext cx="2343726" cy="1562099"/>
          </a:xfrm>
          <a:prstGeom prst="rect">
            <a:avLst/>
          </a:prstGeom>
          <a:noFill/>
          <a:ln>
            <a:noFill/>
          </a:ln>
        </p:spPr>
      </p:pic>
      <p:pic>
        <p:nvPicPr>
          <p:cNvPr id="333" name="Google Shape;333;p45" title="AdobeStock_668633242.jpeg"/>
          <p:cNvPicPr preferRelativeResize="0"/>
          <p:nvPr/>
        </p:nvPicPr>
        <p:blipFill>
          <a:blip r:embed="rId4">
            <a:alphaModFix/>
          </a:blip>
          <a:stretch>
            <a:fillRect/>
          </a:stretch>
        </p:blipFill>
        <p:spPr>
          <a:xfrm>
            <a:off x="5870682" y="1673252"/>
            <a:ext cx="2519941" cy="1679551"/>
          </a:xfrm>
          <a:prstGeom prst="rect">
            <a:avLst/>
          </a:prstGeom>
          <a:noFill/>
          <a:ln>
            <a:noFill/>
          </a:ln>
        </p:spPr>
      </p:pic>
      <p:sp>
        <p:nvSpPr>
          <p:cNvPr id="334" name="Google Shape;334;p45"/>
          <p:cNvSpPr txBox="1"/>
          <p:nvPr/>
        </p:nvSpPr>
        <p:spPr>
          <a:xfrm>
            <a:off x="681641" y="3940275"/>
            <a:ext cx="44580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Two angry goats and one fancy car</a:t>
            </a:r>
            <a:endParaRPr b="1" sz="1800">
              <a:solidFill>
                <a:schemeClr val="dk2"/>
              </a:solidFill>
            </a:endParaRPr>
          </a:p>
        </p:txBody>
      </p:sp>
      <p:pic>
        <p:nvPicPr>
          <p:cNvPr id="335" name="Google Shape;335;p45" title="AdobeStock_1010049481.jpeg"/>
          <p:cNvPicPr preferRelativeResize="0"/>
          <p:nvPr/>
        </p:nvPicPr>
        <p:blipFill>
          <a:blip r:embed="rId5">
            <a:alphaModFix/>
          </a:blip>
          <a:stretch>
            <a:fillRect/>
          </a:stretch>
        </p:blipFill>
        <p:spPr>
          <a:xfrm>
            <a:off x="2890126" y="1692175"/>
            <a:ext cx="2639380" cy="175915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a:t>
            </a:r>
            <a:endParaRPr/>
          </a:p>
        </p:txBody>
      </p:sp>
      <p:pic>
        <p:nvPicPr>
          <p:cNvPr id="341" name="Google Shape;341;p46" title="Screenshot 2026-10-04 at 17.36.39.png"/>
          <p:cNvPicPr preferRelativeResize="0"/>
          <p:nvPr/>
        </p:nvPicPr>
        <p:blipFill rotWithShape="1">
          <a:blip r:embed="rId3">
            <a:alphaModFix/>
          </a:blip>
          <a:srcRect b="0" l="0" r="0" t="2306"/>
          <a:stretch/>
        </p:blipFill>
        <p:spPr>
          <a:xfrm>
            <a:off x="563275" y="1249050"/>
            <a:ext cx="2215475" cy="3497400"/>
          </a:xfrm>
          <a:prstGeom prst="rect">
            <a:avLst/>
          </a:prstGeom>
          <a:noFill/>
          <a:ln>
            <a:noFill/>
          </a:ln>
        </p:spPr>
      </p:pic>
      <p:pic>
        <p:nvPicPr>
          <p:cNvPr id="342" name="Google Shape;342;p46" title="Screenshot 2026-10-04 at 17.36.39.png"/>
          <p:cNvPicPr preferRelativeResize="0"/>
          <p:nvPr/>
        </p:nvPicPr>
        <p:blipFill rotWithShape="1">
          <a:blip r:embed="rId4">
            <a:alphaModFix/>
          </a:blip>
          <a:srcRect b="0" l="0" r="0" t="2306"/>
          <a:stretch/>
        </p:blipFill>
        <p:spPr>
          <a:xfrm>
            <a:off x="3131325" y="1249050"/>
            <a:ext cx="2215475" cy="3497400"/>
          </a:xfrm>
          <a:prstGeom prst="rect">
            <a:avLst/>
          </a:prstGeom>
          <a:noFill/>
          <a:ln>
            <a:noFill/>
          </a:ln>
        </p:spPr>
      </p:pic>
      <p:pic>
        <p:nvPicPr>
          <p:cNvPr id="343" name="Google Shape;343;p46" title="Screenshot 2026-10-04 at 17.36.39.png"/>
          <p:cNvPicPr preferRelativeResize="0"/>
          <p:nvPr/>
        </p:nvPicPr>
        <p:blipFill rotWithShape="1">
          <a:blip r:embed="rId5">
            <a:alphaModFix/>
          </a:blip>
          <a:srcRect b="0" l="0" r="0" t="2306"/>
          <a:stretch/>
        </p:blipFill>
        <p:spPr>
          <a:xfrm>
            <a:off x="5781775" y="1249050"/>
            <a:ext cx="2215475" cy="3497400"/>
          </a:xfrm>
          <a:prstGeom prst="rect">
            <a:avLst/>
          </a:prstGeom>
          <a:noFill/>
          <a:ln>
            <a:noFill/>
          </a:ln>
        </p:spPr>
      </p:pic>
      <p:sp>
        <p:nvSpPr>
          <p:cNvPr id="344" name="Google Shape;344;p46"/>
          <p:cNvSpPr txBox="1"/>
          <p:nvPr/>
        </p:nvSpPr>
        <p:spPr>
          <a:xfrm>
            <a:off x="681641" y="3940275"/>
            <a:ext cx="44580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Pick a door! Any door!</a:t>
            </a:r>
            <a:endParaRPr b="1"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a:t>
            </a:r>
            <a:endParaRPr/>
          </a:p>
        </p:txBody>
      </p:sp>
      <p:pic>
        <p:nvPicPr>
          <p:cNvPr id="350" name="Google Shape;350;p47" title="Screenshot 2026-10-04 at 17.36.39.png"/>
          <p:cNvPicPr preferRelativeResize="0"/>
          <p:nvPr/>
        </p:nvPicPr>
        <p:blipFill rotWithShape="1">
          <a:blip r:embed="rId3">
            <a:alphaModFix/>
          </a:blip>
          <a:srcRect b="0" l="0" r="0" t="2306"/>
          <a:stretch/>
        </p:blipFill>
        <p:spPr>
          <a:xfrm>
            <a:off x="563275" y="1249050"/>
            <a:ext cx="2215475" cy="3497400"/>
          </a:xfrm>
          <a:prstGeom prst="rect">
            <a:avLst/>
          </a:prstGeom>
          <a:noFill/>
          <a:ln>
            <a:noFill/>
          </a:ln>
        </p:spPr>
      </p:pic>
      <p:pic>
        <p:nvPicPr>
          <p:cNvPr id="351" name="Google Shape;351;p47" title="Screenshot 2026-10-04 at 17.36.39.png"/>
          <p:cNvPicPr preferRelativeResize="0"/>
          <p:nvPr/>
        </p:nvPicPr>
        <p:blipFill rotWithShape="1">
          <a:blip r:embed="rId4">
            <a:alphaModFix/>
          </a:blip>
          <a:srcRect b="0" l="0" r="0" t="2306"/>
          <a:stretch/>
        </p:blipFill>
        <p:spPr>
          <a:xfrm>
            <a:off x="3131325" y="1249050"/>
            <a:ext cx="2215475" cy="3497400"/>
          </a:xfrm>
          <a:prstGeom prst="rect">
            <a:avLst/>
          </a:prstGeom>
          <a:noFill/>
          <a:ln>
            <a:noFill/>
          </a:ln>
        </p:spPr>
      </p:pic>
      <p:pic>
        <p:nvPicPr>
          <p:cNvPr id="352" name="Google Shape;352;p47" title="Screenshot 2026-10-04 at 17.36.39.png"/>
          <p:cNvPicPr preferRelativeResize="0"/>
          <p:nvPr/>
        </p:nvPicPr>
        <p:blipFill rotWithShape="1">
          <a:blip r:embed="rId5">
            <a:alphaModFix/>
          </a:blip>
          <a:srcRect b="0" l="0" r="0" t="2306"/>
          <a:stretch/>
        </p:blipFill>
        <p:spPr>
          <a:xfrm>
            <a:off x="5781775" y="1249050"/>
            <a:ext cx="2215475" cy="3497400"/>
          </a:xfrm>
          <a:prstGeom prst="rect">
            <a:avLst/>
          </a:prstGeom>
          <a:noFill/>
          <a:ln>
            <a:noFill/>
          </a:ln>
        </p:spPr>
      </p:pic>
      <p:sp>
        <p:nvSpPr>
          <p:cNvPr id="353" name="Google Shape;353;p47"/>
          <p:cNvSpPr txBox="1"/>
          <p:nvPr/>
        </p:nvSpPr>
        <p:spPr>
          <a:xfrm>
            <a:off x="5970988" y="3822500"/>
            <a:ext cx="19788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This one please!</a:t>
            </a:r>
            <a:endParaRPr b="1"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a:t>
            </a:r>
            <a:endParaRPr/>
          </a:p>
        </p:txBody>
      </p:sp>
      <p:pic>
        <p:nvPicPr>
          <p:cNvPr id="359" name="Google Shape;359;p48" title="Screenshot 2026-10-04 at 17.36.39.png"/>
          <p:cNvPicPr preferRelativeResize="0"/>
          <p:nvPr/>
        </p:nvPicPr>
        <p:blipFill rotWithShape="1">
          <a:blip r:embed="rId3">
            <a:alphaModFix/>
          </a:blip>
          <a:srcRect b="0" l="0" r="0" t="2306"/>
          <a:stretch/>
        </p:blipFill>
        <p:spPr>
          <a:xfrm>
            <a:off x="563275" y="1249050"/>
            <a:ext cx="2215475" cy="3497400"/>
          </a:xfrm>
          <a:prstGeom prst="rect">
            <a:avLst/>
          </a:prstGeom>
          <a:noFill/>
          <a:ln>
            <a:noFill/>
          </a:ln>
        </p:spPr>
      </p:pic>
      <p:pic>
        <p:nvPicPr>
          <p:cNvPr id="360" name="Google Shape;360;p48" title="Screenshot 2026-10-04 at 17.36.39.png"/>
          <p:cNvPicPr preferRelativeResize="0"/>
          <p:nvPr/>
        </p:nvPicPr>
        <p:blipFill rotWithShape="1">
          <a:blip r:embed="rId4">
            <a:alphaModFix/>
          </a:blip>
          <a:srcRect b="0" l="0" r="0" t="2306"/>
          <a:stretch/>
        </p:blipFill>
        <p:spPr>
          <a:xfrm>
            <a:off x="5781775" y="1249050"/>
            <a:ext cx="2215475" cy="3497400"/>
          </a:xfrm>
          <a:prstGeom prst="rect">
            <a:avLst/>
          </a:prstGeom>
          <a:noFill/>
          <a:ln>
            <a:noFill/>
          </a:ln>
        </p:spPr>
      </p:pic>
      <p:pic>
        <p:nvPicPr>
          <p:cNvPr id="361" name="Google Shape;361;p48" title="AdobeStock_1010047626.jpeg"/>
          <p:cNvPicPr preferRelativeResize="0"/>
          <p:nvPr/>
        </p:nvPicPr>
        <p:blipFill>
          <a:blip r:embed="rId5">
            <a:alphaModFix/>
          </a:blip>
          <a:stretch>
            <a:fillRect/>
          </a:stretch>
        </p:blipFill>
        <p:spPr>
          <a:xfrm>
            <a:off x="3226713" y="1790701"/>
            <a:ext cx="2343726" cy="1562099"/>
          </a:xfrm>
          <a:prstGeom prst="rect">
            <a:avLst/>
          </a:prstGeom>
          <a:noFill/>
          <a:ln>
            <a:noFill/>
          </a:ln>
        </p:spPr>
      </p:pic>
      <p:sp>
        <p:nvSpPr>
          <p:cNvPr id="362" name="Google Shape;362;p48"/>
          <p:cNvSpPr txBox="1"/>
          <p:nvPr/>
        </p:nvSpPr>
        <p:spPr>
          <a:xfrm>
            <a:off x="5900100" y="3854625"/>
            <a:ext cx="19788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Chosen door</a:t>
            </a:r>
            <a:endParaRPr b="1" sz="1800">
              <a:solidFill>
                <a:schemeClr val="dk2"/>
              </a:solidFill>
            </a:endParaRPr>
          </a:p>
        </p:txBody>
      </p:sp>
      <p:pic>
        <p:nvPicPr>
          <p:cNvPr id="363" name="Google Shape;363;p48" title="AdobeStock_1294153021.jpeg"/>
          <p:cNvPicPr preferRelativeResize="0"/>
          <p:nvPr/>
        </p:nvPicPr>
        <p:blipFill>
          <a:blip r:embed="rId6">
            <a:alphaModFix/>
          </a:blip>
          <a:stretch>
            <a:fillRect/>
          </a:stretch>
        </p:blipFill>
        <p:spPr>
          <a:xfrm>
            <a:off x="5953224" y="149900"/>
            <a:ext cx="3190774" cy="2126650"/>
          </a:xfrm>
          <a:prstGeom prst="rect">
            <a:avLst/>
          </a:prstGeom>
          <a:noFill/>
          <a:ln>
            <a:noFill/>
          </a:ln>
        </p:spPr>
      </p:pic>
      <p:sp>
        <p:nvSpPr>
          <p:cNvPr id="364" name="Google Shape;364;p48"/>
          <p:cNvSpPr txBox="1"/>
          <p:nvPr/>
        </p:nvSpPr>
        <p:spPr>
          <a:xfrm>
            <a:off x="4374296" y="445025"/>
            <a:ext cx="25854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Stick or switch?</a:t>
            </a:r>
            <a:endParaRPr b="1"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a:t>
            </a:r>
            <a:endParaRPr/>
          </a:p>
        </p:txBody>
      </p:sp>
      <p:pic>
        <p:nvPicPr>
          <p:cNvPr id="370" name="Google Shape;370;p49" title="Screenshot 2026-10-04 at 17.36.39.png"/>
          <p:cNvPicPr preferRelativeResize="0"/>
          <p:nvPr/>
        </p:nvPicPr>
        <p:blipFill rotWithShape="1">
          <a:blip r:embed="rId3">
            <a:alphaModFix/>
          </a:blip>
          <a:srcRect b="0" l="0" r="0" t="2306"/>
          <a:stretch/>
        </p:blipFill>
        <p:spPr>
          <a:xfrm>
            <a:off x="563275" y="1249050"/>
            <a:ext cx="2215475" cy="3497400"/>
          </a:xfrm>
          <a:prstGeom prst="rect">
            <a:avLst/>
          </a:prstGeom>
          <a:noFill/>
          <a:ln>
            <a:noFill/>
          </a:ln>
        </p:spPr>
      </p:pic>
      <p:pic>
        <p:nvPicPr>
          <p:cNvPr id="371" name="Google Shape;371;p49" title="Screenshot 2026-10-04 at 17.36.39.png"/>
          <p:cNvPicPr preferRelativeResize="0"/>
          <p:nvPr/>
        </p:nvPicPr>
        <p:blipFill rotWithShape="1">
          <a:blip r:embed="rId4">
            <a:alphaModFix/>
          </a:blip>
          <a:srcRect b="0" l="0" r="0" t="2306"/>
          <a:stretch/>
        </p:blipFill>
        <p:spPr>
          <a:xfrm>
            <a:off x="5781775" y="1249050"/>
            <a:ext cx="2215475" cy="3497400"/>
          </a:xfrm>
          <a:prstGeom prst="rect">
            <a:avLst/>
          </a:prstGeom>
          <a:noFill/>
          <a:ln>
            <a:noFill/>
          </a:ln>
        </p:spPr>
      </p:pic>
      <p:pic>
        <p:nvPicPr>
          <p:cNvPr id="372" name="Google Shape;372;p49" title="AdobeStock_1010047626.jpeg"/>
          <p:cNvPicPr preferRelativeResize="0"/>
          <p:nvPr/>
        </p:nvPicPr>
        <p:blipFill>
          <a:blip r:embed="rId5">
            <a:alphaModFix/>
          </a:blip>
          <a:stretch>
            <a:fillRect/>
          </a:stretch>
        </p:blipFill>
        <p:spPr>
          <a:xfrm>
            <a:off x="3226713" y="1790701"/>
            <a:ext cx="2343726" cy="1562099"/>
          </a:xfrm>
          <a:prstGeom prst="rect">
            <a:avLst/>
          </a:prstGeom>
          <a:noFill/>
          <a:ln>
            <a:noFill/>
          </a:ln>
        </p:spPr>
      </p:pic>
      <p:sp>
        <p:nvSpPr>
          <p:cNvPr id="373" name="Google Shape;373;p49"/>
          <p:cNvSpPr txBox="1"/>
          <p:nvPr/>
        </p:nvSpPr>
        <p:spPr>
          <a:xfrm>
            <a:off x="681613" y="3704725"/>
            <a:ext cx="19788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Better to switch!</a:t>
            </a:r>
            <a:endParaRPr b="1"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Monty Hall Problem P(Car) = ⅓ Uniform</a:t>
            </a:r>
            <a:endParaRPr/>
          </a:p>
        </p:txBody>
      </p:sp>
      <p:pic>
        <p:nvPicPr>
          <p:cNvPr id="379" name="Google Shape;379;p50" title="Screenshot 2026-10-04 at 17.36.39.png"/>
          <p:cNvPicPr preferRelativeResize="0"/>
          <p:nvPr/>
        </p:nvPicPr>
        <p:blipFill rotWithShape="1">
          <a:blip r:embed="rId3">
            <a:alphaModFix/>
          </a:blip>
          <a:srcRect b="0" l="0" r="0" t="2306"/>
          <a:stretch/>
        </p:blipFill>
        <p:spPr>
          <a:xfrm>
            <a:off x="563275" y="1249050"/>
            <a:ext cx="2215475" cy="3497400"/>
          </a:xfrm>
          <a:prstGeom prst="rect">
            <a:avLst/>
          </a:prstGeom>
          <a:noFill/>
          <a:ln>
            <a:noFill/>
          </a:ln>
        </p:spPr>
      </p:pic>
      <p:pic>
        <p:nvPicPr>
          <p:cNvPr id="380" name="Google Shape;380;p50" title="Screenshot 2026-10-04 at 17.36.39.png"/>
          <p:cNvPicPr preferRelativeResize="0"/>
          <p:nvPr/>
        </p:nvPicPr>
        <p:blipFill rotWithShape="1">
          <a:blip r:embed="rId4">
            <a:alphaModFix/>
          </a:blip>
          <a:srcRect b="0" l="0" r="0" t="2306"/>
          <a:stretch/>
        </p:blipFill>
        <p:spPr>
          <a:xfrm>
            <a:off x="3131325" y="1249050"/>
            <a:ext cx="2215475" cy="3497400"/>
          </a:xfrm>
          <a:prstGeom prst="rect">
            <a:avLst/>
          </a:prstGeom>
          <a:noFill/>
          <a:ln>
            <a:noFill/>
          </a:ln>
        </p:spPr>
      </p:pic>
      <p:pic>
        <p:nvPicPr>
          <p:cNvPr id="381" name="Google Shape;381;p50" title="Screenshot 2026-10-04 at 17.36.39.png"/>
          <p:cNvPicPr preferRelativeResize="0"/>
          <p:nvPr/>
        </p:nvPicPr>
        <p:blipFill rotWithShape="1">
          <a:blip r:embed="rId5">
            <a:alphaModFix/>
          </a:blip>
          <a:srcRect b="0" l="0" r="0" t="2306"/>
          <a:stretch/>
        </p:blipFill>
        <p:spPr>
          <a:xfrm>
            <a:off x="5781775" y="1249050"/>
            <a:ext cx="2215475" cy="3497400"/>
          </a:xfrm>
          <a:prstGeom prst="rect">
            <a:avLst/>
          </a:prstGeom>
          <a:noFill/>
          <a:ln>
            <a:noFill/>
          </a:ln>
        </p:spPr>
      </p:pic>
      <p:sp>
        <p:nvSpPr>
          <p:cNvPr id="382" name="Google Shape;382;p50"/>
          <p:cNvSpPr txBox="1"/>
          <p:nvPr/>
        </p:nvSpPr>
        <p:spPr>
          <a:xfrm>
            <a:off x="6486161" y="3870325"/>
            <a:ext cx="8067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p=1/3</a:t>
            </a:r>
            <a:endParaRPr b="1" sz="1800">
              <a:solidFill>
                <a:schemeClr val="dk2"/>
              </a:solidFill>
            </a:endParaRPr>
          </a:p>
        </p:txBody>
      </p:sp>
      <p:sp>
        <p:nvSpPr>
          <p:cNvPr id="383" name="Google Shape;383;p50"/>
          <p:cNvSpPr txBox="1"/>
          <p:nvPr/>
        </p:nvSpPr>
        <p:spPr>
          <a:xfrm>
            <a:off x="3835711" y="3870325"/>
            <a:ext cx="8067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p=1/3</a:t>
            </a:r>
            <a:endParaRPr b="1" sz="1800">
              <a:solidFill>
                <a:schemeClr val="dk2"/>
              </a:solidFill>
            </a:endParaRPr>
          </a:p>
        </p:txBody>
      </p:sp>
      <p:sp>
        <p:nvSpPr>
          <p:cNvPr id="384" name="Google Shape;384;p50"/>
          <p:cNvSpPr txBox="1"/>
          <p:nvPr/>
        </p:nvSpPr>
        <p:spPr>
          <a:xfrm>
            <a:off x="1267674" y="3870325"/>
            <a:ext cx="806700" cy="461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p=1/3</a:t>
            </a:r>
            <a:endParaRPr b="1"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p51" title="AdobeStock_1010047626.jpeg"/>
          <p:cNvPicPr preferRelativeResize="0"/>
          <p:nvPr/>
        </p:nvPicPr>
        <p:blipFill>
          <a:blip r:embed="rId3">
            <a:alphaModFix/>
          </a:blip>
          <a:stretch>
            <a:fillRect/>
          </a:stretch>
        </p:blipFill>
        <p:spPr>
          <a:xfrm>
            <a:off x="3852150" y="1147956"/>
            <a:ext cx="914401" cy="619761"/>
          </a:xfrm>
          <a:prstGeom prst="rect">
            <a:avLst/>
          </a:prstGeom>
          <a:noFill/>
          <a:ln>
            <a:noFill/>
          </a:ln>
        </p:spPr>
      </p:pic>
      <p:pic>
        <p:nvPicPr>
          <p:cNvPr id="390" name="Google Shape;390;p51" title="AdobeStock_668633242.jpeg"/>
          <p:cNvPicPr preferRelativeResize="0"/>
          <p:nvPr/>
        </p:nvPicPr>
        <p:blipFill>
          <a:blip r:embed="rId4">
            <a:alphaModFix/>
          </a:blip>
          <a:stretch>
            <a:fillRect/>
          </a:stretch>
        </p:blipFill>
        <p:spPr>
          <a:xfrm>
            <a:off x="6463965" y="1154502"/>
            <a:ext cx="914401" cy="616018"/>
          </a:xfrm>
          <a:prstGeom prst="rect">
            <a:avLst/>
          </a:prstGeom>
          <a:noFill/>
          <a:ln>
            <a:noFill/>
          </a:ln>
        </p:spPr>
      </p:pic>
      <p:pic>
        <p:nvPicPr>
          <p:cNvPr id="391" name="Google Shape;391;p51" title="AdobeStock_1010049481.jpeg"/>
          <p:cNvPicPr preferRelativeResize="0"/>
          <p:nvPr/>
        </p:nvPicPr>
        <p:blipFill>
          <a:blip r:embed="rId5">
            <a:alphaModFix/>
          </a:blip>
          <a:stretch>
            <a:fillRect/>
          </a:stretch>
        </p:blipFill>
        <p:spPr>
          <a:xfrm>
            <a:off x="4915221" y="1154088"/>
            <a:ext cx="914401" cy="607490"/>
          </a:xfrm>
          <a:prstGeom prst="rect">
            <a:avLst/>
          </a:prstGeom>
          <a:noFill/>
          <a:ln>
            <a:noFill/>
          </a:ln>
        </p:spPr>
      </p:pic>
      <p:sp>
        <p:nvSpPr>
          <p:cNvPr id="392" name="Google Shape;392;p51"/>
          <p:cNvSpPr txBox="1"/>
          <p:nvPr/>
        </p:nvSpPr>
        <p:spPr>
          <a:xfrm>
            <a:off x="3905999" y="7296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393" name="Google Shape;393;p51"/>
          <p:cNvSpPr txBox="1"/>
          <p:nvPr/>
        </p:nvSpPr>
        <p:spPr>
          <a:xfrm>
            <a:off x="5022924" y="73619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394" name="Google Shape;394;p51"/>
          <p:cNvSpPr txBox="1"/>
          <p:nvPr/>
        </p:nvSpPr>
        <p:spPr>
          <a:xfrm>
            <a:off x="6517824" y="708607"/>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395" name="Google Shape;395;p51"/>
          <p:cNvSpPr txBox="1"/>
          <p:nvPr/>
        </p:nvSpPr>
        <p:spPr>
          <a:xfrm>
            <a:off x="416075" y="1266000"/>
            <a:ext cx="2990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My choice: uniform odds</a:t>
            </a:r>
            <a:endParaRPr b="1" sz="1800">
              <a:solidFill>
                <a:schemeClr val="accent1"/>
              </a:solidFill>
            </a:endParaRPr>
          </a:p>
        </p:txBody>
      </p:sp>
      <p:sp>
        <p:nvSpPr>
          <p:cNvPr id="396" name="Google Shape;39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a:t>
            </a:r>
            <a:endParaRPr/>
          </a:p>
        </p:txBody>
      </p:sp>
      <p:sp>
        <p:nvSpPr>
          <p:cNvPr id="397" name="Google Shape;397;p51"/>
          <p:cNvSpPr txBox="1"/>
          <p:nvPr/>
        </p:nvSpPr>
        <p:spPr>
          <a:xfrm>
            <a:off x="1940100" y="91925"/>
            <a:ext cx="72039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In three different “universes”, with each one a different choice</a:t>
            </a:r>
            <a:endParaRPr b="1" sz="1800">
              <a:solidFill>
                <a:schemeClr val="accen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52" title="AdobeStock_1010047626.jpeg"/>
          <p:cNvPicPr preferRelativeResize="0"/>
          <p:nvPr/>
        </p:nvPicPr>
        <p:blipFill>
          <a:blip r:embed="rId3">
            <a:alphaModFix/>
          </a:blip>
          <a:stretch>
            <a:fillRect/>
          </a:stretch>
        </p:blipFill>
        <p:spPr>
          <a:xfrm>
            <a:off x="3852150" y="1147956"/>
            <a:ext cx="914401" cy="619761"/>
          </a:xfrm>
          <a:prstGeom prst="rect">
            <a:avLst/>
          </a:prstGeom>
          <a:noFill/>
          <a:ln>
            <a:noFill/>
          </a:ln>
        </p:spPr>
      </p:pic>
      <p:pic>
        <p:nvPicPr>
          <p:cNvPr id="403" name="Google Shape;403;p52" title="AdobeStock_668633242.jpeg"/>
          <p:cNvPicPr preferRelativeResize="0"/>
          <p:nvPr/>
        </p:nvPicPr>
        <p:blipFill>
          <a:blip r:embed="rId4">
            <a:alphaModFix/>
          </a:blip>
          <a:stretch>
            <a:fillRect/>
          </a:stretch>
        </p:blipFill>
        <p:spPr>
          <a:xfrm>
            <a:off x="6463965" y="1154502"/>
            <a:ext cx="914401" cy="616018"/>
          </a:xfrm>
          <a:prstGeom prst="rect">
            <a:avLst/>
          </a:prstGeom>
          <a:noFill/>
          <a:ln>
            <a:noFill/>
          </a:ln>
        </p:spPr>
      </p:pic>
      <p:pic>
        <p:nvPicPr>
          <p:cNvPr id="404" name="Google Shape;404;p52" title="AdobeStock_1010049481.jpeg"/>
          <p:cNvPicPr preferRelativeResize="0"/>
          <p:nvPr/>
        </p:nvPicPr>
        <p:blipFill>
          <a:blip r:embed="rId5">
            <a:alphaModFix/>
          </a:blip>
          <a:stretch>
            <a:fillRect/>
          </a:stretch>
        </p:blipFill>
        <p:spPr>
          <a:xfrm>
            <a:off x="4915221" y="1154088"/>
            <a:ext cx="914401" cy="607490"/>
          </a:xfrm>
          <a:prstGeom prst="rect">
            <a:avLst/>
          </a:prstGeom>
          <a:noFill/>
          <a:ln>
            <a:noFill/>
          </a:ln>
        </p:spPr>
      </p:pic>
      <p:pic>
        <p:nvPicPr>
          <p:cNvPr id="405" name="Google Shape;405;p52" title="AdobeStock_1010049481.jpeg"/>
          <p:cNvPicPr preferRelativeResize="0"/>
          <p:nvPr/>
        </p:nvPicPr>
        <p:blipFill>
          <a:blip r:embed="rId5">
            <a:alphaModFix/>
          </a:blip>
          <a:stretch>
            <a:fillRect/>
          </a:stretch>
        </p:blipFill>
        <p:spPr>
          <a:xfrm>
            <a:off x="3746146" y="2173163"/>
            <a:ext cx="914401" cy="607490"/>
          </a:xfrm>
          <a:prstGeom prst="rect">
            <a:avLst/>
          </a:prstGeom>
          <a:noFill/>
          <a:ln>
            <a:noFill/>
          </a:ln>
        </p:spPr>
      </p:pic>
      <p:pic>
        <p:nvPicPr>
          <p:cNvPr id="406" name="Google Shape;406;p52" title="AdobeStock_1010047626.jpeg"/>
          <p:cNvPicPr preferRelativeResize="0"/>
          <p:nvPr/>
        </p:nvPicPr>
        <p:blipFill>
          <a:blip r:embed="rId3">
            <a:alphaModFix/>
          </a:blip>
          <a:stretch>
            <a:fillRect/>
          </a:stretch>
        </p:blipFill>
        <p:spPr>
          <a:xfrm>
            <a:off x="4845500" y="2167031"/>
            <a:ext cx="914401" cy="619761"/>
          </a:xfrm>
          <a:prstGeom prst="rect">
            <a:avLst/>
          </a:prstGeom>
          <a:noFill/>
          <a:ln>
            <a:noFill/>
          </a:ln>
        </p:spPr>
      </p:pic>
      <p:pic>
        <p:nvPicPr>
          <p:cNvPr id="407" name="Google Shape;407;p52" title="AdobeStock_1010049481.jpeg"/>
          <p:cNvPicPr preferRelativeResize="0"/>
          <p:nvPr/>
        </p:nvPicPr>
        <p:blipFill>
          <a:blip r:embed="rId5">
            <a:alphaModFix/>
          </a:blip>
          <a:stretch>
            <a:fillRect/>
          </a:stretch>
        </p:blipFill>
        <p:spPr>
          <a:xfrm>
            <a:off x="6086396" y="2218688"/>
            <a:ext cx="914401" cy="607490"/>
          </a:xfrm>
          <a:prstGeom prst="rect">
            <a:avLst/>
          </a:prstGeom>
          <a:noFill/>
          <a:ln>
            <a:noFill/>
          </a:ln>
        </p:spPr>
      </p:pic>
      <p:pic>
        <p:nvPicPr>
          <p:cNvPr id="408" name="Google Shape;408;p52" title="AdobeStock_1010047626.jpeg"/>
          <p:cNvPicPr preferRelativeResize="0"/>
          <p:nvPr/>
        </p:nvPicPr>
        <p:blipFill>
          <a:blip r:embed="rId3">
            <a:alphaModFix/>
          </a:blip>
          <a:stretch>
            <a:fillRect/>
          </a:stretch>
        </p:blipFill>
        <p:spPr>
          <a:xfrm>
            <a:off x="7000800" y="2212556"/>
            <a:ext cx="914401" cy="619761"/>
          </a:xfrm>
          <a:prstGeom prst="rect">
            <a:avLst/>
          </a:prstGeom>
          <a:noFill/>
          <a:ln>
            <a:noFill/>
          </a:ln>
        </p:spPr>
      </p:pic>
      <p:sp>
        <p:nvSpPr>
          <p:cNvPr id="409" name="Google Shape;409;p52"/>
          <p:cNvSpPr txBox="1"/>
          <p:nvPr/>
        </p:nvSpPr>
        <p:spPr>
          <a:xfrm>
            <a:off x="3905999" y="7296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10" name="Google Shape;410;p52"/>
          <p:cNvSpPr txBox="1"/>
          <p:nvPr/>
        </p:nvSpPr>
        <p:spPr>
          <a:xfrm>
            <a:off x="5022924" y="73619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11" name="Google Shape;411;p52"/>
          <p:cNvSpPr txBox="1"/>
          <p:nvPr/>
        </p:nvSpPr>
        <p:spPr>
          <a:xfrm>
            <a:off x="6517824" y="708607"/>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12" name="Google Shape;412;p52"/>
          <p:cNvSpPr txBox="1"/>
          <p:nvPr/>
        </p:nvSpPr>
        <p:spPr>
          <a:xfrm>
            <a:off x="3799999" y="17786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13" name="Google Shape;413;p52"/>
          <p:cNvSpPr txBox="1"/>
          <p:nvPr/>
        </p:nvSpPr>
        <p:spPr>
          <a:xfrm>
            <a:off x="4969074" y="17615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14" name="Google Shape;414;p52"/>
          <p:cNvSpPr txBox="1"/>
          <p:nvPr/>
        </p:nvSpPr>
        <p:spPr>
          <a:xfrm>
            <a:off x="6140249" y="1788650"/>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sp>
        <p:nvSpPr>
          <p:cNvPr id="415" name="Google Shape;415;p52"/>
          <p:cNvSpPr txBox="1"/>
          <p:nvPr/>
        </p:nvSpPr>
        <p:spPr>
          <a:xfrm>
            <a:off x="7070524" y="18133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sp>
        <p:nvSpPr>
          <p:cNvPr id="416" name="Google Shape;416;p52"/>
          <p:cNvSpPr txBox="1"/>
          <p:nvPr/>
        </p:nvSpPr>
        <p:spPr>
          <a:xfrm>
            <a:off x="416077" y="1265988"/>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My choice</a:t>
            </a:r>
            <a:endParaRPr b="1" sz="1800">
              <a:solidFill>
                <a:schemeClr val="accent1"/>
              </a:solidFill>
            </a:endParaRPr>
          </a:p>
        </p:txBody>
      </p:sp>
      <p:sp>
        <p:nvSpPr>
          <p:cNvPr id="417" name="Google Shape;417;p52"/>
          <p:cNvSpPr txBox="1"/>
          <p:nvPr/>
        </p:nvSpPr>
        <p:spPr>
          <a:xfrm>
            <a:off x="351927" y="2184513"/>
            <a:ext cx="1994400" cy="2401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Host’s choice: she knows where everything is, and will not pick the car - she wants it for herself!</a:t>
            </a:r>
            <a:endParaRPr b="1" sz="1800">
              <a:solidFill>
                <a:schemeClr val="accent1"/>
              </a:solidFill>
            </a:endParaRPr>
          </a:p>
        </p:txBody>
      </p:sp>
      <p:sp>
        <p:nvSpPr>
          <p:cNvPr id="418" name="Google Shape;41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a:t>
            </a:r>
            <a:endParaRPr/>
          </a:p>
        </p:txBody>
      </p:sp>
      <p:sp>
        <p:nvSpPr>
          <p:cNvPr id="419" name="Google Shape;419;p52"/>
          <p:cNvSpPr txBox="1"/>
          <p:nvPr/>
        </p:nvSpPr>
        <p:spPr>
          <a:xfrm>
            <a:off x="3746152" y="3192238"/>
            <a:ext cx="1994400" cy="1293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If I chose badly, she has only one choice of door to open</a:t>
            </a:r>
            <a:endParaRPr b="1" sz="1800">
              <a:solidFill>
                <a:schemeClr val="accent1"/>
              </a:solidFill>
            </a:endParaRPr>
          </a:p>
        </p:txBody>
      </p:sp>
      <p:sp>
        <p:nvSpPr>
          <p:cNvPr id="420" name="Google Shape;420;p52"/>
          <p:cNvSpPr txBox="1"/>
          <p:nvPr/>
        </p:nvSpPr>
        <p:spPr>
          <a:xfrm>
            <a:off x="6086402" y="3274338"/>
            <a:ext cx="1994400" cy="1015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If I chose well, she has two choices</a:t>
            </a:r>
            <a:endParaRPr b="1" sz="1800">
              <a:solidFill>
                <a:schemeClr val="accent1"/>
              </a:solidFill>
            </a:endParaRPr>
          </a:p>
        </p:txBody>
      </p:sp>
      <p:cxnSp>
        <p:nvCxnSpPr>
          <p:cNvPr id="421" name="Google Shape;421;p52"/>
          <p:cNvCxnSpPr>
            <a:endCxn id="419" idx="0"/>
          </p:cNvCxnSpPr>
          <p:nvPr/>
        </p:nvCxnSpPr>
        <p:spPr>
          <a:xfrm flipH="1">
            <a:off x="4743352" y="8938"/>
            <a:ext cx="3000" cy="31833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52"/>
          <p:cNvCxnSpPr/>
          <p:nvPr/>
        </p:nvCxnSpPr>
        <p:spPr>
          <a:xfrm flipH="1">
            <a:off x="6032150" y="91050"/>
            <a:ext cx="3000" cy="31833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52"/>
          <p:cNvCxnSpPr/>
          <p:nvPr/>
        </p:nvCxnSpPr>
        <p:spPr>
          <a:xfrm flipH="1">
            <a:off x="6939149" y="1884145"/>
            <a:ext cx="7800" cy="140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53" title="AdobeStock_1010047626.jpeg"/>
          <p:cNvPicPr preferRelativeResize="0"/>
          <p:nvPr/>
        </p:nvPicPr>
        <p:blipFill>
          <a:blip r:embed="rId3">
            <a:alphaModFix/>
          </a:blip>
          <a:stretch>
            <a:fillRect/>
          </a:stretch>
        </p:blipFill>
        <p:spPr>
          <a:xfrm>
            <a:off x="3852150" y="1147956"/>
            <a:ext cx="914401" cy="619761"/>
          </a:xfrm>
          <a:prstGeom prst="rect">
            <a:avLst/>
          </a:prstGeom>
          <a:noFill/>
          <a:ln>
            <a:noFill/>
          </a:ln>
        </p:spPr>
      </p:pic>
      <p:pic>
        <p:nvPicPr>
          <p:cNvPr id="429" name="Google Shape;429;p53" title="AdobeStock_668633242.jpeg"/>
          <p:cNvPicPr preferRelativeResize="0"/>
          <p:nvPr/>
        </p:nvPicPr>
        <p:blipFill>
          <a:blip r:embed="rId4">
            <a:alphaModFix/>
          </a:blip>
          <a:stretch>
            <a:fillRect/>
          </a:stretch>
        </p:blipFill>
        <p:spPr>
          <a:xfrm>
            <a:off x="6463965" y="1154502"/>
            <a:ext cx="914401" cy="616018"/>
          </a:xfrm>
          <a:prstGeom prst="rect">
            <a:avLst/>
          </a:prstGeom>
          <a:noFill/>
          <a:ln>
            <a:noFill/>
          </a:ln>
        </p:spPr>
      </p:pic>
      <p:pic>
        <p:nvPicPr>
          <p:cNvPr id="430" name="Google Shape;430;p53" title="AdobeStock_1010049481.jpeg"/>
          <p:cNvPicPr preferRelativeResize="0"/>
          <p:nvPr/>
        </p:nvPicPr>
        <p:blipFill>
          <a:blip r:embed="rId5">
            <a:alphaModFix/>
          </a:blip>
          <a:stretch>
            <a:fillRect/>
          </a:stretch>
        </p:blipFill>
        <p:spPr>
          <a:xfrm>
            <a:off x="4915221" y="1154088"/>
            <a:ext cx="914401" cy="607490"/>
          </a:xfrm>
          <a:prstGeom prst="rect">
            <a:avLst/>
          </a:prstGeom>
          <a:noFill/>
          <a:ln>
            <a:noFill/>
          </a:ln>
        </p:spPr>
      </p:pic>
      <p:pic>
        <p:nvPicPr>
          <p:cNvPr id="431" name="Google Shape;431;p53" title="AdobeStock_1010049481.jpeg"/>
          <p:cNvPicPr preferRelativeResize="0"/>
          <p:nvPr/>
        </p:nvPicPr>
        <p:blipFill>
          <a:blip r:embed="rId5">
            <a:alphaModFix/>
          </a:blip>
          <a:stretch>
            <a:fillRect/>
          </a:stretch>
        </p:blipFill>
        <p:spPr>
          <a:xfrm>
            <a:off x="3746146" y="2173163"/>
            <a:ext cx="914401" cy="607490"/>
          </a:xfrm>
          <a:prstGeom prst="rect">
            <a:avLst/>
          </a:prstGeom>
          <a:noFill/>
          <a:ln>
            <a:noFill/>
          </a:ln>
        </p:spPr>
      </p:pic>
      <p:pic>
        <p:nvPicPr>
          <p:cNvPr id="432" name="Google Shape;432;p53" title="AdobeStock_1010047626.jpeg"/>
          <p:cNvPicPr preferRelativeResize="0"/>
          <p:nvPr/>
        </p:nvPicPr>
        <p:blipFill>
          <a:blip r:embed="rId3">
            <a:alphaModFix/>
          </a:blip>
          <a:stretch>
            <a:fillRect/>
          </a:stretch>
        </p:blipFill>
        <p:spPr>
          <a:xfrm>
            <a:off x="4845500" y="2167031"/>
            <a:ext cx="914401" cy="619761"/>
          </a:xfrm>
          <a:prstGeom prst="rect">
            <a:avLst/>
          </a:prstGeom>
          <a:noFill/>
          <a:ln>
            <a:noFill/>
          </a:ln>
        </p:spPr>
      </p:pic>
      <p:pic>
        <p:nvPicPr>
          <p:cNvPr id="433" name="Google Shape;433;p53" title="AdobeStock_1010049481.jpeg"/>
          <p:cNvPicPr preferRelativeResize="0"/>
          <p:nvPr/>
        </p:nvPicPr>
        <p:blipFill>
          <a:blip r:embed="rId5">
            <a:alphaModFix/>
          </a:blip>
          <a:stretch>
            <a:fillRect/>
          </a:stretch>
        </p:blipFill>
        <p:spPr>
          <a:xfrm>
            <a:off x="6086396" y="2218688"/>
            <a:ext cx="914401" cy="607490"/>
          </a:xfrm>
          <a:prstGeom prst="rect">
            <a:avLst/>
          </a:prstGeom>
          <a:noFill/>
          <a:ln>
            <a:noFill/>
          </a:ln>
        </p:spPr>
      </p:pic>
      <p:pic>
        <p:nvPicPr>
          <p:cNvPr id="434" name="Google Shape;434;p53" title="AdobeStock_1010047626.jpeg"/>
          <p:cNvPicPr preferRelativeResize="0"/>
          <p:nvPr/>
        </p:nvPicPr>
        <p:blipFill>
          <a:blip r:embed="rId3">
            <a:alphaModFix/>
          </a:blip>
          <a:stretch>
            <a:fillRect/>
          </a:stretch>
        </p:blipFill>
        <p:spPr>
          <a:xfrm>
            <a:off x="7000800" y="2212556"/>
            <a:ext cx="914401" cy="619761"/>
          </a:xfrm>
          <a:prstGeom prst="rect">
            <a:avLst/>
          </a:prstGeom>
          <a:noFill/>
          <a:ln>
            <a:noFill/>
          </a:ln>
        </p:spPr>
      </p:pic>
      <p:cxnSp>
        <p:nvCxnSpPr>
          <p:cNvPr id="435" name="Google Shape;435;p53"/>
          <p:cNvCxnSpPr/>
          <p:nvPr/>
        </p:nvCxnSpPr>
        <p:spPr>
          <a:xfrm flipH="1">
            <a:off x="6324750" y="2868725"/>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36" name="Google Shape;436;p53"/>
          <p:cNvCxnSpPr/>
          <p:nvPr/>
        </p:nvCxnSpPr>
        <p:spPr>
          <a:xfrm>
            <a:off x="6565057" y="2868725"/>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437" name="Google Shape;437;p53"/>
          <p:cNvCxnSpPr/>
          <p:nvPr/>
        </p:nvCxnSpPr>
        <p:spPr>
          <a:xfrm flipH="1">
            <a:off x="4974900" y="2864050"/>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38" name="Google Shape;438;p53"/>
          <p:cNvCxnSpPr/>
          <p:nvPr/>
        </p:nvCxnSpPr>
        <p:spPr>
          <a:xfrm>
            <a:off x="5215207" y="2864050"/>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439" name="Google Shape;439;p53"/>
          <p:cNvCxnSpPr/>
          <p:nvPr/>
        </p:nvCxnSpPr>
        <p:spPr>
          <a:xfrm flipH="1">
            <a:off x="3984500" y="2827650"/>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40" name="Google Shape;440;p53"/>
          <p:cNvCxnSpPr/>
          <p:nvPr/>
        </p:nvCxnSpPr>
        <p:spPr>
          <a:xfrm>
            <a:off x="4224807" y="2827650"/>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441" name="Google Shape;441;p53"/>
          <p:cNvCxnSpPr/>
          <p:nvPr/>
        </p:nvCxnSpPr>
        <p:spPr>
          <a:xfrm flipH="1">
            <a:off x="7220425" y="2918150"/>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42" name="Google Shape;442;p53"/>
          <p:cNvCxnSpPr/>
          <p:nvPr/>
        </p:nvCxnSpPr>
        <p:spPr>
          <a:xfrm>
            <a:off x="7460732" y="2918150"/>
            <a:ext cx="197400" cy="943800"/>
          </a:xfrm>
          <a:prstGeom prst="straightConnector1">
            <a:avLst/>
          </a:prstGeom>
          <a:noFill/>
          <a:ln cap="flat" cmpd="sng" w="38100">
            <a:solidFill>
              <a:srgbClr val="783F04"/>
            </a:solidFill>
            <a:prstDash val="solid"/>
            <a:round/>
            <a:headEnd len="med" w="med" type="none"/>
            <a:tailEnd len="med" w="med" type="none"/>
          </a:ln>
        </p:spPr>
      </p:cxnSp>
      <p:sp>
        <p:nvSpPr>
          <p:cNvPr id="443" name="Google Shape;443;p53"/>
          <p:cNvSpPr txBox="1"/>
          <p:nvPr/>
        </p:nvSpPr>
        <p:spPr>
          <a:xfrm>
            <a:off x="3905999" y="7296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44" name="Google Shape;444;p53"/>
          <p:cNvSpPr txBox="1"/>
          <p:nvPr/>
        </p:nvSpPr>
        <p:spPr>
          <a:xfrm>
            <a:off x="5022924" y="73619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45" name="Google Shape;445;p53"/>
          <p:cNvSpPr txBox="1"/>
          <p:nvPr/>
        </p:nvSpPr>
        <p:spPr>
          <a:xfrm>
            <a:off x="6517824" y="708607"/>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46" name="Google Shape;446;p53"/>
          <p:cNvSpPr txBox="1"/>
          <p:nvPr/>
        </p:nvSpPr>
        <p:spPr>
          <a:xfrm>
            <a:off x="3799999" y="17786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47" name="Google Shape;447;p53"/>
          <p:cNvSpPr txBox="1"/>
          <p:nvPr/>
        </p:nvSpPr>
        <p:spPr>
          <a:xfrm>
            <a:off x="4969074" y="17615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48" name="Google Shape;448;p53"/>
          <p:cNvSpPr txBox="1"/>
          <p:nvPr/>
        </p:nvSpPr>
        <p:spPr>
          <a:xfrm>
            <a:off x="6140249" y="1788650"/>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sp>
        <p:nvSpPr>
          <p:cNvPr id="449" name="Google Shape;449;p53"/>
          <p:cNvSpPr txBox="1"/>
          <p:nvPr/>
        </p:nvSpPr>
        <p:spPr>
          <a:xfrm>
            <a:off x="7070524" y="18133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pic>
        <p:nvPicPr>
          <p:cNvPr id="450" name="Google Shape;450;p53" title="AdobeStock_1010047626.jpeg"/>
          <p:cNvPicPr preferRelativeResize="0"/>
          <p:nvPr/>
        </p:nvPicPr>
        <p:blipFill>
          <a:blip r:embed="rId3">
            <a:alphaModFix/>
          </a:blip>
          <a:stretch>
            <a:fillRect/>
          </a:stretch>
        </p:blipFill>
        <p:spPr>
          <a:xfrm>
            <a:off x="4083600" y="3762452"/>
            <a:ext cx="576952" cy="391049"/>
          </a:xfrm>
          <a:prstGeom prst="rect">
            <a:avLst/>
          </a:prstGeom>
          <a:noFill/>
          <a:ln>
            <a:noFill/>
          </a:ln>
        </p:spPr>
      </p:pic>
      <p:pic>
        <p:nvPicPr>
          <p:cNvPr id="451" name="Google Shape;451;p53" title="AdobeStock_668633242.jpeg"/>
          <p:cNvPicPr preferRelativeResize="0"/>
          <p:nvPr/>
        </p:nvPicPr>
        <p:blipFill>
          <a:blip r:embed="rId4">
            <a:alphaModFix/>
          </a:blip>
          <a:stretch>
            <a:fillRect/>
          </a:stretch>
        </p:blipFill>
        <p:spPr>
          <a:xfrm>
            <a:off x="3399272" y="3762450"/>
            <a:ext cx="585216" cy="390144"/>
          </a:xfrm>
          <a:prstGeom prst="rect">
            <a:avLst/>
          </a:prstGeom>
          <a:noFill/>
          <a:ln>
            <a:noFill/>
          </a:ln>
        </p:spPr>
      </p:pic>
      <p:pic>
        <p:nvPicPr>
          <p:cNvPr id="452" name="Google Shape;452;p53" title="AdobeStock_668633242.jpeg"/>
          <p:cNvPicPr preferRelativeResize="0"/>
          <p:nvPr/>
        </p:nvPicPr>
        <p:blipFill>
          <a:blip r:embed="rId4">
            <a:alphaModFix/>
          </a:blip>
          <a:stretch>
            <a:fillRect/>
          </a:stretch>
        </p:blipFill>
        <p:spPr>
          <a:xfrm>
            <a:off x="4660547" y="3807850"/>
            <a:ext cx="585216" cy="390144"/>
          </a:xfrm>
          <a:prstGeom prst="rect">
            <a:avLst/>
          </a:prstGeom>
          <a:noFill/>
          <a:ln>
            <a:noFill/>
          </a:ln>
        </p:spPr>
      </p:pic>
      <p:pic>
        <p:nvPicPr>
          <p:cNvPr id="453" name="Google Shape;453;p53" title="AdobeStock_1010049481.jpeg"/>
          <p:cNvPicPr preferRelativeResize="0"/>
          <p:nvPr/>
        </p:nvPicPr>
        <p:blipFill>
          <a:blip r:embed="rId5">
            <a:alphaModFix/>
          </a:blip>
          <a:stretch>
            <a:fillRect/>
          </a:stretch>
        </p:blipFill>
        <p:spPr>
          <a:xfrm>
            <a:off x="5196371" y="3810900"/>
            <a:ext cx="576072" cy="384050"/>
          </a:xfrm>
          <a:prstGeom prst="rect">
            <a:avLst/>
          </a:prstGeom>
          <a:noFill/>
          <a:ln>
            <a:noFill/>
          </a:ln>
        </p:spPr>
      </p:pic>
      <p:pic>
        <p:nvPicPr>
          <p:cNvPr id="454" name="Google Shape;454;p53" title="AdobeStock_1010047626.jpeg"/>
          <p:cNvPicPr preferRelativeResize="0"/>
          <p:nvPr/>
        </p:nvPicPr>
        <p:blipFill>
          <a:blip r:embed="rId3">
            <a:alphaModFix/>
          </a:blip>
          <a:stretch>
            <a:fillRect/>
          </a:stretch>
        </p:blipFill>
        <p:spPr>
          <a:xfrm>
            <a:off x="5921825" y="3812077"/>
            <a:ext cx="576952" cy="391049"/>
          </a:xfrm>
          <a:prstGeom prst="rect">
            <a:avLst/>
          </a:prstGeom>
          <a:noFill/>
          <a:ln>
            <a:noFill/>
          </a:ln>
        </p:spPr>
      </p:pic>
      <p:pic>
        <p:nvPicPr>
          <p:cNvPr id="455" name="Google Shape;455;p53" title="AdobeStock_668633242.jpeg"/>
          <p:cNvPicPr preferRelativeResize="0"/>
          <p:nvPr/>
        </p:nvPicPr>
        <p:blipFill>
          <a:blip r:embed="rId4">
            <a:alphaModFix/>
          </a:blip>
          <a:stretch>
            <a:fillRect/>
          </a:stretch>
        </p:blipFill>
        <p:spPr>
          <a:xfrm>
            <a:off x="6452360" y="3855075"/>
            <a:ext cx="585216" cy="390144"/>
          </a:xfrm>
          <a:prstGeom prst="rect">
            <a:avLst/>
          </a:prstGeom>
          <a:noFill/>
          <a:ln>
            <a:noFill/>
          </a:ln>
        </p:spPr>
      </p:pic>
      <p:pic>
        <p:nvPicPr>
          <p:cNvPr id="456" name="Google Shape;456;p53" title="AdobeStock_1010049481.jpeg"/>
          <p:cNvPicPr preferRelativeResize="0"/>
          <p:nvPr/>
        </p:nvPicPr>
        <p:blipFill>
          <a:blip r:embed="rId5">
            <a:alphaModFix/>
          </a:blip>
          <a:stretch>
            <a:fillRect/>
          </a:stretch>
        </p:blipFill>
        <p:spPr>
          <a:xfrm>
            <a:off x="7052534" y="3858125"/>
            <a:ext cx="576072" cy="384050"/>
          </a:xfrm>
          <a:prstGeom prst="rect">
            <a:avLst/>
          </a:prstGeom>
          <a:noFill/>
          <a:ln>
            <a:noFill/>
          </a:ln>
        </p:spPr>
      </p:pic>
      <p:pic>
        <p:nvPicPr>
          <p:cNvPr id="457" name="Google Shape;457;p53" title="AdobeStock_668633242.jpeg"/>
          <p:cNvPicPr preferRelativeResize="0"/>
          <p:nvPr/>
        </p:nvPicPr>
        <p:blipFill>
          <a:blip r:embed="rId4">
            <a:alphaModFix/>
          </a:blip>
          <a:stretch>
            <a:fillRect/>
          </a:stretch>
        </p:blipFill>
        <p:spPr>
          <a:xfrm>
            <a:off x="7628610" y="3855075"/>
            <a:ext cx="585216" cy="390144"/>
          </a:xfrm>
          <a:prstGeom prst="rect">
            <a:avLst/>
          </a:prstGeom>
          <a:noFill/>
          <a:ln>
            <a:noFill/>
          </a:ln>
        </p:spPr>
      </p:pic>
      <p:sp>
        <p:nvSpPr>
          <p:cNvPr id="458" name="Google Shape;458;p53"/>
          <p:cNvSpPr txBox="1"/>
          <p:nvPr/>
        </p:nvSpPr>
        <p:spPr>
          <a:xfrm>
            <a:off x="3288536"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459" name="Google Shape;459;p53"/>
          <p:cNvSpPr txBox="1"/>
          <p:nvPr/>
        </p:nvSpPr>
        <p:spPr>
          <a:xfrm>
            <a:off x="3968736"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460" name="Google Shape;460;p53"/>
          <p:cNvSpPr txBox="1"/>
          <p:nvPr/>
        </p:nvSpPr>
        <p:spPr>
          <a:xfrm>
            <a:off x="4606711"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461" name="Google Shape;461;p53"/>
          <p:cNvSpPr txBox="1"/>
          <p:nvPr/>
        </p:nvSpPr>
        <p:spPr>
          <a:xfrm>
            <a:off x="5196386"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462" name="Google Shape;462;p53"/>
          <p:cNvSpPr txBox="1"/>
          <p:nvPr/>
        </p:nvSpPr>
        <p:spPr>
          <a:xfrm>
            <a:off x="5829624"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463" name="Google Shape;463;p53"/>
          <p:cNvSpPr txBox="1"/>
          <p:nvPr/>
        </p:nvSpPr>
        <p:spPr>
          <a:xfrm>
            <a:off x="6419974"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464" name="Google Shape;464;p53"/>
          <p:cNvSpPr txBox="1"/>
          <p:nvPr/>
        </p:nvSpPr>
        <p:spPr>
          <a:xfrm>
            <a:off x="7052549"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465" name="Google Shape;465;p53"/>
          <p:cNvSpPr txBox="1"/>
          <p:nvPr/>
        </p:nvSpPr>
        <p:spPr>
          <a:xfrm>
            <a:off x="7643549"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466" name="Google Shape;466;p53"/>
          <p:cNvSpPr txBox="1"/>
          <p:nvPr/>
        </p:nvSpPr>
        <p:spPr>
          <a:xfrm>
            <a:off x="416077" y="1265988"/>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My choice</a:t>
            </a:r>
            <a:endParaRPr b="1" sz="1800">
              <a:solidFill>
                <a:schemeClr val="accent1"/>
              </a:solidFill>
            </a:endParaRPr>
          </a:p>
        </p:txBody>
      </p:sp>
      <p:sp>
        <p:nvSpPr>
          <p:cNvPr id="467" name="Google Shape;467;p53"/>
          <p:cNvSpPr txBox="1"/>
          <p:nvPr/>
        </p:nvSpPr>
        <p:spPr>
          <a:xfrm>
            <a:off x="351927" y="2184513"/>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Host’s choice</a:t>
            </a:r>
            <a:endParaRPr b="1" sz="1800">
              <a:solidFill>
                <a:schemeClr val="accent1"/>
              </a:solidFill>
            </a:endParaRPr>
          </a:p>
        </p:txBody>
      </p:sp>
      <p:sp>
        <p:nvSpPr>
          <p:cNvPr id="468" name="Google Shape;468;p53"/>
          <p:cNvSpPr txBox="1"/>
          <p:nvPr/>
        </p:nvSpPr>
        <p:spPr>
          <a:xfrm>
            <a:off x="416075" y="3103050"/>
            <a:ext cx="20889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38761D"/>
                </a:solidFill>
              </a:rPr>
              <a:t>Switch</a:t>
            </a:r>
            <a:r>
              <a:rPr b="1" lang="en" sz="1800">
                <a:solidFill>
                  <a:schemeClr val="dk2"/>
                </a:solidFill>
              </a:rPr>
              <a:t> or </a:t>
            </a:r>
            <a:r>
              <a:rPr b="1" lang="en" sz="1800">
                <a:solidFill>
                  <a:srgbClr val="783F04"/>
                </a:solidFill>
              </a:rPr>
              <a:t>stick</a:t>
            </a:r>
            <a:r>
              <a:rPr b="1" lang="en" sz="1800">
                <a:solidFill>
                  <a:srgbClr val="38761D"/>
                </a:solidFill>
              </a:rPr>
              <a:t> </a:t>
            </a:r>
            <a:r>
              <a:rPr b="1" lang="en" sz="1800">
                <a:solidFill>
                  <a:schemeClr val="dk1"/>
                </a:solidFill>
              </a:rPr>
              <a:t>?</a:t>
            </a:r>
            <a:endParaRPr b="1" sz="1800">
              <a:solidFill>
                <a:schemeClr val="dk1"/>
              </a:solidFill>
            </a:endParaRPr>
          </a:p>
        </p:txBody>
      </p:sp>
      <p:cxnSp>
        <p:nvCxnSpPr>
          <p:cNvPr id="469" name="Google Shape;469;p53"/>
          <p:cNvCxnSpPr/>
          <p:nvPr/>
        </p:nvCxnSpPr>
        <p:spPr>
          <a:xfrm flipH="1">
            <a:off x="489025" y="3515550"/>
            <a:ext cx="720900" cy="8700"/>
          </a:xfrm>
          <a:prstGeom prst="straightConnector1">
            <a:avLst/>
          </a:prstGeom>
          <a:noFill/>
          <a:ln cap="flat" cmpd="sng" w="38100">
            <a:solidFill>
              <a:srgbClr val="38761D"/>
            </a:solidFill>
            <a:prstDash val="dash"/>
            <a:round/>
            <a:headEnd len="med" w="med" type="none"/>
            <a:tailEnd len="med" w="med" type="none"/>
          </a:ln>
        </p:spPr>
      </p:cxnSp>
      <p:cxnSp>
        <p:nvCxnSpPr>
          <p:cNvPr id="470" name="Google Shape;470;p53"/>
          <p:cNvCxnSpPr/>
          <p:nvPr/>
        </p:nvCxnSpPr>
        <p:spPr>
          <a:xfrm flipH="1" rot="10800000">
            <a:off x="1538500" y="3518101"/>
            <a:ext cx="753300" cy="3600"/>
          </a:xfrm>
          <a:prstGeom prst="straightConnector1">
            <a:avLst/>
          </a:prstGeom>
          <a:noFill/>
          <a:ln cap="flat" cmpd="sng" w="38100">
            <a:solidFill>
              <a:srgbClr val="783F04"/>
            </a:solidFill>
            <a:prstDash val="solid"/>
            <a:round/>
            <a:headEnd len="med" w="med" type="none"/>
            <a:tailEnd len="med" w="med" type="none"/>
          </a:ln>
        </p:spPr>
      </p:cxnSp>
      <p:sp>
        <p:nvSpPr>
          <p:cNvPr id="471" name="Google Shape;47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54" title="AdobeStock_1010047626.jpeg"/>
          <p:cNvPicPr preferRelativeResize="0"/>
          <p:nvPr/>
        </p:nvPicPr>
        <p:blipFill>
          <a:blip r:embed="rId3">
            <a:alphaModFix/>
          </a:blip>
          <a:stretch>
            <a:fillRect/>
          </a:stretch>
        </p:blipFill>
        <p:spPr>
          <a:xfrm>
            <a:off x="3852150" y="1147956"/>
            <a:ext cx="914401" cy="619761"/>
          </a:xfrm>
          <a:prstGeom prst="rect">
            <a:avLst/>
          </a:prstGeom>
          <a:noFill/>
          <a:ln>
            <a:noFill/>
          </a:ln>
        </p:spPr>
      </p:pic>
      <p:pic>
        <p:nvPicPr>
          <p:cNvPr id="477" name="Google Shape;477;p54" title="AdobeStock_668633242.jpeg"/>
          <p:cNvPicPr preferRelativeResize="0"/>
          <p:nvPr/>
        </p:nvPicPr>
        <p:blipFill>
          <a:blip r:embed="rId4">
            <a:alphaModFix/>
          </a:blip>
          <a:stretch>
            <a:fillRect/>
          </a:stretch>
        </p:blipFill>
        <p:spPr>
          <a:xfrm>
            <a:off x="6463965" y="1154502"/>
            <a:ext cx="914401" cy="616018"/>
          </a:xfrm>
          <a:prstGeom prst="rect">
            <a:avLst/>
          </a:prstGeom>
          <a:noFill/>
          <a:ln>
            <a:noFill/>
          </a:ln>
        </p:spPr>
      </p:pic>
      <p:pic>
        <p:nvPicPr>
          <p:cNvPr id="478" name="Google Shape;478;p54" title="AdobeStock_1010049481.jpeg"/>
          <p:cNvPicPr preferRelativeResize="0"/>
          <p:nvPr/>
        </p:nvPicPr>
        <p:blipFill>
          <a:blip r:embed="rId5">
            <a:alphaModFix/>
          </a:blip>
          <a:stretch>
            <a:fillRect/>
          </a:stretch>
        </p:blipFill>
        <p:spPr>
          <a:xfrm>
            <a:off x="4915221" y="1154088"/>
            <a:ext cx="914401" cy="607490"/>
          </a:xfrm>
          <a:prstGeom prst="rect">
            <a:avLst/>
          </a:prstGeom>
          <a:noFill/>
          <a:ln>
            <a:noFill/>
          </a:ln>
        </p:spPr>
      </p:pic>
      <p:pic>
        <p:nvPicPr>
          <p:cNvPr id="479" name="Google Shape;479;p54" title="AdobeStock_1010049481.jpeg"/>
          <p:cNvPicPr preferRelativeResize="0"/>
          <p:nvPr/>
        </p:nvPicPr>
        <p:blipFill>
          <a:blip r:embed="rId5">
            <a:alphaModFix/>
          </a:blip>
          <a:stretch>
            <a:fillRect/>
          </a:stretch>
        </p:blipFill>
        <p:spPr>
          <a:xfrm>
            <a:off x="3746146" y="2173163"/>
            <a:ext cx="914401" cy="607490"/>
          </a:xfrm>
          <a:prstGeom prst="rect">
            <a:avLst/>
          </a:prstGeom>
          <a:noFill/>
          <a:ln>
            <a:noFill/>
          </a:ln>
        </p:spPr>
      </p:pic>
      <p:pic>
        <p:nvPicPr>
          <p:cNvPr id="480" name="Google Shape;480;p54" title="AdobeStock_1010047626.jpeg"/>
          <p:cNvPicPr preferRelativeResize="0"/>
          <p:nvPr/>
        </p:nvPicPr>
        <p:blipFill>
          <a:blip r:embed="rId3">
            <a:alphaModFix/>
          </a:blip>
          <a:stretch>
            <a:fillRect/>
          </a:stretch>
        </p:blipFill>
        <p:spPr>
          <a:xfrm>
            <a:off x="4845500" y="2167031"/>
            <a:ext cx="914401" cy="619761"/>
          </a:xfrm>
          <a:prstGeom prst="rect">
            <a:avLst/>
          </a:prstGeom>
          <a:noFill/>
          <a:ln>
            <a:noFill/>
          </a:ln>
        </p:spPr>
      </p:pic>
      <p:pic>
        <p:nvPicPr>
          <p:cNvPr id="481" name="Google Shape;481;p54" title="AdobeStock_1010049481.jpeg"/>
          <p:cNvPicPr preferRelativeResize="0"/>
          <p:nvPr/>
        </p:nvPicPr>
        <p:blipFill>
          <a:blip r:embed="rId5">
            <a:alphaModFix/>
          </a:blip>
          <a:stretch>
            <a:fillRect/>
          </a:stretch>
        </p:blipFill>
        <p:spPr>
          <a:xfrm>
            <a:off x="6086396" y="2218688"/>
            <a:ext cx="914401" cy="607490"/>
          </a:xfrm>
          <a:prstGeom prst="rect">
            <a:avLst/>
          </a:prstGeom>
          <a:noFill/>
          <a:ln>
            <a:noFill/>
          </a:ln>
        </p:spPr>
      </p:pic>
      <p:pic>
        <p:nvPicPr>
          <p:cNvPr id="482" name="Google Shape;482;p54" title="AdobeStock_1010047626.jpeg"/>
          <p:cNvPicPr preferRelativeResize="0"/>
          <p:nvPr/>
        </p:nvPicPr>
        <p:blipFill>
          <a:blip r:embed="rId3">
            <a:alphaModFix/>
          </a:blip>
          <a:stretch>
            <a:fillRect/>
          </a:stretch>
        </p:blipFill>
        <p:spPr>
          <a:xfrm>
            <a:off x="7000800" y="2212556"/>
            <a:ext cx="914401" cy="619761"/>
          </a:xfrm>
          <a:prstGeom prst="rect">
            <a:avLst/>
          </a:prstGeom>
          <a:noFill/>
          <a:ln>
            <a:noFill/>
          </a:ln>
        </p:spPr>
      </p:pic>
      <p:cxnSp>
        <p:nvCxnSpPr>
          <p:cNvPr id="483" name="Google Shape;483;p54"/>
          <p:cNvCxnSpPr/>
          <p:nvPr/>
        </p:nvCxnSpPr>
        <p:spPr>
          <a:xfrm flipH="1">
            <a:off x="6324750" y="2868725"/>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84" name="Google Shape;484;p54"/>
          <p:cNvCxnSpPr/>
          <p:nvPr/>
        </p:nvCxnSpPr>
        <p:spPr>
          <a:xfrm flipH="1">
            <a:off x="4974900" y="2864050"/>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85" name="Google Shape;485;p54"/>
          <p:cNvCxnSpPr/>
          <p:nvPr/>
        </p:nvCxnSpPr>
        <p:spPr>
          <a:xfrm flipH="1">
            <a:off x="3984500" y="2827650"/>
            <a:ext cx="240300" cy="943800"/>
          </a:xfrm>
          <a:prstGeom prst="straightConnector1">
            <a:avLst/>
          </a:prstGeom>
          <a:noFill/>
          <a:ln cap="flat" cmpd="sng" w="38100">
            <a:solidFill>
              <a:srgbClr val="38761D"/>
            </a:solidFill>
            <a:prstDash val="dash"/>
            <a:round/>
            <a:headEnd len="med" w="med" type="none"/>
            <a:tailEnd len="med" w="med" type="none"/>
          </a:ln>
        </p:spPr>
      </p:cxnSp>
      <p:cxnSp>
        <p:nvCxnSpPr>
          <p:cNvPr id="486" name="Google Shape;486;p54"/>
          <p:cNvCxnSpPr/>
          <p:nvPr/>
        </p:nvCxnSpPr>
        <p:spPr>
          <a:xfrm flipH="1">
            <a:off x="7220425" y="2918150"/>
            <a:ext cx="240300" cy="943800"/>
          </a:xfrm>
          <a:prstGeom prst="straightConnector1">
            <a:avLst/>
          </a:prstGeom>
          <a:noFill/>
          <a:ln cap="flat" cmpd="sng" w="38100">
            <a:solidFill>
              <a:srgbClr val="38761D"/>
            </a:solidFill>
            <a:prstDash val="dash"/>
            <a:round/>
            <a:headEnd len="med" w="med" type="none"/>
            <a:tailEnd len="med" w="med" type="none"/>
          </a:ln>
        </p:spPr>
      </p:cxnSp>
      <p:sp>
        <p:nvSpPr>
          <p:cNvPr id="487" name="Google Shape;487;p54"/>
          <p:cNvSpPr txBox="1"/>
          <p:nvPr/>
        </p:nvSpPr>
        <p:spPr>
          <a:xfrm>
            <a:off x="3905999" y="7296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88" name="Google Shape;488;p54"/>
          <p:cNvSpPr txBox="1"/>
          <p:nvPr/>
        </p:nvSpPr>
        <p:spPr>
          <a:xfrm>
            <a:off x="5022924" y="73619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89" name="Google Shape;489;p54"/>
          <p:cNvSpPr txBox="1"/>
          <p:nvPr/>
        </p:nvSpPr>
        <p:spPr>
          <a:xfrm>
            <a:off x="6517824" y="708607"/>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490" name="Google Shape;490;p54"/>
          <p:cNvSpPr txBox="1"/>
          <p:nvPr/>
        </p:nvSpPr>
        <p:spPr>
          <a:xfrm>
            <a:off x="3799999" y="17786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91" name="Google Shape;491;p54"/>
          <p:cNvSpPr txBox="1"/>
          <p:nvPr/>
        </p:nvSpPr>
        <p:spPr>
          <a:xfrm>
            <a:off x="4969074" y="17615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492" name="Google Shape;492;p54"/>
          <p:cNvSpPr txBox="1"/>
          <p:nvPr/>
        </p:nvSpPr>
        <p:spPr>
          <a:xfrm>
            <a:off x="6140249" y="1788650"/>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sp>
        <p:nvSpPr>
          <p:cNvPr id="493" name="Google Shape;493;p54"/>
          <p:cNvSpPr txBox="1"/>
          <p:nvPr/>
        </p:nvSpPr>
        <p:spPr>
          <a:xfrm>
            <a:off x="7070524" y="18133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pic>
        <p:nvPicPr>
          <p:cNvPr id="494" name="Google Shape;494;p54" title="AdobeStock_668633242.jpeg"/>
          <p:cNvPicPr preferRelativeResize="0"/>
          <p:nvPr/>
        </p:nvPicPr>
        <p:blipFill>
          <a:blip r:embed="rId4">
            <a:alphaModFix/>
          </a:blip>
          <a:stretch>
            <a:fillRect/>
          </a:stretch>
        </p:blipFill>
        <p:spPr>
          <a:xfrm>
            <a:off x="3399272" y="3762450"/>
            <a:ext cx="585216" cy="390144"/>
          </a:xfrm>
          <a:prstGeom prst="rect">
            <a:avLst/>
          </a:prstGeom>
          <a:noFill/>
          <a:ln>
            <a:noFill/>
          </a:ln>
        </p:spPr>
      </p:pic>
      <p:pic>
        <p:nvPicPr>
          <p:cNvPr id="495" name="Google Shape;495;p54" title="AdobeStock_668633242.jpeg"/>
          <p:cNvPicPr preferRelativeResize="0"/>
          <p:nvPr/>
        </p:nvPicPr>
        <p:blipFill>
          <a:blip r:embed="rId4">
            <a:alphaModFix/>
          </a:blip>
          <a:stretch>
            <a:fillRect/>
          </a:stretch>
        </p:blipFill>
        <p:spPr>
          <a:xfrm>
            <a:off x="4660547" y="3807850"/>
            <a:ext cx="585216" cy="390144"/>
          </a:xfrm>
          <a:prstGeom prst="rect">
            <a:avLst/>
          </a:prstGeom>
          <a:noFill/>
          <a:ln>
            <a:noFill/>
          </a:ln>
        </p:spPr>
      </p:pic>
      <p:pic>
        <p:nvPicPr>
          <p:cNvPr id="496" name="Google Shape;496;p54" title="AdobeStock_1010047626.jpeg"/>
          <p:cNvPicPr preferRelativeResize="0"/>
          <p:nvPr/>
        </p:nvPicPr>
        <p:blipFill>
          <a:blip r:embed="rId3">
            <a:alphaModFix/>
          </a:blip>
          <a:stretch>
            <a:fillRect/>
          </a:stretch>
        </p:blipFill>
        <p:spPr>
          <a:xfrm>
            <a:off x="5921825" y="3812077"/>
            <a:ext cx="576952" cy="391049"/>
          </a:xfrm>
          <a:prstGeom prst="rect">
            <a:avLst/>
          </a:prstGeom>
          <a:noFill/>
          <a:ln>
            <a:noFill/>
          </a:ln>
        </p:spPr>
      </p:pic>
      <p:pic>
        <p:nvPicPr>
          <p:cNvPr id="497" name="Google Shape;497;p54" title="AdobeStock_1010049481.jpeg"/>
          <p:cNvPicPr preferRelativeResize="0"/>
          <p:nvPr/>
        </p:nvPicPr>
        <p:blipFill>
          <a:blip r:embed="rId5">
            <a:alphaModFix/>
          </a:blip>
          <a:stretch>
            <a:fillRect/>
          </a:stretch>
        </p:blipFill>
        <p:spPr>
          <a:xfrm>
            <a:off x="7052534" y="3858125"/>
            <a:ext cx="576072" cy="384050"/>
          </a:xfrm>
          <a:prstGeom prst="rect">
            <a:avLst/>
          </a:prstGeom>
          <a:noFill/>
          <a:ln>
            <a:noFill/>
          </a:ln>
        </p:spPr>
      </p:pic>
      <p:sp>
        <p:nvSpPr>
          <p:cNvPr id="498" name="Google Shape;498;p54"/>
          <p:cNvSpPr txBox="1"/>
          <p:nvPr/>
        </p:nvSpPr>
        <p:spPr>
          <a:xfrm>
            <a:off x="3288549"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499" name="Google Shape;499;p54"/>
          <p:cNvSpPr txBox="1"/>
          <p:nvPr/>
        </p:nvSpPr>
        <p:spPr>
          <a:xfrm>
            <a:off x="4606711"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500" name="Google Shape;500;p54"/>
          <p:cNvSpPr txBox="1"/>
          <p:nvPr/>
        </p:nvSpPr>
        <p:spPr>
          <a:xfrm>
            <a:off x="5829624"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501" name="Google Shape;501;p54"/>
          <p:cNvSpPr txBox="1"/>
          <p:nvPr/>
        </p:nvSpPr>
        <p:spPr>
          <a:xfrm>
            <a:off x="7052549"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502" name="Google Shape;502;p54"/>
          <p:cNvSpPr txBox="1"/>
          <p:nvPr/>
        </p:nvSpPr>
        <p:spPr>
          <a:xfrm>
            <a:off x="416077" y="1265988"/>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My choice</a:t>
            </a:r>
            <a:endParaRPr b="1" sz="1800">
              <a:solidFill>
                <a:schemeClr val="accent1"/>
              </a:solidFill>
            </a:endParaRPr>
          </a:p>
        </p:txBody>
      </p:sp>
      <p:sp>
        <p:nvSpPr>
          <p:cNvPr id="503" name="Google Shape;503;p54"/>
          <p:cNvSpPr txBox="1"/>
          <p:nvPr/>
        </p:nvSpPr>
        <p:spPr>
          <a:xfrm>
            <a:off x="351927" y="2184513"/>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Host’s choice</a:t>
            </a:r>
            <a:endParaRPr b="1" sz="1800">
              <a:solidFill>
                <a:schemeClr val="accent1"/>
              </a:solidFill>
            </a:endParaRPr>
          </a:p>
        </p:txBody>
      </p:sp>
      <p:sp>
        <p:nvSpPr>
          <p:cNvPr id="504" name="Google Shape;504;p54"/>
          <p:cNvSpPr txBox="1"/>
          <p:nvPr/>
        </p:nvSpPr>
        <p:spPr>
          <a:xfrm>
            <a:off x="416075" y="3103050"/>
            <a:ext cx="20889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1"/>
              </a:solidFill>
            </a:endParaRPr>
          </a:p>
        </p:txBody>
      </p:sp>
      <p:sp>
        <p:nvSpPr>
          <p:cNvPr id="505" name="Google Shape;50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8761D"/>
                </a:solidFill>
              </a:rPr>
              <a:t>Switch Universe</a:t>
            </a:r>
            <a:r>
              <a:rPr lang="en"/>
              <a:t> </a:t>
            </a:r>
            <a:endParaRPr/>
          </a:p>
        </p:txBody>
      </p:sp>
      <p:pic>
        <p:nvPicPr>
          <p:cNvPr id="506" name="Google Shape;506;p54" title="AdobeStock_668633242.jpeg"/>
          <p:cNvPicPr preferRelativeResize="0"/>
          <p:nvPr/>
        </p:nvPicPr>
        <p:blipFill>
          <a:blip r:embed="rId4">
            <a:alphaModFix/>
          </a:blip>
          <a:stretch>
            <a:fillRect/>
          </a:stretch>
        </p:blipFill>
        <p:spPr>
          <a:xfrm>
            <a:off x="471047" y="3103050"/>
            <a:ext cx="585216" cy="390144"/>
          </a:xfrm>
          <a:prstGeom prst="rect">
            <a:avLst/>
          </a:prstGeom>
          <a:noFill/>
          <a:ln>
            <a:noFill/>
          </a:ln>
        </p:spPr>
      </p:pic>
      <p:sp>
        <p:nvSpPr>
          <p:cNvPr id="507" name="Google Shape;507;p54"/>
          <p:cNvSpPr txBox="1"/>
          <p:nvPr/>
        </p:nvSpPr>
        <p:spPr>
          <a:xfrm>
            <a:off x="1141225" y="3068700"/>
            <a:ext cx="1673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 ⅓ = ⅔  </a:t>
            </a:r>
            <a:endParaRPr b="1" sz="1800">
              <a:solidFill>
                <a:schemeClr val="dk2"/>
              </a:solidFill>
            </a:endParaRPr>
          </a:p>
        </p:txBody>
      </p:sp>
      <p:pic>
        <p:nvPicPr>
          <p:cNvPr id="508" name="Google Shape;508;p54" title="AdobeStock_1010047626.jpeg"/>
          <p:cNvPicPr preferRelativeResize="0"/>
          <p:nvPr/>
        </p:nvPicPr>
        <p:blipFill>
          <a:blip r:embed="rId3">
            <a:alphaModFix/>
          </a:blip>
          <a:stretch>
            <a:fillRect/>
          </a:stretch>
        </p:blipFill>
        <p:spPr>
          <a:xfrm>
            <a:off x="256525" y="3663802"/>
            <a:ext cx="576952" cy="391049"/>
          </a:xfrm>
          <a:prstGeom prst="rect">
            <a:avLst/>
          </a:prstGeom>
          <a:noFill/>
          <a:ln>
            <a:noFill/>
          </a:ln>
        </p:spPr>
      </p:pic>
      <p:pic>
        <p:nvPicPr>
          <p:cNvPr id="509" name="Google Shape;509;p54" title="AdobeStock_1010049481.jpeg"/>
          <p:cNvPicPr preferRelativeResize="0"/>
          <p:nvPr/>
        </p:nvPicPr>
        <p:blipFill>
          <a:blip r:embed="rId5">
            <a:alphaModFix/>
          </a:blip>
          <a:stretch>
            <a:fillRect/>
          </a:stretch>
        </p:blipFill>
        <p:spPr>
          <a:xfrm>
            <a:off x="833471" y="3667300"/>
            <a:ext cx="576072" cy="384050"/>
          </a:xfrm>
          <a:prstGeom prst="rect">
            <a:avLst/>
          </a:prstGeom>
          <a:noFill/>
          <a:ln>
            <a:noFill/>
          </a:ln>
        </p:spPr>
      </p:pic>
      <p:sp>
        <p:nvSpPr>
          <p:cNvPr id="510" name="Google Shape;510;p54"/>
          <p:cNvSpPr txBox="1"/>
          <p:nvPr/>
        </p:nvSpPr>
        <p:spPr>
          <a:xfrm>
            <a:off x="1296275" y="3628475"/>
            <a:ext cx="18960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p=⅙  + ⅙  = ⅓   </a:t>
            </a:r>
            <a:endParaRPr b="1" sz="1800">
              <a:solidFill>
                <a:schemeClr val="dk2"/>
              </a:solidFill>
            </a:endParaRPr>
          </a:p>
        </p:txBody>
      </p:sp>
      <p:pic>
        <p:nvPicPr>
          <p:cNvPr id="511" name="Google Shape;511;p54" title="AdobeStock_1010700130.jpeg"/>
          <p:cNvPicPr preferRelativeResize="0"/>
          <p:nvPr/>
        </p:nvPicPr>
        <p:blipFill rotWithShape="1">
          <a:blip r:embed="rId6">
            <a:alphaModFix/>
          </a:blip>
          <a:srcRect b="36364" l="0" r="78840" t="35254"/>
          <a:stretch/>
        </p:blipFill>
        <p:spPr>
          <a:xfrm>
            <a:off x="0" y="4292772"/>
            <a:ext cx="914401" cy="817478"/>
          </a:xfrm>
          <a:prstGeom prst="rect">
            <a:avLst/>
          </a:prstGeom>
          <a:noFill/>
          <a:ln>
            <a:noFill/>
          </a:ln>
        </p:spPr>
      </p:pic>
      <p:pic>
        <p:nvPicPr>
          <p:cNvPr id="512" name="Google Shape;512;p54" title="AdobeStock_1010700130.jpeg"/>
          <p:cNvPicPr preferRelativeResize="0"/>
          <p:nvPr/>
        </p:nvPicPr>
        <p:blipFill rotWithShape="1">
          <a:blip r:embed="rId6">
            <a:alphaModFix/>
          </a:blip>
          <a:srcRect b="36364" l="0" r="78840" t="35254"/>
          <a:stretch/>
        </p:blipFill>
        <p:spPr>
          <a:xfrm>
            <a:off x="833475" y="4292772"/>
            <a:ext cx="914401" cy="817478"/>
          </a:xfrm>
          <a:prstGeom prst="rect">
            <a:avLst/>
          </a:prstGeom>
          <a:noFill/>
          <a:ln>
            <a:noFill/>
          </a:ln>
        </p:spPr>
      </p:pic>
      <p:pic>
        <p:nvPicPr>
          <p:cNvPr id="513" name="Google Shape;513;p54" title="AdobeStock_1010700130.jpeg"/>
          <p:cNvPicPr preferRelativeResize="0"/>
          <p:nvPr/>
        </p:nvPicPr>
        <p:blipFill rotWithShape="1">
          <a:blip r:embed="rId6">
            <a:alphaModFix/>
          </a:blip>
          <a:srcRect b="35810" l="78840" r="0" t="35807"/>
          <a:stretch/>
        </p:blipFill>
        <p:spPr>
          <a:xfrm>
            <a:off x="1644275" y="4292772"/>
            <a:ext cx="914401" cy="81747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55" title="AdobeStock_1010047626.jpeg"/>
          <p:cNvPicPr preferRelativeResize="0"/>
          <p:nvPr/>
        </p:nvPicPr>
        <p:blipFill>
          <a:blip r:embed="rId3">
            <a:alphaModFix/>
          </a:blip>
          <a:stretch>
            <a:fillRect/>
          </a:stretch>
        </p:blipFill>
        <p:spPr>
          <a:xfrm>
            <a:off x="3852150" y="1147956"/>
            <a:ext cx="914401" cy="619761"/>
          </a:xfrm>
          <a:prstGeom prst="rect">
            <a:avLst/>
          </a:prstGeom>
          <a:noFill/>
          <a:ln>
            <a:noFill/>
          </a:ln>
        </p:spPr>
      </p:pic>
      <p:pic>
        <p:nvPicPr>
          <p:cNvPr id="519" name="Google Shape;519;p55" title="AdobeStock_668633242.jpeg"/>
          <p:cNvPicPr preferRelativeResize="0"/>
          <p:nvPr/>
        </p:nvPicPr>
        <p:blipFill>
          <a:blip r:embed="rId4">
            <a:alphaModFix/>
          </a:blip>
          <a:stretch>
            <a:fillRect/>
          </a:stretch>
        </p:blipFill>
        <p:spPr>
          <a:xfrm>
            <a:off x="6463965" y="1154502"/>
            <a:ext cx="914401" cy="616018"/>
          </a:xfrm>
          <a:prstGeom prst="rect">
            <a:avLst/>
          </a:prstGeom>
          <a:noFill/>
          <a:ln>
            <a:noFill/>
          </a:ln>
        </p:spPr>
      </p:pic>
      <p:pic>
        <p:nvPicPr>
          <p:cNvPr id="520" name="Google Shape;520;p55" title="AdobeStock_1010049481.jpeg"/>
          <p:cNvPicPr preferRelativeResize="0"/>
          <p:nvPr/>
        </p:nvPicPr>
        <p:blipFill>
          <a:blip r:embed="rId5">
            <a:alphaModFix/>
          </a:blip>
          <a:stretch>
            <a:fillRect/>
          </a:stretch>
        </p:blipFill>
        <p:spPr>
          <a:xfrm>
            <a:off x="4915221" y="1154088"/>
            <a:ext cx="914401" cy="607490"/>
          </a:xfrm>
          <a:prstGeom prst="rect">
            <a:avLst/>
          </a:prstGeom>
          <a:noFill/>
          <a:ln>
            <a:noFill/>
          </a:ln>
        </p:spPr>
      </p:pic>
      <p:pic>
        <p:nvPicPr>
          <p:cNvPr id="521" name="Google Shape;521;p55" title="AdobeStock_1010049481.jpeg"/>
          <p:cNvPicPr preferRelativeResize="0"/>
          <p:nvPr/>
        </p:nvPicPr>
        <p:blipFill>
          <a:blip r:embed="rId5">
            <a:alphaModFix/>
          </a:blip>
          <a:stretch>
            <a:fillRect/>
          </a:stretch>
        </p:blipFill>
        <p:spPr>
          <a:xfrm>
            <a:off x="3746146" y="2173163"/>
            <a:ext cx="914401" cy="607490"/>
          </a:xfrm>
          <a:prstGeom prst="rect">
            <a:avLst/>
          </a:prstGeom>
          <a:noFill/>
          <a:ln>
            <a:noFill/>
          </a:ln>
        </p:spPr>
      </p:pic>
      <p:pic>
        <p:nvPicPr>
          <p:cNvPr id="522" name="Google Shape;522;p55" title="AdobeStock_1010047626.jpeg"/>
          <p:cNvPicPr preferRelativeResize="0"/>
          <p:nvPr/>
        </p:nvPicPr>
        <p:blipFill>
          <a:blip r:embed="rId3">
            <a:alphaModFix/>
          </a:blip>
          <a:stretch>
            <a:fillRect/>
          </a:stretch>
        </p:blipFill>
        <p:spPr>
          <a:xfrm>
            <a:off x="4845500" y="2167031"/>
            <a:ext cx="914401" cy="619761"/>
          </a:xfrm>
          <a:prstGeom prst="rect">
            <a:avLst/>
          </a:prstGeom>
          <a:noFill/>
          <a:ln>
            <a:noFill/>
          </a:ln>
        </p:spPr>
      </p:pic>
      <p:pic>
        <p:nvPicPr>
          <p:cNvPr id="523" name="Google Shape;523;p55" title="AdobeStock_1010049481.jpeg"/>
          <p:cNvPicPr preferRelativeResize="0"/>
          <p:nvPr/>
        </p:nvPicPr>
        <p:blipFill>
          <a:blip r:embed="rId5">
            <a:alphaModFix/>
          </a:blip>
          <a:stretch>
            <a:fillRect/>
          </a:stretch>
        </p:blipFill>
        <p:spPr>
          <a:xfrm>
            <a:off x="6086396" y="2218688"/>
            <a:ext cx="914401" cy="607490"/>
          </a:xfrm>
          <a:prstGeom prst="rect">
            <a:avLst/>
          </a:prstGeom>
          <a:noFill/>
          <a:ln>
            <a:noFill/>
          </a:ln>
        </p:spPr>
      </p:pic>
      <p:pic>
        <p:nvPicPr>
          <p:cNvPr id="524" name="Google Shape;524;p55" title="AdobeStock_1010047626.jpeg"/>
          <p:cNvPicPr preferRelativeResize="0"/>
          <p:nvPr/>
        </p:nvPicPr>
        <p:blipFill>
          <a:blip r:embed="rId3">
            <a:alphaModFix/>
          </a:blip>
          <a:stretch>
            <a:fillRect/>
          </a:stretch>
        </p:blipFill>
        <p:spPr>
          <a:xfrm>
            <a:off x="7000800" y="2212556"/>
            <a:ext cx="914401" cy="619761"/>
          </a:xfrm>
          <a:prstGeom prst="rect">
            <a:avLst/>
          </a:prstGeom>
          <a:noFill/>
          <a:ln>
            <a:noFill/>
          </a:ln>
        </p:spPr>
      </p:pic>
      <p:cxnSp>
        <p:nvCxnSpPr>
          <p:cNvPr id="525" name="Google Shape;525;p55"/>
          <p:cNvCxnSpPr/>
          <p:nvPr/>
        </p:nvCxnSpPr>
        <p:spPr>
          <a:xfrm>
            <a:off x="6565057" y="2868725"/>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526" name="Google Shape;526;p55"/>
          <p:cNvCxnSpPr/>
          <p:nvPr/>
        </p:nvCxnSpPr>
        <p:spPr>
          <a:xfrm>
            <a:off x="5215207" y="2864050"/>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527" name="Google Shape;527;p55"/>
          <p:cNvCxnSpPr/>
          <p:nvPr/>
        </p:nvCxnSpPr>
        <p:spPr>
          <a:xfrm>
            <a:off x="4224807" y="2827650"/>
            <a:ext cx="197400" cy="943800"/>
          </a:xfrm>
          <a:prstGeom prst="straightConnector1">
            <a:avLst/>
          </a:prstGeom>
          <a:noFill/>
          <a:ln cap="flat" cmpd="sng" w="38100">
            <a:solidFill>
              <a:srgbClr val="783F04"/>
            </a:solidFill>
            <a:prstDash val="solid"/>
            <a:round/>
            <a:headEnd len="med" w="med" type="none"/>
            <a:tailEnd len="med" w="med" type="none"/>
          </a:ln>
        </p:spPr>
      </p:cxnSp>
      <p:cxnSp>
        <p:nvCxnSpPr>
          <p:cNvPr id="528" name="Google Shape;528;p55"/>
          <p:cNvCxnSpPr/>
          <p:nvPr/>
        </p:nvCxnSpPr>
        <p:spPr>
          <a:xfrm>
            <a:off x="7460732" y="2918150"/>
            <a:ext cx="197400" cy="943800"/>
          </a:xfrm>
          <a:prstGeom prst="straightConnector1">
            <a:avLst/>
          </a:prstGeom>
          <a:noFill/>
          <a:ln cap="flat" cmpd="sng" w="38100">
            <a:solidFill>
              <a:srgbClr val="783F04"/>
            </a:solidFill>
            <a:prstDash val="solid"/>
            <a:round/>
            <a:headEnd len="med" w="med" type="none"/>
            <a:tailEnd len="med" w="med" type="none"/>
          </a:ln>
        </p:spPr>
      </p:cxnSp>
      <p:sp>
        <p:nvSpPr>
          <p:cNvPr id="529" name="Google Shape;529;p55"/>
          <p:cNvSpPr txBox="1"/>
          <p:nvPr/>
        </p:nvSpPr>
        <p:spPr>
          <a:xfrm>
            <a:off x="3905999" y="7296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530" name="Google Shape;530;p55"/>
          <p:cNvSpPr txBox="1"/>
          <p:nvPr/>
        </p:nvSpPr>
        <p:spPr>
          <a:xfrm>
            <a:off x="5022924" y="73619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531" name="Google Shape;531;p55"/>
          <p:cNvSpPr txBox="1"/>
          <p:nvPr/>
        </p:nvSpPr>
        <p:spPr>
          <a:xfrm>
            <a:off x="6517824" y="708607"/>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a:t>
            </a:r>
            <a:endParaRPr b="1" sz="1800">
              <a:solidFill>
                <a:schemeClr val="dk2"/>
              </a:solidFill>
            </a:endParaRPr>
          </a:p>
        </p:txBody>
      </p:sp>
      <p:sp>
        <p:nvSpPr>
          <p:cNvPr id="532" name="Google Shape;532;p55"/>
          <p:cNvSpPr txBox="1"/>
          <p:nvPr/>
        </p:nvSpPr>
        <p:spPr>
          <a:xfrm>
            <a:off x="3799999" y="17786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533" name="Google Shape;533;p55"/>
          <p:cNvSpPr txBox="1"/>
          <p:nvPr/>
        </p:nvSpPr>
        <p:spPr>
          <a:xfrm>
            <a:off x="4969074" y="1761563"/>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p=1</a:t>
            </a:r>
            <a:endParaRPr b="1" sz="1800">
              <a:solidFill>
                <a:schemeClr val="dk2"/>
              </a:solidFill>
            </a:endParaRPr>
          </a:p>
        </p:txBody>
      </p:sp>
      <p:sp>
        <p:nvSpPr>
          <p:cNvPr id="534" name="Google Shape;534;p55"/>
          <p:cNvSpPr txBox="1"/>
          <p:nvPr/>
        </p:nvSpPr>
        <p:spPr>
          <a:xfrm>
            <a:off x="6140249" y="1788650"/>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sp>
        <p:nvSpPr>
          <p:cNvPr id="535" name="Google Shape;535;p55"/>
          <p:cNvSpPr txBox="1"/>
          <p:nvPr/>
        </p:nvSpPr>
        <p:spPr>
          <a:xfrm>
            <a:off x="7070524" y="1813375"/>
            <a:ext cx="8067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p=½ </a:t>
            </a:r>
            <a:endParaRPr b="1" sz="1800">
              <a:solidFill>
                <a:schemeClr val="dk2"/>
              </a:solidFill>
            </a:endParaRPr>
          </a:p>
        </p:txBody>
      </p:sp>
      <p:pic>
        <p:nvPicPr>
          <p:cNvPr id="536" name="Google Shape;536;p55" title="AdobeStock_1010047626.jpeg"/>
          <p:cNvPicPr preferRelativeResize="0"/>
          <p:nvPr/>
        </p:nvPicPr>
        <p:blipFill>
          <a:blip r:embed="rId3">
            <a:alphaModFix/>
          </a:blip>
          <a:stretch>
            <a:fillRect/>
          </a:stretch>
        </p:blipFill>
        <p:spPr>
          <a:xfrm>
            <a:off x="4083600" y="3762452"/>
            <a:ext cx="576952" cy="391049"/>
          </a:xfrm>
          <a:prstGeom prst="rect">
            <a:avLst/>
          </a:prstGeom>
          <a:noFill/>
          <a:ln>
            <a:noFill/>
          </a:ln>
        </p:spPr>
      </p:pic>
      <p:pic>
        <p:nvPicPr>
          <p:cNvPr id="537" name="Google Shape;537;p55" title="AdobeStock_1010049481.jpeg"/>
          <p:cNvPicPr preferRelativeResize="0"/>
          <p:nvPr/>
        </p:nvPicPr>
        <p:blipFill>
          <a:blip r:embed="rId5">
            <a:alphaModFix/>
          </a:blip>
          <a:stretch>
            <a:fillRect/>
          </a:stretch>
        </p:blipFill>
        <p:spPr>
          <a:xfrm>
            <a:off x="5196371" y="3810900"/>
            <a:ext cx="576072" cy="384050"/>
          </a:xfrm>
          <a:prstGeom prst="rect">
            <a:avLst/>
          </a:prstGeom>
          <a:noFill/>
          <a:ln>
            <a:noFill/>
          </a:ln>
        </p:spPr>
      </p:pic>
      <p:pic>
        <p:nvPicPr>
          <p:cNvPr id="538" name="Google Shape;538;p55" title="AdobeStock_668633242.jpeg"/>
          <p:cNvPicPr preferRelativeResize="0"/>
          <p:nvPr/>
        </p:nvPicPr>
        <p:blipFill>
          <a:blip r:embed="rId4">
            <a:alphaModFix/>
          </a:blip>
          <a:stretch>
            <a:fillRect/>
          </a:stretch>
        </p:blipFill>
        <p:spPr>
          <a:xfrm>
            <a:off x="6452360" y="3855075"/>
            <a:ext cx="585216" cy="390144"/>
          </a:xfrm>
          <a:prstGeom prst="rect">
            <a:avLst/>
          </a:prstGeom>
          <a:noFill/>
          <a:ln>
            <a:noFill/>
          </a:ln>
        </p:spPr>
      </p:pic>
      <p:pic>
        <p:nvPicPr>
          <p:cNvPr id="539" name="Google Shape;539;p55" title="AdobeStock_668633242.jpeg"/>
          <p:cNvPicPr preferRelativeResize="0"/>
          <p:nvPr/>
        </p:nvPicPr>
        <p:blipFill>
          <a:blip r:embed="rId4">
            <a:alphaModFix/>
          </a:blip>
          <a:stretch>
            <a:fillRect/>
          </a:stretch>
        </p:blipFill>
        <p:spPr>
          <a:xfrm>
            <a:off x="7628610" y="3855075"/>
            <a:ext cx="585216" cy="390144"/>
          </a:xfrm>
          <a:prstGeom prst="rect">
            <a:avLst/>
          </a:prstGeom>
          <a:noFill/>
          <a:ln>
            <a:noFill/>
          </a:ln>
        </p:spPr>
      </p:pic>
      <p:sp>
        <p:nvSpPr>
          <p:cNvPr id="540" name="Google Shape;540;p55"/>
          <p:cNvSpPr txBox="1"/>
          <p:nvPr/>
        </p:nvSpPr>
        <p:spPr>
          <a:xfrm>
            <a:off x="3968736"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541" name="Google Shape;541;p55"/>
          <p:cNvSpPr txBox="1"/>
          <p:nvPr/>
        </p:nvSpPr>
        <p:spPr>
          <a:xfrm>
            <a:off x="5196386"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p=⅓ </a:t>
            </a:r>
            <a:endParaRPr b="1">
              <a:solidFill>
                <a:schemeClr val="dk2"/>
              </a:solidFill>
            </a:endParaRPr>
          </a:p>
        </p:txBody>
      </p:sp>
      <p:sp>
        <p:nvSpPr>
          <p:cNvPr id="542" name="Google Shape;542;p55"/>
          <p:cNvSpPr txBox="1"/>
          <p:nvPr/>
        </p:nvSpPr>
        <p:spPr>
          <a:xfrm>
            <a:off x="6419974" y="41949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543" name="Google Shape;543;p55"/>
          <p:cNvSpPr txBox="1"/>
          <p:nvPr/>
        </p:nvSpPr>
        <p:spPr>
          <a:xfrm>
            <a:off x="7643549" y="4240550"/>
            <a:ext cx="8067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p=⅙  </a:t>
            </a:r>
            <a:endParaRPr b="1">
              <a:solidFill>
                <a:schemeClr val="dk2"/>
              </a:solidFill>
            </a:endParaRPr>
          </a:p>
        </p:txBody>
      </p:sp>
      <p:sp>
        <p:nvSpPr>
          <p:cNvPr id="544" name="Google Shape;544;p55"/>
          <p:cNvSpPr txBox="1"/>
          <p:nvPr/>
        </p:nvSpPr>
        <p:spPr>
          <a:xfrm>
            <a:off x="416077" y="1265988"/>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My choice</a:t>
            </a:r>
            <a:endParaRPr b="1" sz="1800">
              <a:solidFill>
                <a:schemeClr val="accent1"/>
              </a:solidFill>
            </a:endParaRPr>
          </a:p>
        </p:txBody>
      </p:sp>
      <p:sp>
        <p:nvSpPr>
          <p:cNvPr id="545" name="Google Shape;545;p55"/>
          <p:cNvSpPr txBox="1"/>
          <p:nvPr/>
        </p:nvSpPr>
        <p:spPr>
          <a:xfrm>
            <a:off x="351927" y="2184513"/>
            <a:ext cx="19944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Host’s choice</a:t>
            </a:r>
            <a:endParaRPr b="1" sz="1800">
              <a:solidFill>
                <a:schemeClr val="accent1"/>
              </a:solidFill>
            </a:endParaRPr>
          </a:p>
        </p:txBody>
      </p:sp>
      <p:sp>
        <p:nvSpPr>
          <p:cNvPr id="546" name="Google Shape;54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783F04"/>
                </a:solidFill>
              </a:rPr>
              <a:t>Stick Universe</a:t>
            </a:r>
            <a:endParaRPr>
              <a:solidFill>
                <a:srgbClr val="783F04"/>
              </a:solidFill>
            </a:endParaRPr>
          </a:p>
        </p:txBody>
      </p:sp>
      <p:sp>
        <p:nvSpPr>
          <p:cNvPr id="547" name="Google Shape;547;p55"/>
          <p:cNvSpPr txBox="1"/>
          <p:nvPr/>
        </p:nvSpPr>
        <p:spPr>
          <a:xfrm>
            <a:off x="416075" y="3103050"/>
            <a:ext cx="20889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1"/>
              </a:solidFill>
            </a:endParaRPr>
          </a:p>
        </p:txBody>
      </p:sp>
      <p:pic>
        <p:nvPicPr>
          <p:cNvPr id="548" name="Google Shape;548;p55" title="AdobeStock_668633242.jpeg"/>
          <p:cNvPicPr preferRelativeResize="0"/>
          <p:nvPr/>
        </p:nvPicPr>
        <p:blipFill>
          <a:blip r:embed="rId4">
            <a:alphaModFix/>
          </a:blip>
          <a:stretch>
            <a:fillRect/>
          </a:stretch>
        </p:blipFill>
        <p:spPr>
          <a:xfrm>
            <a:off x="471047" y="3103050"/>
            <a:ext cx="585216" cy="390144"/>
          </a:xfrm>
          <a:prstGeom prst="rect">
            <a:avLst/>
          </a:prstGeom>
          <a:noFill/>
          <a:ln>
            <a:noFill/>
          </a:ln>
        </p:spPr>
      </p:pic>
      <p:sp>
        <p:nvSpPr>
          <p:cNvPr id="549" name="Google Shape;549;p55"/>
          <p:cNvSpPr txBox="1"/>
          <p:nvPr/>
        </p:nvSpPr>
        <p:spPr>
          <a:xfrm>
            <a:off x="1141225" y="3068700"/>
            <a:ext cx="21366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p=⅙  + ⅙  = ⅓   </a:t>
            </a:r>
            <a:endParaRPr b="1" sz="1800">
              <a:solidFill>
                <a:schemeClr val="dk2"/>
              </a:solidFill>
            </a:endParaRPr>
          </a:p>
        </p:txBody>
      </p:sp>
      <p:pic>
        <p:nvPicPr>
          <p:cNvPr id="550" name="Google Shape;550;p55" title="AdobeStock_1010047626.jpeg"/>
          <p:cNvPicPr preferRelativeResize="0"/>
          <p:nvPr/>
        </p:nvPicPr>
        <p:blipFill>
          <a:blip r:embed="rId3">
            <a:alphaModFix/>
          </a:blip>
          <a:stretch>
            <a:fillRect/>
          </a:stretch>
        </p:blipFill>
        <p:spPr>
          <a:xfrm>
            <a:off x="256525" y="3663802"/>
            <a:ext cx="576952" cy="391049"/>
          </a:xfrm>
          <a:prstGeom prst="rect">
            <a:avLst/>
          </a:prstGeom>
          <a:noFill/>
          <a:ln>
            <a:noFill/>
          </a:ln>
        </p:spPr>
      </p:pic>
      <p:pic>
        <p:nvPicPr>
          <p:cNvPr id="551" name="Google Shape;551;p55" title="AdobeStock_1010049481.jpeg"/>
          <p:cNvPicPr preferRelativeResize="0"/>
          <p:nvPr/>
        </p:nvPicPr>
        <p:blipFill>
          <a:blip r:embed="rId5">
            <a:alphaModFix/>
          </a:blip>
          <a:stretch>
            <a:fillRect/>
          </a:stretch>
        </p:blipFill>
        <p:spPr>
          <a:xfrm>
            <a:off x="833471" y="3667300"/>
            <a:ext cx="576072" cy="384050"/>
          </a:xfrm>
          <a:prstGeom prst="rect">
            <a:avLst/>
          </a:prstGeom>
          <a:noFill/>
          <a:ln>
            <a:noFill/>
          </a:ln>
        </p:spPr>
      </p:pic>
      <p:sp>
        <p:nvSpPr>
          <p:cNvPr id="552" name="Google Shape;552;p55"/>
          <p:cNvSpPr txBox="1"/>
          <p:nvPr/>
        </p:nvSpPr>
        <p:spPr>
          <a:xfrm>
            <a:off x="1296275" y="3628475"/>
            <a:ext cx="18960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p=⅓  + ⅓   = ⅔    </a:t>
            </a:r>
            <a:endParaRPr b="1" sz="1800">
              <a:solidFill>
                <a:schemeClr val="dk2"/>
              </a:solidFill>
            </a:endParaRPr>
          </a:p>
        </p:txBody>
      </p:sp>
      <p:pic>
        <p:nvPicPr>
          <p:cNvPr id="553" name="Google Shape;553;p55" title="AdobeStock_1010700130.jpeg"/>
          <p:cNvPicPr preferRelativeResize="0"/>
          <p:nvPr/>
        </p:nvPicPr>
        <p:blipFill rotWithShape="1">
          <a:blip r:embed="rId6">
            <a:alphaModFix/>
          </a:blip>
          <a:srcRect b="36364" l="0" r="78840" t="35254"/>
          <a:stretch/>
        </p:blipFill>
        <p:spPr>
          <a:xfrm>
            <a:off x="0" y="4292772"/>
            <a:ext cx="914401" cy="817478"/>
          </a:xfrm>
          <a:prstGeom prst="rect">
            <a:avLst/>
          </a:prstGeom>
          <a:noFill/>
          <a:ln>
            <a:noFill/>
          </a:ln>
        </p:spPr>
      </p:pic>
      <p:pic>
        <p:nvPicPr>
          <p:cNvPr id="554" name="Google Shape;554;p55" title="AdobeStock_1010700130.jpeg"/>
          <p:cNvPicPr preferRelativeResize="0"/>
          <p:nvPr/>
        </p:nvPicPr>
        <p:blipFill rotWithShape="1">
          <a:blip r:embed="rId6">
            <a:alphaModFix/>
          </a:blip>
          <a:srcRect b="35810" l="78840" r="0" t="35807"/>
          <a:stretch/>
        </p:blipFill>
        <p:spPr>
          <a:xfrm>
            <a:off x="1644275" y="4292772"/>
            <a:ext cx="914401" cy="817478"/>
          </a:xfrm>
          <a:prstGeom prst="rect">
            <a:avLst/>
          </a:prstGeom>
          <a:noFill/>
          <a:ln>
            <a:noFill/>
          </a:ln>
        </p:spPr>
      </p:pic>
      <p:pic>
        <p:nvPicPr>
          <p:cNvPr id="555" name="Google Shape;555;p55" title="AdobeStock_1010700130.jpeg"/>
          <p:cNvPicPr preferRelativeResize="0"/>
          <p:nvPr/>
        </p:nvPicPr>
        <p:blipFill rotWithShape="1">
          <a:blip r:embed="rId6">
            <a:alphaModFix/>
          </a:blip>
          <a:srcRect b="35810" l="78840" r="0" t="35807"/>
          <a:stretch/>
        </p:blipFill>
        <p:spPr>
          <a:xfrm>
            <a:off x="833475" y="4326022"/>
            <a:ext cx="914401" cy="81747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 for Monty Hall</a:t>
            </a:r>
            <a:endParaRPr/>
          </a:p>
        </p:txBody>
      </p:sp>
      <p:pic>
        <p:nvPicPr>
          <p:cNvPr id="561" name="Google Shape;561;p56" title="Screenshot 2026-10-04 at 18.43.18.png"/>
          <p:cNvPicPr preferRelativeResize="0"/>
          <p:nvPr/>
        </p:nvPicPr>
        <p:blipFill>
          <a:blip r:embed="rId3">
            <a:alphaModFix/>
          </a:blip>
          <a:stretch>
            <a:fillRect/>
          </a:stretch>
        </p:blipFill>
        <p:spPr>
          <a:xfrm>
            <a:off x="532025" y="1170125"/>
            <a:ext cx="7525600" cy="1575600"/>
          </a:xfrm>
          <a:prstGeom prst="rect">
            <a:avLst/>
          </a:prstGeom>
          <a:noFill/>
          <a:ln>
            <a:noFill/>
          </a:ln>
        </p:spPr>
      </p:pic>
      <p:sp>
        <p:nvSpPr>
          <p:cNvPr id="562" name="Google Shape;562;p56"/>
          <p:cNvSpPr txBox="1"/>
          <p:nvPr/>
        </p:nvSpPr>
        <p:spPr>
          <a:xfrm>
            <a:off x="463400" y="3646950"/>
            <a:ext cx="7594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Probability that </a:t>
            </a:r>
            <a:r>
              <a:rPr lang="en" sz="1800">
                <a:solidFill>
                  <a:schemeClr val="dk1"/>
                </a:solidFill>
              </a:rPr>
              <a:t>I chose the car</a:t>
            </a:r>
            <a:r>
              <a:rPr lang="en" sz="1800">
                <a:solidFill>
                  <a:schemeClr val="dk2"/>
                </a:solidFill>
              </a:rPr>
              <a:t>, given that the host showed me this goat</a:t>
            </a:r>
            <a:endParaRPr sz="1800">
              <a:solidFill>
                <a:schemeClr val="dk2"/>
              </a:solidFill>
            </a:endParaRPr>
          </a:p>
          <a:p>
            <a:pPr indent="0" lvl="0" marL="0" rtl="0" algn="l">
              <a:spcBef>
                <a:spcPts val="0"/>
              </a:spcBef>
              <a:spcAft>
                <a:spcPts val="0"/>
              </a:spcAft>
              <a:buNone/>
            </a:pPr>
            <a:r>
              <a:rPr lang="en" sz="1800">
                <a:solidFill>
                  <a:schemeClr val="dk2"/>
                </a:solidFill>
              </a:rPr>
              <a:t>A: events where I chose the car</a:t>
            </a:r>
            <a:endParaRPr sz="1800">
              <a:solidFill>
                <a:schemeClr val="dk2"/>
              </a:solidFill>
            </a:endParaRPr>
          </a:p>
          <a:p>
            <a:pPr indent="0" lvl="0" marL="0" rtl="0" algn="l">
              <a:spcBef>
                <a:spcPts val="0"/>
              </a:spcBef>
              <a:spcAft>
                <a:spcPts val="0"/>
              </a:spcAft>
              <a:buNone/>
            </a:pPr>
            <a:r>
              <a:rPr lang="en" sz="1800">
                <a:solidFill>
                  <a:schemeClr val="dk2"/>
                </a:solidFill>
              </a:rPr>
              <a:t>B: events where the host shows me this goat</a:t>
            </a:r>
            <a:endParaRPr sz="1800">
              <a:solidFill>
                <a:schemeClr val="dk2"/>
              </a:solidFill>
            </a:endParaRPr>
          </a:p>
        </p:txBody>
      </p:sp>
      <p:sp>
        <p:nvSpPr>
          <p:cNvPr id="563" name="Google Shape;563;p56"/>
          <p:cNvSpPr/>
          <p:nvPr/>
        </p:nvSpPr>
        <p:spPr>
          <a:xfrm>
            <a:off x="2883250" y="1862100"/>
            <a:ext cx="849600" cy="489000"/>
          </a:xfrm>
          <a:prstGeom prst="rect">
            <a:avLst/>
          </a:prstGeom>
          <a:no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64" name="Google Shape;564;p56"/>
          <p:cNvSpPr txBox="1"/>
          <p:nvPr/>
        </p:nvSpPr>
        <p:spPr>
          <a:xfrm>
            <a:off x="532025" y="313711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P(A|B) =?</a:t>
            </a:r>
            <a:endParaRPr b="1" sz="1800">
              <a:solidFill>
                <a:schemeClr val="dk2"/>
              </a:solidFill>
            </a:endParaRPr>
          </a:p>
        </p:txBody>
      </p:sp>
      <p:sp>
        <p:nvSpPr>
          <p:cNvPr id="565" name="Google Shape;565;p56"/>
          <p:cNvSpPr txBox="1"/>
          <p:nvPr/>
        </p:nvSpPr>
        <p:spPr>
          <a:xfrm>
            <a:off x="133725" y="184656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“Posterior Probability”</a:t>
            </a:r>
            <a:endParaRPr b="1" sz="1800">
              <a:solidFill>
                <a:schemeClr val="dk2"/>
              </a:solidFill>
            </a:endParaRPr>
          </a:p>
        </p:txBody>
      </p:sp>
      <p:pic>
        <p:nvPicPr>
          <p:cNvPr id="566" name="Google Shape;566;p56" title="AdobeStock_1010047626.jpeg"/>
          <p:cNvPicPr preferRelativeResize="0"/>
          <p:nvPr/>
        </p:nvPicPr>
        <p:blipFill>
          <a:blip r:embed="rId4">
            <a:alphaModFix/>
          </a:blip>
          <a:stretch>
            <a:fillRect/>
          </a:stretch>
        </p:blipFill>
        <p:spPr>
          <a:xfrm>
            <a:off x="7836474" y="4170975"/>
            <a:ext cx="1162952" cy="775102"/>
          </a:xfrm>
          <a:prstGeom prst="rect">
            <a:avLst/>
          </a:prstGeom>
          <a:noFill/>
          <a:ln>
            <a:noFill/>
          </a:ln>
        </p:spPr>
      </p:pic>
      <p:pic>
        <p:nvPicPr>
          <p:cNvPr id="567" name="Google Shape;567;p56" title="AdobeStock_668633242.jpeg"/>
          <p:cNvPicPr preferRelativeResize="0"/>
          <p:nvPr/>
        </p:nvPicPr>
        <p:blipFill>
          <a:blip r:embed="rId5">
            <a:alphaModFix/>
          </a:blip>
          <a:stretch>
            <a:fillRect/>
          </a:stretch>
        </p:blipFill>
        <p:spPr>
          <a:xfrm>
            <a:off x="6303826" y="4257176"/>
            <a:ext cx="1022602" cy="688898"/>
          </a:xfrm>
          <a:prstGeom prst="rect">
            <a:avLst/>
          </a:prstGeom>
          <a:noFill/>
          <a:ln>
            <a:noFill/>
          </a:ln>
        </p:spPr>
      </p:pic>
      <p:sp>
        <p:nvSpPr>
          <p:cNvPr id="568" name="Google Shape;568;p56"/>
          <p:cNvSpPr txBox="1"/>
          <p:nvPr/>
        </p:nvSpPr>
        <p:spPr>
          <a:xfrm>
            <a:off x="7438150" y="4301475"/>
            <a:ext cx="316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a:t>
            </a:r>
            <a:endParaRPr sz="2700">
              <a:solidFill>
                <a:schemeClr val="dk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Bayes for Monty Hall</a:t>
            </a:r>
            <a:endParaRPr/>
          </a:p>
        </p:txBody>
      </p:sp>
      <p:pic>
        <p:nvPicPr>
          <p:cNvPr id="574" name="Google Shape;574;p57" title="Screenshot 2026-10-04 at 18.43.18.png"/>
          <p:cNvPicPr preferRelativeResize="0"/>
          <p:nvPr/>
        </p:nvPicPr>
        <p:blipFill>
          <a:blip r:embed="rId3">
            <a:alphaModFix/>
          </a:blip>
          <a:stretch>
            <a:fillRect/>
          </a:stretch>
        </p:blipFill>
        <p:spPr>
          <a:xfrm>
            <a:off x="532025" y="1170125"/>
            <a:ext cx="7525600" cy="1575600"/>
          </a:xfrm>
          <a:prstGeom prst="rect">
            <a:avLst/>
          </a:prstGeom>
          <a:noFill/>
          <a:ln>
            <a:noFill/>
          </a:ln>
        </p:spPr>
      </p:pic>
      <p:sp>
        <p:nvSpPr>
          <p:cNvPr id="575" name="Google Shape;575;p57"/>
          <p:cNvSpPr txBox="1"/>
          <p:nvPr/>
        </p:nvSpPr>
        <p:spPr>
          <a:xfrm>
            <a:off x="532025" y="3664275"/>
            <a:ext cx="7836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Probability that the host will show me this goat, given that I chose the car.</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A: events where I chose the car</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B: events where the host shows me this goat</a:t>
            </a:r>
            <a:endParaRPr sz="1800">
              <a:solidFill>
                <a:schemeClr val="dk2"/>
              </a:solidFill>
            </a:endParaRPr>
          </a:p>
        </p:txBody>
      </p:sp>
      <p:sp>
        <p:nvSpPr>
          <p:cNvPr id="576" name="Google Shape;576;p57"/>
          <p:cNvSpPr/>
          <p:nvPr/>
        </p:nvSpPr>
        <p:spPr>
          <a:xfrm>
            <a:off x="3947306" y="1793438"/>
            <a:ext cx="746700" cy="3690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57"/>
          <p:cNvSpPr txBox="1"/>
          <p:nvPr/>
        </p:nvSpPr>
        <p:spPr>
          <a:xfrm>
            <a:off x="532025" y="3240100"/>
            <a:ext cx="817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P(B|A) = ½  there are two goats to choose from </a:t>
            </a:r>
            <a:endParaRPr b="1" sz="1800">
              <a:solidFill>
                <a:schemeClr val="accent1"/>
              </a:solidFill>
            </a:endParaRPr>
          </a:p>
        </p:txBody>
      </p:sp>
      <p:pic>
        <p:nvPicPr>
          <p:cNvPr id="578" name="Google Shape;578;p57" title="AdobeStock_1010047626.jpeg"/>
          <p:cNvPicPr preferRelativeResize="0"/>
          <p:nvPr/>
        </p:nvPicPr>
        <p:blipFill>
          <a:blip r:embed="rId4">
            <a:alphaModFix/>
          </a:blip>
          <a:stretch>
            <a:fillRect/>
          </a:stretch>
        </p:blipFill>
        <p:spPr>
          <a:xfrm>
            <a:off x="6225874" y="4196175"/>
            <a:ext cx="1162952" cy="775102"/>
          </a:xfrm>
          <a:prstGeom prst="rect">
            <a:avLst/>
          </a:prstGeom>
          <a:noFill/>
          <a:ln>
            <a:noFill/>
          </a:ln>
        </p:spPr>
      </p:pic>
      <p:pic>
        <p:nvPicPr>
          <p:cNvPr id="579" name="Google Shape;579;p57" title="AdobeStock_668633242.jpeg"/>
          <p:cNvPicPr preferRelativeResize="0"/>
          <p:nvPr/>
        </p:nvPicPr>
        <p:blipFill>
          <a:blip r:embed="rId5">
            <a:alphaModFix/>
          </a:blip>
          <a:stretch>
            <a:fillRect/>
          </a:stretch>
        </p:blipFill>
        <p:spPr>
          <a:xfrm>
            <a:off x="7872001" y="4257176"/>
            <a:ext cx="1022602" cy="688898"/>
          </a:xfrm>
          <a:prstGeom prst="rect">
            <a:avLst/>
          </a:prstGeom>
          <a:noFill/>
          <a:ln>
            <a:noFill/>
          </a:ln>
        </p:spPr>
      </p:pic>
      <p:sp>
        <p:nvSpPr>
          <p:cNvPr id="580" name="Google Shape;580;p57"/>
          <p:cNvSpPr txBox="1"/>
          <p:nvPr/>
        </p:nvSpPr>
        <p:spPr>
          <a:xfrm>
            <a:off x="7438150" y="4301475"/>
            <a:ext cx="316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chemeClr val="dk2"/>
                </a:solidFill>
              </a:rPr>
              <a:t>|</a:t>
            </a:r>
            <a:endParaRPr sz="27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Bayes for Monty Hall</a:t>
            </a:r>
            <a:endParaRPr/>
          </a:p>
        </p:txBody>
      </p:sp>
      <p:pic>
        <p:nvPicPr>
          <p:cNvPr id="586" name="Google Shape;586;p58" title="Screenshot 2026-10-04 at 18.43.18.png"/>
          <p:cNvPicPr preferRelativeResize="0"/>
          <p:nvPr/>
        </p:nvPicPr>
        <p:blipFill>
          <a:blip r:embed="rId3">
            <a:alphaModFix/>
          </a:blip>
          <a:stretch>
            <a:fillRect/>
          </a:stretch>
        </p:blipFill>
        <p:spPr>
          <a:xfrm>
            <a:off x="532025" y="1170125"/>
            <a:ext cx="7525600" cy="1575600"/>
          </a:xfrm>
          <a:prstGeom prst="rect">
            <a:avLst/>
          </a:prstGeom>
          <a:noFill/>
          <a:ln>
            <a:noFill/>
          </a:ln>
        </p:spPr>
      </p:pic>
      <p:sp>
        <p:nvSpPr>
          <p:cNvPr id="587" name="Google Shape;587;p58"/>
          <p:cNvSpPr txBox="1"/>
          <p:nvPr/>
        </p:nvSpPr>
        <p:spPr>
          <a:xfrm>
            <a:off x="463400" y="3646950"/>
            <a:ext cx="8117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Probability that I chose the car. </a:t>
            </a:r>
            <a:r>
              <a:rPr b="1" lang="en" sz="1800">
                <a:solidFill>
                  <a:schemeClr val="dk2"/>
                </a:solidFill>
              </a:rPr>
              <a:t>Independent of anything the host does</a:t>
            </a:r>
            <a:endParaRPr b="1" sz="1800">
              <a:solidFill>
                <a:schemeClr val="dk2"/>
              </a:solidFill>
            </a:endParaRPr>
          </a:p>
          <a:p>
            <a:pPr indent="0" lvl="0" marL="0" rtl="0" algn="l">
              <a:spcBef>
                <a:spcPts val="0"/>
              </a:spcBef>
              <a:spcAft>
                <a:spcPts val="0"/>
              </a:spcAft>
              <a:buNone/>
            </a:pPr>
            <a:r>
              <a:rPr lang="en" sz="1800">
                <a:solidFill>
                  <a:schemeClr val="dk2"/>
                </a:solidFill>
              </a:rPr>
              <a:t>A: events where I chose right first time</a:t>
            </a:r>
            <a:endParaRPr sz="1800">
              <a:solidFill>
                <a:schemeClr val="dk2"/>
              </a:solidFill>
            </a:endParaRPr>
          </a:p>
          <a:p>
            <a:pPr indent="0" lvl="0" marL="0" rtl="0" algn="l">
              <a:spcBef>
                <a:spcPts val="0"/>
              </a:spcBef>
              <a:spcAft>
                <a:spcPts val="0"/>
              </a:spcAft>
              <a:buNone/>
            </a:pPr>
            <a:r>
              <a:rPr lang="en" sz="1800">
                <a:solidFill>
                  <a:schemeClr val="dk2"/>
                </a:solidFill>
              </a:rPr>
              <a:t>B: events where the host shows me this goat</a:t>
            </a:r>
            <a:endParaRPr sz="1800">
              <a:solidFill>
                <a:schemeClr val="dk2"/>
              </a:solidFill>
            </a:endParaRPr>
          </a:p>
        </p:txBody>
      </p:sp>
      <p:sp>
        <p:nvSpPr>
          <p:cNvPr id="588" name="Google Shape;588;p58"/>
          <p:cNvSpPr/>
          <p:nvPr/>
        </p:nvSpPr>
        <p:spPr>
          <a:xfrm>
            <a:off x="4650931" y="1773413"/>
            <a:ext cx="746700" cy="369000"/>
          </a:xfrm>
          <a:prstGeom prst="rect">
            <a:avLst/>
          </a:prstGeom>
          <a:noFill/>
          <a:ln cap="flat" cmpd="sng" w="762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58"/>
          <p:cNvSpPr txBox="1"/>
          <p:nvPr/>
        </p:nvSpPr>
        <p:spPr>
          <a:xfrm>
            <a:off x="532025" y="3248675"/>
            <a:ext cx="752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00FF"/>
                </a:solidFill>
              </a:rPr>
              <a:t>P(A) =⅓ Initial frequentist probability of me choosing the car </a:t>
            </a:r>
            <a:endParaRPr b="1" sz="1800">
              <a:solidFill>
                <a:srgbClr val="9900FF"/>
              </a:solidFill>
            </a:endParaRPr>
          </a:p>
        </p:txBody>
      </p:sp>
      <p:sp>
        <p:nvSpPr>
          <p:cNvPr id="590" name="Google Shape;590;p58"/>
          <p:cNvSpPr txBox="1"/>
          <p:nvPr/>
        </p:nvSpPr>
        <p:spPr>
          <a:xfrm>
            <a:off x="3263075" y="116471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P(B|A) =½ </a:t>
            </a:r>
            <a:endParaRPr b="1" sz="1800">
              <a:solidFill>
                <a:schemeClr val="accent1"/>
              </a:solidFill>
            </a:endParaRPr>
          </a:p>
        </p:txBody>
      </p:sp>
      <p:pic>
        <p:nvPicPr>
          <p:cNvPr id="591" name="Google Shape;591;p58" title="AdobeStock_668633242.jpeg"/>
          <p:cNvPicPr preferRelativeResize="0"/>
          <p:nvPr/>
        </p:nvPicPr>
        <p:blipFill>
          <a:blip r:embed="rId4">
            <a:alphaModFix/>
          </a:blip>
          <a:stretch>
            <a:fillRect/>
          </a:stretch>
        </p:blipFill>
        <p:spPr>
          <a:xfrm>
            <a:off x="7872001" y="4257176"/>
            <a:ext cx="1022602" cy="688898"/>
          </a:xfrm>
          <a:prstGeom prst="rect">
            <a:avLst/>
          </a:prstGeom>
          <a:noFill/>
          <a:ln>
            <a:noFill/>
          </a:ln>
        </p:spPr>
      </p:pic>
      <p:cxnSp>
        <p:nvCxnSpPr>
          <p:cNvPr id="592" name="Google Shape;592;p58"/>
          <p:cNvCxnSpPr/>
          <p:nvPr/>
        </p:nvCxnSpPr>
        <p:spPr>
          <a:xfrm>
            <a:off x="482500" y="4413125"/>
            <a:ext cx="4719000" cy="354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Bayes for Monty Hall</a:t>
            </a:r>
            <a:endParaRPr/>
          </a:p>
        </p:txBody>
      </p:sp>
      <p:pic>
        <p:nvPicPr>
          <p:cNvPr id="598" name="Google Shape;598;p59" title="Screenshot 2026-10-04 at 18.43.18.png"/>
          <p:cNvPicPr preferRelativeResize="0"/>
          <p:nvPr/>
        </p:nvPicPr>
        <p:blipFill>
          <a:blip r:embed="rId3">
            <a:alphaModFix/>
          </a:blip>
          <a:stretch>
            <a:fillRect/>
          </a:stretch>
        </p:blipFill>
        <p:spPr>
          <a:xfrm>
            <a:off x="532025" y="1170125"/>
            <a:ext cx="7525600" cy="1575600"/>
          </a:xfrm>
          <a:prstGeom prst="rect">
            <a:avLst/>
          </a:prstGeom>
          <a:noFill/>
          <a:ln>
            <a:noFill/>
          </a:ln>
        </p:spPr>
      </p:pic>
      <p:sp>
        <p:nvSpPr>
          <p:cNvPr id="599" name="Google Shape;599;p59"/>
          <p:cNvSpPr txBox="1"/>
          <p:nvPr/>
        </p:nvSpPr>
        <p:spPr>
          <a:xfrm>
            <a:off x="463400" y="3646950"/>
            <a:ext cx="8368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Probability that the the host shows me this goat. </a:t>
            </a:r>
            <a:r>
              <a:rPr b="1" lang="en" sz="1800">
                <a:solidFill>
                  <a:schemeClr val="dk2"/>
                </a:solidFill>
              </a:rPr>
              <a:t>Independent of my choice.</a:t>
            </a:r>
            <a:endParaRPr sz="1800">
              <a:solidFill>
                <a:schemeClr val="dk2"/>
              </a:solidFill>
            </a:endParaRPr>
          </a:p>
          <a:p>
            <a:pPr indent="0" lvl="0" marL="0" rtl="0" algn="l">
              <a:spcBef>
                <a:spcPts val="0"/>
              </a:spcBef>
              <a:spcAft>
                <a:spcPts val="0"/>
              </a:spcAft>
              <a:buNone/>
            </a:pPr>
            <a:r>
              <a:rPr lang="en" sz="1800">
                <a:solidFill>
                  <a:schemeClr val="dk2"/>
                </a:solidFill>
              </a:rPr>
              <a:t>A: events where I chose right first time</a:t>
            </a:r>
            <a:endParaRPr sz="1800">
              <a:solidFill>
                <a:schemeClr val="dk2"/>
              </a:solidFill>
            </a:endParaRPr>
          </a:p>
          <a:p>
            <a:pPr indent="0" lvl="0" marL="0" rtl="0" algn="l">
              <a:spcBef>
                <a:spcPts val="0"/>
              </a:spcBef>
              <a:spcAft>
                <a:spcPts val="0"/>
              </a:spcAft>
              <a:buNone/>
            </a:pPr>
            <a:r>
              <a:rPr lang="en" sz="1800">
                <a:solidFill>
                  <a:schemeClr val="dk2"/>
                </a:solidFill>
              </a:rPr>
              <a:t>B: events where the host shows me this goat</a:t>
            </a:r>
            <a:endParaRPr sz="1800">
              <a:solidFill>
                <a:schemeClr val="dk2"/>
              </a:solidFill>
            </a:endParaRPr>
          </a:p>
        </p:txBody>
      </p:sp>
      <p:sp>
        <p:nvSpPr>
          <p:cNvPr id="600" name="Google Shape;600;p59"/>
          <p:cNvSpPr/>
          <p:nvPr/>
        </p:nvSpPr>
        <p:spPr>
          <a:xfrm>
            <a:off x="4198656" y="2108063"/>
            <a:ext cx="746700" cy="3690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59"/>
          <p:cNvSpPr txBox="1"/>
          <p:nvPr/>
        </p:nvSpPr>
        <p:spPr>
          <a:xfrm>
            <a:off x="532025" y="3248675"/>
            <a:ext cx="847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P(B) =½ The host won’t show me the car, so it is not ⅓ </a:t>
            </a:r>
            <a:endParaRPr b="1" sz="1800">
              <a:solidFill>
                <a:srgbClr val="FF0000"/>
              </a:solidFill>
            </a:endParaRPr>
          </a:p>
        </p:txBody>
      </p:sp>
      <p:sp>
        <p:nvSpPr>
          <p:cNvPr id="602" name="Google Shape;602;p59"/>
          <p:cNvSpPr txBox="1"/>
          <p:nvPr/>
        </p:nvSpPr>
        <p:spPr>
          <a:xfrm>
            <a:off x="4945350" y="116471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00FF"/>
                </a:solidFill>
              </a:rPr>
              <a:t>P(A) =⅓ </a:t>
            </a:r>
            <a:endParaRPr b="1" sz="1800">
              <a:solidFill>
                <a:srgbClr val="9900FF"/>
              </a:solidFill>
            </a:endParaRPr>
          </a:p>
        </p:txBody>
      </p:sp>
      <p:sp>
        <p:nvSpPr>
          <p:cNvPr id="603" name="Google Shape;603;p59"/>
          <p:cNvSpPr txBox="1"/>
          <p:nvPr/>
        </p:nvSpPr>
        <p:spPr>
          <a:xfrm>
            <a:off x="3263075" y="1164725"/>
            <a:ext cx="1412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P(B|A) =½ </a:t>
            </a:r>
            <a:endParaRPr b="1" sz="1800">
              <a:solidFill>
                <a:schemeClr val="accent1"/>
              </a:solidFill>
            </a:endParaRPr>
          </a:p>
        </p:txBody>
      </p:sp>
      <p:pic>
        <p:nvPicPr>
          <p:cNvPr id="604" name="Google Shape;604;p59" title="AdobeStock_1010047626.jpeg"/>
          <p:cNvPicPr preferRelativeResize="0"/>
          <p:nvPr/>
        </p:nvPicPr>
        <p:blipFill>
          <a:blip r:embed="rId4">
            <a:alphaModFix/>
          </a:blip>
          <a:stretch>
            <a:fillRect/>
          </a:stretch>
        </p:blipFill>
        <p:spPr>
          <a:xfrm>
            <a:off x="7767199" y="4118075"/>
            <a:ext cx="1162952" cy="775102"/>
          </a:xfrm>
          <a:prstGeom prst="rect">
            <a:avLst/>
          </a:prstGeom>
          <a:noFill/>
          <a:ln>
            <a:noFill/>
          </a:ln>
        </p:spPr>
      </p:pic>
      <p:cxnSp>
        <p:nvCxnSpPr>
          <p:cNvPr id="605" name="Google Shape;605;p59"/>
          <p:cNvCxnSpPr/>
          <p:nvPr/>
        </p:nvCxnSpPr>
        <p:spPr>
          <a:xfrm>
            <a:off x="463400" y="4137150"/>
            <a:ext cx="4719000" cy="354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Bayes for Monty Hall</a:t>
            </a:r>
            <a:endParaRPr/>
          </a:p>
        </p:txBody>
      </p:sp>
      <p:pic>
        <p:nvPicPr>
          <p:cNvPr id="611" name="Google Shape;611;p60" title="Screenshot 2026-10-04 at 18.43.18.png"/>
          <p:cNvPicPr preferRelativeResize="0"/>
          <p:nvPr/>
        </p:nvPicPr>
        <p:blipFill>
          <a:blip r:embed="rId3">
            <a:alphaModFix/>
          </a:blip>
          <a:stretch>
            <a:fillRect/>
          </a:stretch>
        </p:blipFill>
        <p:spPr>
          <a:xfrm>
            <a:off x="532025" y="1170125"/>
            <a:ext cx="7525600" cy="1575600"/>
          </a:xfrm>
          <a:prstGeom prst="rect">
            <a:avLst/>
          </a:prstGeom>
          <a:noFill/>
          <a:ln>
            <a:noFill/>
          </a:ln>
        </p:spPr>
      </p:pic>
      <p:sp>
        <p:nvSpPr>
          <p:cNvPr id="612" name="Google Shape;612;p60"/>
          <p:cNvSpPr txBox="1"/>
          <p:nvPr/>
        </p:nvSpPr>
        <p:spPr>
          <a:xfrm>
            <a:off x="4945350" y="121081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00FF"/>
                </a:solidFill>
              </a:rPr>
              <a:t>P(A) =⅓ </a:t>
            </a:r>
            <a:endParaRPr b="1" sz="1800">
              <a:solidFill>
                <a:srgbClr val="9900FF"/>
              </a:solidFill>
            </a:endParaRPr>
          </a:p>
        </p:txBody>
      </p:sp>
      <p:sp>
        <p:nvSpPr>
          <p:cNvPr id="613" name="Google Shape;613;p60"/>
          <p:cNvSpPr txBox="1"/>
          <p:nvPr/>
        </p:nvSpPr>
        <p:spPr>
          <a:xfrm>
            <a:off x="3237100" y="1210813"/>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1"/>
                </a:solidFill>
              </a:rPr>
              <a:t>P(B|A) =½ </a:t>
            </a:r>
            <a:endParaRPr b="1" sz="1800">
              <a:solidFill>
                <a:schemeClr val="accent1"/>
              </a:solidFill>
            </a:endParaRPr>
          </a:p>
        </p:txBody>
      </p:sp>
      <p:sp>
        <p:nvSpPr>
          <p:cNvPr id="614" name="Google Shape;614;p60"/>
          <p:cNvSpPr txBox="1"/>
          <p:nvPr/>
        </p:nvSpPr>
        <p:spPr>
          <a:xfrm>
            <a:off x="4061475" y="2340900"/>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rPr>
              <a:t>P(B) =½   </a:t>
            </a:r>
            <a:endParaRPr b="1" sz="1800">
              <a:solidFill>
                <a:srgbClr val="FF0000"/>
              </a:solidFill>
            </a:endParaRPr>
          </a:p>
        </p:txBody>
      </p:sp>
      <p:sp>
        <p:nvSpPr>
          <p:cNvPr id="615" name="Google Shape;615;p60"/>
          <p:cNvSpPr txBox="1"/>
          <p:nvPr/>
        </p:nvSpPr>
        <p:spPr>
          <a:xfrm>
            <a:off x="639375" y="3547425"/>
            <a:ext cx="8291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p</a:t>
            </a:r>
            <a:r>
              <a:rPr lang="en" sz="1800">
                <a:solidFill>
                  <a:schemeClr val="dk2"/>
                </a:solidFill>
              </a:rPr>
              <a:t>robability that </a:t>
            </a:r>
            <a:r>
              <a:rPr lang="en" sz="1800">
                <a:solidFill>
                  <a:schemeClr val="dk1"/>
                </a:solidFill>
              </a:rPr>
              <a:t>I chose the car</a:t>
            </a:r>
            <a:r>
              <a:rPr lang="en" sz="1800">
                <a:solidFill>
                  <a:schemeClr val="dk2"/>
                </a:solidFill>
              </a:rPr>
              <a:t>, given that the host showed me a goat.</a:t>
            </a:r>
            <a:endParaRPr sz="1800">
              <a:solidFill>
                <a:schemeClr val="dk2"/>
              </a:solidFill>
            </a:endParaRPr>
          </a:p>
          <a:p>
            <a:pPr indent="0" lvl="0" marL="0" rtl="0" algn="l">
              <a:spcBef>
                <a:spcPts val="0"/>
              </a:spcBef>
              <a:spcAft>
                <a:spcPts val="0"/>
              </a:spcAft>
              <a:buNone/>
            </a:pPr>
            <a:r>
              <a:t/>
            </a:r>
            <a:endParaRPr sz="1800">
              <a:solidFill>
                <a:schemeClr val="accent1"/>
              </a:solidFill>
            </a:endParaRPr>
          </a:p>
          <a:p>
            <a:pPr indent="0" lvl="0" marL="0" rtl="0" algn="l">
              <a:spcBef>
                <a:spcPts val="0"/>
              </a:spcBef>
              <a:spcAft>
                <a:spcPts val="0"/>
              </a:spcAft>
              <a:buNone/>
            </a:pPr>
            <a:r>
              <a:rPr lang="en" sz="1800">
                <a:solidFill>
                  <a:schemeClr val="accent1"/>
                </a:solidFill>
              </a:rPr>
              <a:t>If we played 3 times, switching would be the right choice in 2 of them  </a:t>
            </a:r>
            <a:endParaRPr b="1" sz="1800">
              <a:solidFill>
                <a:schemeClr val="dk2"/>
              </a:solidFill>
            </a:endParaRPr>
          </a:p>
        </p:txBody>
      </p:sp>
      <p:sp>
        <p:nvSpPr>
          <p:cNvPr id="616" name="Google Shape;616;p60"/>
          <p:cNvSpPr txBox="1"/>
          <p:nvPr/>
        </p:nvSpPr>
        <p:spPr>
          <a:xfrm>
            <a:off x="532025" y="2944150"/>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P(A|B) = (½ )(⅓) / (½ ) =  ⅓</a:t>
            </a:r>
            <a:endParaRPr b="1"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2" name="Google Shape;62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3" name="Google Shape;623;p61" title="Screenshot 2026-10-05 at 14.03.48.png"/>
          <p:cNvPicPr preferRelativeResize="0"/>
          <p:nvPr/>
        </p:nvPicPr>
        <p:blipFill>
          <a:blip r:embed="rId3">
            <a:alphaModFix/>
          </a:blip>
          <a:stretch>
            <a:fillRect/>
          </a:stretch>
        </p:blipFill>
        <p:spPr>
          <a:xfrm>
            <a:off x="0" y="265658"/>
            <a:ext cx="9144003" cy="461218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Stats Recap</a:t>
            </a:r>
            <a:endParaRPr/>
          </a:p>
        </p:txBody>
      </p:sp>
      <p:sp>
        <p:nvSpPr>
          <p:cNvPr id="629" name="Google Shape;629;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https://dorksquith.github.io/DataAnalysisTechniques/terminologyandconcepts/</a:t>
            </a:r>
            <a:endParaRPr/>
          </a:p>
        </p:txBody>
      </p:sp>
      <p:pic>
        <p:nvPicPr>
          <p:cNvPr id="630" name="Google Shape;630;p62" title="qr-code (4).png"/>
          <p:cNvPicPr preferRelativeResize="0"/>
          <p:nvPr/>
        </p:nvPicPr>
        <p:blipFill>
          <a:blip r:embed="rId3">
            <a:alphaModFix/>
          </a:blip>
          <a:stretch>
            <a:fillRect/>
          </a:stretch>
        </p:blipFill>
        <p:spPr>
          <a:xfrm>
            <a:off x="2739050" y="1777400"/>
            <a:ext cx="3076999" cy="30769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Most Important Thing</a:t>
            </a:r>
            <a:endParaRPr/>
          </a:p>
        </p:txBody>
      </p:sp>
      <p:sp>
        <p:nvSpPr>
          <p:cNvPr id="636" name="Google Shape;636;p63"/>
          <p:cNvSpPr txBox="1"/>
          <p:nvPr>
            <p:ph idx="1" type="body"/>
          </p:nvPr>
        </p:nvSpPr>
        <p:spPr>
          <a:xfrm>
            <a:off x="311700" y="1152475"/>
            <a:ext cx="36330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Get this working for your operating system.</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Making sure everyone is on top of this will be the main focus of Wednesday’s workshop.</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It is essential for all your assessed work (3 courseworks and software exercise)</a:t>
            </a:r>
            <a:endParaRPr/>
          </a:p>
        </p:txBody>
      </p:sp>
      <p:pic>
        <p:nvPicPr>
          <p:cNvPr id="637" name="Google Shape;637;p63" title="Screenshot 2026-10-05 at 14.22.36.png"/>
          <p:cNvPicPr preferRelativeResize="0"/>
          <p:nvPr/>
        </p:nvPicPr>
        <p:blipFill>
          <a:blip r:embed="rId3">
            <a:alphaModFix/>
          </a:blip>
          <a:stretch>
            <a:fillRect/>
          </a:stretch>
        </p:blipFill>
        <p:spPr>
          <a:xfrm>
            <a:off x="4125950" y="533350"/>
            <a:ext cx="5018050" cy="4401074"/>
          </a:xfrm>
          <a:prstGeom prst="rect">
            <a:avLst/>
          </a:prstGeom>
          <a:noFill/>
          <a:ln>
            <a:noFill/>
          </a:ln>
        </p:spPr>
      </p:pic>
      <p:sp>
        <p:nvSpPr>
          <p:cNvPr id="638" name="Google Shape;638;p63"/>
          <p:cNvSpPr txBox="1"/>
          <p:nvPr/>
        </p:nvSpPr>
        <p:spPr>
          <a:xfrm>
            <a:off x="4125950" y="0"/>
            <a:ext cx="501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https://dorksquith.github.io/DataAnalysisTechniques/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Assessment Reminder</a:t>
            </a:r>
            <a:endParaRPr/>
          </a:p>
        </p:txBody>
      </p:sp>
      <p:sp>
        <p:nvSpPr>
          <p:cNvPr id="644" name="Google Shape;644;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Three Coursework Submissions spread over term</a:t>
            </a:r>
            <a:endParaRPr b="1"/>
          </a:p>
          <a:p>
            <a:pPr indent="-342900" lvl="0" marL="457200" rtl="0" algn="l">
              <a:spcBef>
                <a:spcPts val="1200"/>
              </a:spcBef>
              <a:spcAft>
                <a:spcPts val="0"/>
              </a:spcAft>
              <a:buSzPts val="1800"/>
              <a:buChar char="-"/>
            </a:pPr>
            <a:r>
              <a:rPr lang="en"/>
              <a:t>Best two of three grades count to 30% of your grade for this module</a:t>
            </a:r>
            <a:endParaRPr/>
          </a:p>
          <a:p>
            <a:pPr indent="-342900" lvl="0" marL="457200" rtl="0" algn="l">
              <a:spcBef>
                <a:spcPts val="0"/>
              </a:spcBef>
              <a:spcAft>
                <a:spcPts val="0"/>
              </a:spcAft>
              <a:buSzPts val="1800"/>
              <a:buChar char="-"/>
            </a:pPr>
            <a:r>
              <a:rPr lang="en"/>
              <a:t>Tasks will be available for at least 2 weeks ahead of the regular submission deadlines</a:t>
            </a:r>
            <a:endParaRPr/>
          </a:p>
          <a:p>
            <a:pPr indent="-342900" lvl="0" marL="457200" rtl="0" algn="l">
              <a:spcBef>
                <a:spcPts val="0"/>
              </a:spcBef>
              <a:spcAft>
                <a:spcPts val="0"/>
              </a:spcAft>
              <a:buSzPts val="1800"/>
              <a:buChar char="-"/>
            </a:pPr>
            <a:r>
              <a:rPr lang="en"/>
              <a:t>Coursework Task 1 will be available this Wednesday before the workshop</a:t>
            </a:r>
            <a:endParaRPr/>
          </a:p>
          <a:p>
            <a:pPr indent="-342900" lvl="0" marL="457200" rtl="0" algn="l">
              <a:spcBef>
                <a:spcPts val="0"/>
              </a:spcBef>
              <a:spcAft>
                <a:spcPts val="0"/>
              </a:spcAft>
              <a:buSzPts val="1800"/>
              <a:buChar char="-"/>
            </a:pPr>
            <a:r>
              <a:rPr lang="en"/>
              <a:t>I will announce on canvas</a:t>
            </a:r>
            <a:endParaRPr/>
          </a:p>
          <a:p>
            <a:pPr indent="0" lvl="0" marL="0" rtl="0" algn="l">
              <a:spcBef>
                <a:spcPts val="1200"/>
              </a:spcBef>
              <a:spcAft>
                <a:spcPts val="0"/>
              </a:spcAft>
              <a:buNone/>
            </a:pPr>
            <a:r>
              <a:rPr b="1" lang="en"/>
              <a:t>One Software Exercise submitted in the A1 exams period</a:t>
            </a:r>
            <a:endParaRPr b="1"/>
          </a:p>
          <a:p>
            <a:pPr indent="-342900" lvl="0" marL="457200" rtl="0" algn="l">
              <a:spcBef>
                <a:spcPts val="1200"/>
              </a:spcBef>
              <a:spcAft>
                <a:spcPts val="0"/>
              </a:spcAft>
              <a:buSzPts val="1800"/>
              <a:buChar char="-"/>
            </a:pPr>
            <a:r>
              <a:rPr lang="en"/>
              <a:t>Counts to 70% of your grade for this module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