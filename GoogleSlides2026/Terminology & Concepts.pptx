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3490e86db189208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h3490e86db189208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3490e86db189208d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h3490e86db189208d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h3490e86db18920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h3490e86db18920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3490e86db189208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3490e86db189208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3490e86db189208d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h3490e86db189208d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3490e86db189208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h3490e86db189208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3490e86db189208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h3490e86db189208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3490e86db189208d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h3490e86db189208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3490e86db189208d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3490e86db189208d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3490e86db189208d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h3490e86db189208d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3490e86db189208d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h3490e86db189208d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3490e86db189208d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h3490e86db189208d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3490e86db189208d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h3490e86db189208d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3490e86db189208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h3490e86db189208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3490e86db189208d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3490e86db189208d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3490e86db189208d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h3490e86db189208d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3490e86db189208d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h3490e86db189208d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3490e86db189208d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h3490e86db189208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3490e86db189208d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h3490e86db189208d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h3490e86db189208d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h3490e86db189208d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3490e86db189208d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h3490e86db189208d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h3490e86db189208d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h3490e86db189208d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3490e86db189208d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h3490e86db189208d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h3490e86db189208d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h3490e86db189208d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h3490e86db189208d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h3490e86db189208d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h3490e86db189208d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h3490e86db189208d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rksquith.github.io/DataAnalysisTechniques/terminologyandconcepts/" TargetMode="External"/><Relationship Id="rId4" Type="http://schemas.openxmlformats.org/officeDocument/2006/relationships/hyperlink" Target="https://dorksquith.github.io/DataAnalysisTechniques/probabilityessentials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 Analysis Techniques 890F3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Terminology &amp; Concepts</a:t>
            </a:r>
            <a:endParaRPr/>
          </a:p>
        </p:txBody>
      </p:sp>
      <p:pic>
        <p:nvPicPr>
          <p:cNvPr id="56" name="Google Shape;56;p13" title="dic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9575" y="3626725"/>
            <a:ext cx="1215450" cy="122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sussex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1" y="3626725"/>
            <a:ext cx="1406757" cy="12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Reminder from Intro Lecture: About the Module</a:t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453875" y="1259188"/>
            <a:ext cx="7715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https://dorksquith.github.io/DataAnalysisTechniques/</a:t>
            </a:r>
            <a:endParaRPr sz="2500"/>
          </a:p>
        </p:txBody>
      </p:sp>
      <p:pic>
        <p:nvPicPr>
          <p:cNvPr id="64" name="Google Shape;64;p14" title="qr-cod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7913" y="2070050"/>
            <a:ext cx="2827625" cy="28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Reminder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week is chaotic for some of you and for all of me </a:t>
            </a:r>
            <a:r>
              <a:rPr lang="en"/>
              <a:t>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Week 1 tasks for you: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Take the time to decide if this is the right module for you by reviewing the jupyter book notes available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Work through </a:t>
            </a:r>
            <a:r>
              <a:rPr lang="en" u="sng">
                <a:solidFill>
                  <a:schemeClr val="hlink"/>
                </a:solidFill>
                <a:hlinkClick r:id="rId3"/>
              </a:rPr>
              <a:t>Terminology &amp; Concepts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 a first read of </a:t>
            </a:r>
            <a:r>
              <a:rPr lang="en" u="sng">
                <a:solidFill>
                  <a:schemeClr val="hlink"/>
                </a:solidFill>
                <a:hlinkClick r:id="rId4"/>
              </a:rPr>
              <a:t>Probability Essentials</a:t>
            </a:r>
            <a:r>
              <a:rPr lang="en"/>
              <a:t> before we meet on Monday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Things will be more settled from next week. Fixed lecture theatres, canvas access, slides available before lecture and all that sort of thing. </a:t>
            </a:r>
            <a:endParaRPr/>
          </a:p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we are</a:t>
            </a:r>
            <a:endParaRPr/>
          </a:p>
        </p:txBody>
      </p:sp>
      <p:pic>
        <p:nvPicPr>
          <p:cNvPr id="78" name="Google Shape;78;p16" title="Screenshot 2026-09-28 at 11.13.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2" cy="3012048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/>
          <p:nvPr/>
        </p:nvSpPr>
        <p:spPr>
          <a:xfrm>
            <a:off x="7219450" y="1668150"/>
            <a:ext cx="889800" cy="4449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</a:t>
            </a:r>
            <a:r>
              <a:rPr lang="en"/>
              <a:t> Objectives</a:t>
            </a:r>
            <a:endParaRPr/>
          </a:p>
        </p:txBody>
      </p:sp>
      <p:pic>
        <p:nvPicPr>
          <p:cNvPr id="86" name="Google Shape;86;p17" title="Screenshot 2026-09-28 at 11.15.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8" cy="374152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Hypothesis, Model, Theory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Example: My mother’s roof appears to be leaking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Hypothesis:</a:t>
            </a:r>
            <a:r>
              <a:rPr lang="en"/>
              <a:t> mice have chewed through the roofing felt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Model:</a:t>
            </a:r>
            <a:r>
              <a:rPr lang="en"/>
              <a:t> a small amount of water runs through the (chipped) clay roof tiles and finds its way into the wall cavity.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                            </a:t>
            </a:r>
            <a:r>
              <a:rPr lang="en">
                <a:solidFill>
                  <a:schemeClr val="accent1"/>
                </a:solidFill>
              </a:rPr>
              <a:t>W = f(x; θ) … the model must be specific eg Ax + Bx</a:t>
            </a:r>
            <a:r>
              <a:rPr baseline="30000" lang="en">
                <a:solidFill>
                  <a:schemeClr val="accent1"/>
                </a:solidFill>
              </a:rPr>
              <a:t>2</a:t>
            </a:r>
            <a:endParaRPr baseline="300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volume of water on the inside wall </a:t>
            </a:r>
            <a:r>
              <a:rPr lang="en">
                <a:solidFill>
                  <a:schemeClr val="accent1"/>
                </a:solidFill>
              </a:rPr>
              <a:t> W </a:t>
            </a:r>
            <a:r>
              <a:rPr lang="en">
                <a:solidFill>
                  <a:schemeClr val="dk1"/>
                </a:solidFill>
              </a:rPr>
              <a:t>is a function of some measurable </a:t>
            </a:r>
            <a:r>
              <a:rPr lang="en">
                <a:solidFill>
                  <a:schemeClr val="accent1"/>
                </a:solidFill>
              </a:rPr>
              <a:t>x</a:t>
            </a:r>
            <a:r>
              <a:rPr lang="en">
                <a:solidFill>
                  <a:schemeClr val="dk1"/>
                </a:solidFill>
              </a:rPr>
              <a:t>, eg where we are looking on the wall, and some parameters </a:t>
            </a:r>
            <a:r>
              <a:rPr lang="en">
                <a:solidFill>
                  <a:schemeClr val="accent1"/>
                </a:solidFill>
              </a:rPr>
              <a:t>θ={A,B, ..}</a:t>
            </a:r>
            <a:r>
              <a:rPr lang="en">
                <a:solidFill>
                  <a:schemeClr val="dk1"/>
                </a:solidFill>
              </a:rPr>
              <a:t>, eg the time since the last major rain storm, the state of the tiles, and the condition of the roof felt.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Theory:</a:t>
            </a:r>
            <a:r>
              <a:rPr lang="en"/>
              <a:t> physics of fluids, materials, and gravity</a:t>
            </a:r>
            <a:endParaRPr/>
          </a:p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&amp; Sample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111827"/>
                </a:solidFill>
                <a:highlight>
                  <a:srgbClr val="FFFFFF"/>
                </a:highlight>
              </a:rPr>
              <a:t>Population</a:t>
            </a:r>
            <a:r>
              <a:rPr lang="en">
                <a:solidFill>
                  <a:srgbClr val="111827"/>
                </a:solidFill>
                <a:highlight>
                  <a:srgbClr val="FFFFFF"/>
                </a:highlight>
              </a:rPr>
              <a:t>:</a:t>
            </a:r>
            <a:r>
              <a:rPr lang="en">
                <a:solidFill>
                  <a:srgbClr val="44403C"/>
                </a:solidFill>
                <a:highlight>
                  <a:srgbClr val="FFFFFF"/>
                </a:highlight>
              </a:rPr>
              <a:t> the maximum number of data points we can possibly gather</a:t>
            </a:r>
            <a:r>
              <a:rPr lang="en">
                <a:solidFill>
                  <a:schemeClr val="accent1"/>
                </a:solidFill>
                <a:highlight>
                  <a:srgbClr val="FFFFFF"/>
                </a:highlight>
              </a:rPr>
              <a:t>*</a:t>
            </a:r>
            <a:r>
              <a:rPr lang="en">
                <a:solidFill>
                  <a:srgbClr val="44403C"/>
                </a:solidFill>
                <a:highlight>
                  <a:srgbClr val="FFFFFF"/>
                </a:highlight>
              </a:rPr>
              <a:t>. </a:t>
            </a:r>
            <a:endParaRPr>
              <a:solidFill>
                <a:srgbClr val="44403C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1827"/>
                </a:solidFill>
                <a:highlight>
                  <a:srgbClr val="FFFFFF"/>
                </a:highlight>
              </a:rPr>
              <a:t>Sample</a:t>
            </a:r>
            <a:r>
              <a:rPr lang="en">
                <a:solidFill>
                  <a:srgbClr val="111827"/>
                </a:solidFill>
                <a:highlight>
                  <a:srgbClr val="FFFFFF"/>
                </a:highlight>
              </a:rPr>
              <a:t>:</a:t>
            </a:r>
            <a:r>
              <a:rPr lang="en">
                <a:solidFill>
                  <a:srgbClr val="44403C"/>
                </a:solidFill>
                <a:highlight>
                  <a:srgbClr val="FFFFFF"/>
                </a:highlight>
              </a:rPr>
              <a:t> a subset of the population. </a:t>
            </a:r>
            <a:endParaRPr>
              <a:solidFill>
                <a:srgbClr val="44403C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4403C"/>
                </a:solidFill>
                <a:highlight>
                  <a:srgbClr val="FFFFFF"/>
                </a:highlight>
              </a:rPr>
              <a:t>The distinction is important because the reliability of all the statistics we calculate  depend on N: the sample size.</a:t>
            </a:r>
            <a:endParaRPr>
              <a:solidFill>
                <a:srgbClr val="44403C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500"/>
              </a:spcBef>
              <a:spcAft>
                <a:spcPts val="1500"/>
              </a:spcAft>
              <a:buNone/>
            </a:pPr>
            <a:r>
              <a:rPr lang="en">
                <a:solidFill>
                  <a:schemeClr val="accent1"/>
                </a:solidFill>
                <a:highlight>
                  <a:srgbClr val="FFFFFF"/>
                </a:highlight>
              </a:rPr>
              <a:t>I won’t linger much on Populations here, but will instead go straight to The Truth. </a:t>
            </a:r>
            <a:endParaRPr>
              <a:solidFill>
                <a:schemeClr val="accent1"/>
              </a:solidFill>
              <a:highlight>
                <a:srgbClr val="FFFFFF"/>
              </a:highlight>
            </a:endParaRPr>
          </a:p>
        </p:txBody>
      </p:sp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0" title="1790592148796-1e4fcfae-39c3-47c9-9b9f-95112ca6b898_5.png"/>
          <p:cNvPicPr preferRelativeResize="0"/>
          <p:nvPr/>
        </p:nvPicPr>
        <p:blipFill rotWithShape="1">
          <a:blip r:embed="rId3">
            <a:alphaModFix/>
          </a:blip>
          <a:srcRect b="6123" l="0" r="0" t="20541"/>
          <a:stretch/>
        </p:blipFill>
        <p:spPr>
          <a:xfrm>
            <a:off x="204650" y="117225"/>
            <a:ext cx="8451251" cy="4672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1"/>
          <p:cNvPicPr preferRelativeResize="0"/>
          <p:nvPr/>
        </p:nvPicPr>
        <p:blipFill rotWithShape="1">
          <a:blip r:embed="rId3">
            <a:alphaModFix/>
          </a:blip>
          <a:srcRect b="0" l="0" r="52162" t="0"/>
          <a:stretch/>
        </p:blipFill>
        <p:spPr>
          <a:xfrm>
            <a:off x="4643050" y="624200"/>
            <a:ext cx="4374298" cy="4107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1"/>
          <p:cNvPicPr preferRelativeResize="0"/>
          <p:nvPr/>
        </p:nvPicPr>
        <p:blipFill rotWithShape="1">
          <a:blip r:embed="rId3">
            <a:alphaModFix/>
          </a:blip>
          <a:srcRect b="-1130" l="52445" r="-282" t="1130"/>
          <a:stretch/>
        </p:blipFill>
        <p:spPr>
          <a:xfrm>
            <a:off x="491175" y="2289100"/>
            <a:ext cx="2704252" cy="253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 title="1790592148796-1e4fcfae-39c3-47c9-9b9f-95112ca6b898_5.png"/>
          <p:cNvPicPr preferRelativeResize="0"/>
          <p:nvPr/>
        </p:nvPicPr>
        <p:blipFill rotWithShape="1">
          <a:blip r:embed="rId4">
            <a:alphaModFix/>
          </a:blip>
          <a:srcRect b="25736" l="25872" r="25770" t="40252"/>
          <a:stretch/>
        </p:blipFill>
        <p:spPr>
          <a:xfrm>
            <a:off x="435575" y="122125"/>
            <a:ext cx="4086999" cy="21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2" title="1790592148796-1e4fcfae-39c3-47c9-9b9f-95112ca6b898_6.png"/>
          <p:cNvPicPr preferRelativeResize="0"/>
          <p:nvPr/>
        </p:nvPicPr>
        <p:blipFill rotWithShape="1">
          <a:blip r:embed="rId3">
            <a:alphaModFix/>
          </a:blip>
          <a:srcRect b="7386" l="0" r="0" t="11898"/>
          <a:stretch/>
        </p:blipFill>
        <p:spPr>
          <a:xfrm>
            <a:off x="577650" y="185350"/>
            <a:ext cx="7522949" cy="457817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3" title="1790592148796-1e4fcfae-39c3-47c9-9b9f-95112ca6b898_12.png"/>
          <p:cNvPicPr preferRelativeResize="0"/>
          <p:nvPr/>
        </p:nvPicPr>
        <p:blipFill rotWithShape="1">
          <a:blip r:embed="rId3">
            <a:alphaModFix/>
          </a:blip>
          <a:srcRect b="15043" l="0" r="0" t="29302"/>
          <a:stretch/>
        </p:blipFill>
        <p:spPr>
          <a:xfrm>
            <a:off x="0" y="287300"/>
            <a:ext cx="8230751" cy="345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4" title="1790592148796-1e4fcfae-39c3-47c9-9b9f-95112ca6b898_13.png"/>
          <p:cNvPicPr preferRelativeResize="0"/>
          <p:nvPr/>
        </p:nvPicPr>
        <p:blipFill rotWithShape="1">
          <a:blip r:embed="rId3">
            <a:alphaModFix/>
          </a:blip>
          <a:srcRect b="19369" l="0" r="0" t="30362"/>
          <a:stretch/>
        </p:blipFill>
        <p:spPr>
          <a:xfrm>
            <a:off x="0" y="0"/>
            <a:ext cx="8754225" cy="331777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5" title="Screenshot 2026-09-28 at 12.14.16.png"/>
          <p:cNvPicPr preferRelativeResize="0"/>
          <p:nvPr/>
        </p:nvPicPr>
        <p:blipFill rotWithShape="1">
          <a:blip r:embed="rId3">
            <a:alphaModFix/>
          </a:blip>
          <a:srcRect b="82656" l="0" r="0" t="0"/>
          <a:stretch/>
        </p:blipFill>
        <p:spPr>
          <a:xfrm>
            <a:off x="152400" y="152400"/>
            <a:ext cx="8766399" cy="83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5" title="Screenshot 2026-09-28 at 12.14.16.png"/>
          <p:cNvPicPr preferRelativeResize="0"/>
          <p:nvPr/>
        </p:nvPicPr>
        <p:blipFill rotWithShape="1">
          <a:blip r:embed="rId3">
            <a:alphaModFix/>
          </a:blip>
          <a:srcRect b="0" l="0" r="0" t="81880"/>
          <a:stretch/>
        </p:blipFill>
        <p:spPr>
          <a:xfrm>
            <a:off x="188800" y="3961875"/>
            <a:ext cx="8766399" cy="87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6" title="1790592148796-1e4fcfae-39c3-47c9-9b9f-95112ca6b898_14.png"/>
          <p:cNvPicPr preferRelativeResize="0"/>
          <p:nvPr/>
        </p:nvPicPr>
        <p:blipFill rotWithShape="1">
          <a:blip r:embed="rId3">
            <a:alphaModFix/>
          </a:blip>
          <a:srcRect b="9729" l="0" r="0" t="22520"/>
          <a:stretch/>
        </p:blipFill>
        <p:spPr>
          <a:xfrm>
            <a:off x="0" y="129750"/>
            <a:ext cx="9144000" cy="467031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7" title="1790592148796-1e4fcfae-39c3-47c9-9b9f-95112ca6b898_16.png"/>
          <p:cNvPicPr preferRelativeResize="0"/>
          <p:nvPr/>
        </p:nvPicPr>
        <p:blipFill rotWithShape="1">
          <a:blip r:embed="rId3">
            <a:alphaModFix/>
          </a:blip>
          <a:srcRect b="58661" l="6932" r="5877" t="22969"/>
          <a:stretch/>
        </p:blipFill>
        <p:spPr>
          <a:xfrm>
            <a:off x="797000" y="101925"/>
            <a:ext cx="7701350" cy="122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7"/>
          <p:cNvSpPr txBox="1"/>
          <p:nvPr/>
        </p:nvSpPr>
        <p:spPr>
          <a:xfrm>
            <a:off x="5588350" y="2219625"/>
            <a:ext cx="246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Model</a:t>
            </a:r>
            <a:endParaRPr sz="1800">
              <a:solidFill>
                <a:srgbClr val="FF0000"/>
              </a:solidFill>
            </a:endParaRPr>
          </a:p>
        </p:txBody>
      </p:sp>
      <p:pic>
        <p:nvPicPr>
          <p:cNvPr id="153" name="Google Shape;153;p27" title="1790592148796-1e4fcfae-39c3-47c9-9b9f-95112ca6b898_16.png"/>
          <p:cNvPicPr preferRelativeResize="0"/>
          <p:nvPr/>
        </p:nvPicPr>
        <p:blipFill rotWithShape="1">
          <a:blip r:embed="rId3">
            <a:alphaModFix/>
          </a:blip>
          <a:srcRect b="7301" l="27033" r="26277" t="44061"/>
          <a:stretch/>
        </p:blipFill>
        <p:spPr>
          <a:xfrm>
            <a:off x="880425" y="1584775"/>
            <a:ext cx="4124050" cy="323882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7"/>
          <p:cNvSpPr txBox="1"/>
          <p:nvPr/>
        </p:nvSpPr>
        <p:spPr>
          <a:xfrm>
            <a:off x="5634675" y="27710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Parameter of the model: λ</a:t>
            </a:r>
            <a:endParaRPr/>
          </a:p>
        </p:txBody>
      </p:sp>
      <p:cxnSp>
        <p:nvCxnSpPr>
          <p:cNvPr id="155" name="Google Shape;155;p27"/>
          <p:cNvCxnSpPr/>
          <p:nvPr/>
        </p:nvCxnSpPr>
        <p:spPr>
          <a:xfrm flipH="1">
            <a:off x="4327975" y="2446650"/>
            <a:ext cx="1195500" cy="9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" name="Google Shape;156;p27"/>
          <p:cNvSpPr txBox="1"/>
          <p:nvPr/>
        </p:nvSpPr>
        <p:spPr>
          <a:xfrm>
            <a:off x="5523475" y="357570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Different parameter choice =&gt; different shape</a:t>
            </a:r>
            <a:endParaRPr/>
          </a:p>
        </p:txBody>
      </p:sp>
      <p:sp>
        <p:nvSpPr>
          <p:cNvPr id="157" name="Google Shape;15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8" title="1790592148796-1e4fcfae-39c3-47c9-9b9f-95112ca6b898_19.png"/>
          <p:cNvPicPr preferRelativeResize="0"/>
          <p:nvPr/>
        </p:nvPicPr>
        <p:blipFill rotWithShape="1">
          <a:blip r:embed="rId3">
            <a:alphaModFix/>
          </a:blip>
          <a:srcRect b="8741" l="0" r="0" t="28555"/>
          <a:stretch/>
        </p:blipFill>
        <p:spPr>
          <a:xfrm>
            <a:off x="119737" y="120475"/>
            <a:ext cx="8920151" cy="421675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side-step into probability</a:t>
            </a:r>
            <a:endParaRPr/>
          </a:p>
        </p:txBody>
      </p:sp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go to the park. I am in the park with my friend Alf, leaning against a tree, tossing a coin. Alf notices that I get three heads in a row.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Alf hasn’t really got any eyebrows, but I can tell he is interested in this run of three heads by his demeanour.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 offer him a wager on the next toss. What does he bet?</a:t>
            </a:r>
            <a:endParaRPr/>
          </a:p>
        </p:txBody>
      </p:sp>
      <p:sp>
        <p:nvSpPr>
          <p:cNvPr id="170" name="Google Shape;17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1" title="1790592148796-1e4fcfae-39c3-47c9-9b9f-95112ca6b898_20.png"/>
          <p:cNvPicPr preferRelativeResize="0"/>
          <p:nvPr/>
        </p:nvPicPr>
        <p:blipFill rotWithShape="1">
          <a:blip r:embed="rId3">
            <a:alphaModFix/>
          </a:blip>
          <a:srcRect b="9776" l="0" r="0" t="26578"/>
          <a:stretch/>
        </p:blipFill>
        <p:spPr>
          <a:xfrm>
            <a:off x="156488" y="349850"/>
            <a:ext cx="8831025" cy="42376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12563"/>
            <a:ext cx="8591650" cy="269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2"/>
          <p:cNvSpPr txBox="1"/>
          <p:nvPr/>
        </p:nvSpPr>
        <p:spPr>
          <a:xfrm>
            <a:off x="500425" y="4300150"/>
            <a:ext cx="4707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B7280"/>
                </a:solidFill>
                <a:highlight>
                  <a:srgbClr val="FFFFFF"/>
                </a:highlight>
              </a:rPr>
              <a:t>Credit: DILBERT © 2001 Scott Adams [All rights reserved].</a:t>
            </a:r>
            <a:endParaRPr/>
          </a:p>
        </p:txBody>
      </p:sp>
      <p:sp>
        <p:nvSpPr>
          <p:cNvPr id="191" name="Google Shape;19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Random?</a:t>
            </a:r>
            <a:endParaRPr/>
          </a:p>
        </p:txBody>
      </p:sp>
      <p:sp>
        <p:nvSpPr>
          <p:cNvPr id="192" name="Google Shape;19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33" title="1790593123994-10203cdd-9f50-4998-8b73-bb0319099f21_5.png"/>
          <p:cNvPicPr preferRelativeResize="0"/>
          <p:nvPr/>
        </p:nvPicPr>
        <p:blipFill rotWithShape="1">
          <a:blip r:embed="rId3">
            <a:alphaModFix/>
          </a:blip>
          <a:srcRect b="10541" l="0" r="0" t="26756"/>
          <a:stretch/>
        </p:blipFill>
        <p:spPr>
          <a:xfrm>
            <a:off x="491175" y="1017725"/>
            <a:ext cx="8014249" cy="378852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True Random Numbers (for </a:t>
            </a:r>
            <a:r>
              <a:rPr lang="en"/>
              <a:t>cryptography</a:t>
            </a:r>
            <a:r>
              <a:rPr lang="en"/>
              <a:t>)</a:t>
            </a:r>
            <a:endParaRPr/>
          </a:p>
        </p:txBody>
      </p:sp>
      <p:sp>
        <p:nvSpPr>
          <p:cNvPr id="199" name="Google Shape;19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4" title="1790593123994-10203cdd-9f50-4998-8b73-bb0319099f21_6.png"/>
          <p:cNvPicPr preferRelativeResize="0"/>
          <p:nvPr/>
        </p:nvPicPr>
        <p:blipFill rotWithShape="1">
          <a:blip r:embed="rId3">
            <a:alphaModFix/>
          </a:blip>
          <a:srcRect b="32444" l="0" r="0" t="29408"/>
          <a:stretch/>
        </p:blipFill>
        <p:spPr>
          <a:xfrm>
            <a:off x="152400" y="1362325"/>
            <a:ext cx="8410826" cy="241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PseudoRandom Numbers (for us)</a:t>
            </a:r>
            <a:endParaRPr/>
          </a:p>
        </p:txBody>
      </p:sp>
      <p:sp>
        <p:nvSpPr>
          <p:cNvPr id="206" name="Google Shape;20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(outdated) PRN (don’t worry, numpy doesn’t use this) </a:t>
            </a:r>
            <a:endParaRPr/>
          </a:p>
        </p:txBody>
      </p:sp>
      <p:pic>
        <p:nvPicPr>
          <p:cNvPr id="212" name="Google Shape;212;p35" title="Screenshot 2026-09-28 at 12.40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150" y="1017725"/>
            <a:ext cx="7093599" cy="38454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Seed</a:t>
            </a:r>
            <a:endParaRPr/>
          </a:p>
        </p:txBody>
      </p:sp>
      <p:pic>
        <p:nvPicPr>
          <p:cNvPr id="219" name="Google Shape;219;p36" title="1790593123994-10203cdd-9f50-4998-8b73-bb0319099f21_9.png"/>
          <p:cNvPicPr preferRelativeResize="0"/>
          <p:nvPr/>
        </p:nvPicPr>
        <p:blipFill rotWithShape="1">
          <a:blip r:embed="rId3">
            <a:alphaModFix/>
          </a:blip>
          <a:srcRect b="14683" l="0" r="0" t="25680"/>
          <a:stretch/>
        </p:blipFill>
        <p:spPr>
          <a:xfrm>
            <a:off x="434800" y="1195525"/>
            <a:ext cx="7720650" cy="3471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6"/>
          <p:cNvSpPr txBox="1"/>
          <p:nvPr/>
        </p:nvSpPr>
        <p:spPr>
          <a:xfrm>
            <a:off x="3873850" y="639450"/>
            <a:ext cx="461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Only use a seed for testing!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1" name="Google Shape;221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7" title="1790593123994-10203cdd-9f50-4998-8b73-bb0319099f21_10.png"/>
          <p:cNvPicPr preferRelativeResize="0"/>
          <p:nvPr/>
        </p:nvPicPr>
        <p:blipFill rotWithShape="1">
          <a:blip r:embed="rId3">
            <a:alphaModFix/>
          </a:blip>
          <a:srcRect b="11074" l="0" r="0" t="27842"/>
          <a:stretch/>
        </p:blipFill>
        <p:spPr>
          <a:xfrm>
            <a:off x="916725" y="1371625"/>
            <a:ext cx="6822451" cy="314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the Seed</a:t>
            </a:r>
            <a:endParaRPr/>
          </a:p>
        </p:txBody>
      </p:sp>
      <p:sp>
        <p:nvSpPr>
          <p:cNvPr id="228" name="Google Shape;228;p37"/>
          <p:cNvSpPr txBox="1"/>
          <p:nvPr/>
        </p:nvSpPr>
        <p:spPr>
          <a:xfrm>
            <a:off x="3873850" y="639450"/>
            <a:ext cx="461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Only use a seed for testing!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9" name="Google Shape;22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more time…</a:t>
            </a:r>
            <a:endParaRPr/>
          </a:p>
        </p:txBody>
      </p:sp>
      <p:sp>
        <p:nvSpPr>
          <p:cNvPr id="235" name="Google Shape;235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Take the time to decide if this is the right module for you by reviewing the jupyter book notes available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Read through Terminology &amp; Concepts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 a first read of Probability Essentials before we meet on Monday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Come to the workshop on Wednesday for tech support &amp; chats</a:t>
            </a:r>
            <a:endParaRPr/>
          </a:p>
        </p:txBody>
      </p:sp>
      <p:sp>
        <p:nvSpPr>
          <p:cNvPr id="236" name="Google Shape;23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8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