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7ABDD0-47F0-45BA-8C1A-8814351CAFBB}">
  <a:tblStyle styleId="{077ABDD0-47F0-45BA-8C1A-8814351CAF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29fb71065eab2a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29fb71065eab2a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29fb71065eab2ab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29fb71065eab2ab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513c0b685c851b3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513c0b685c851b3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513c0b685c851b3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513c0b685c851b3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513c0b685c851b3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513c0b685c851b3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29fb71065eab2aba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29fb71065eab2aba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513c0b685c851b3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513c0b685c851b3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513c0b685c851b35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h513c0b685c851b35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513c0b685c851b35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h513c0b685c851b35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513c0b685c851b35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h513c0b685c851b35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513c0b685c851b35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h513c0b685c851b35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513c0b685c851b35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h513c0b685c851b35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h29fb71065eab2aba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h29fb71065eab2aba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5e9e15acffdbc9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h5e9e15acffdbc9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29fb71065eab2aba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h29fb71065eab2aba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513c0b685c851b35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513c0b685c851b3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513c0b685c851b3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h513c0b685c851b3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h513c0b685c851b35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h513c0b685c851b35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h513c0b685c851b35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h513c0b685c851b35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h513c0b685c851b35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h513c0b685c851b35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h513c0b685c851b35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h513c0b685c851b35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h513c0b685c851b35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h513c0b685c851b35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h513c0b685c851b35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h513c0b685c851b35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h513c0b685c851b35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h513c0b685c851b35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h513c0b685c851b35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h513c0b685c851b35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h60f0fec122df6af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h60f0fec122df6af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h60f0fec122df6a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h60f0fec122df6a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h60f0fec122df6af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h60f0fec122df6af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h60f0fec122df6af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h60f0fec122df6af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h513c0b685c851b35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h513c0b685c851b35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h513c0b685c851b35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h513c0b685c851b35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h513c0b685c851b35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h513c0b685c851b35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h513c0b685c851b35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h513c0b685c851b35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h513c0b685c851b35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h513c0b685c851b35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h513c0b685c851b35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h513c0b685c851b35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h60f0fec122df6af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h60f0fec122df6af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h513c0b685c851b35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h513c0b685c851b35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h513c0b685c851b35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h513c0b685c851b35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h513c0b685c851b35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h513c0b685c851b35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h513c0b685c851b35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h513c0b685c851b35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h513c0b685c851b35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h513c0b685c851b35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h513c0b685c851b35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h513c0b685c851b35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513c0b685c851b35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513c0b685c851b35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h513c0b685c851b35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h513c0b685c851b35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h513c0b685c851b35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h513c0b685c851b35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h513c0b685c851b35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h513c0b685c851b35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h513c0b685c851b35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h513c0b685c851b35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h513c0b685c851b35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h513c0b685c851b35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h513c0b685c851b35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h513c0b685c851b35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h513c0b685c851b35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h513c0b685c851b35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jpg"/><Relationship Id="rId4" Type="http://schemas.openxmlformats.org/officeDocument/2006/relationships/image" Target="../media/image29.jpg"/><Relationship Id="rId5" Type="http://schemas.openxmlformats.org/officeDocument/2006/relationships/image" Target="../media/image3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Relationship Id="rId8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Relationship Id="rId4" Type="http://schemas.openxmlformats.org/officeDocument/2006/relationships/image" Target="../media/image22.png"/><Relationship Id="rId5" Type="http://schemas.openxmlformats.org/officeDocument/2006/relationships/image" Target="../media/image3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png"/><Relationship Id="rId4" Type="http://schemas.openxmlformats.org/officeDocument/2006/relationships/image" Target="../media/image36.png"/><Relationship Id="rId5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4.png"/><Relationship Id="rId4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4.png"/><Relationship Id="rId4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png"/><Relationship Id="rId4" Type="http://schemas.openxmlformats.org/officeDocument/2006/relationships/image" Target="../media/image37.png"/><Relationship Id="rId5" Type="http://schemas.openxmlformats.org/officeDocument/2006/relationships/image" Target="../media/image40.png"/><Relationship Id="rId6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1.png"/><Relationship Id="rId4" Type="http://schemas.openxmlformats.org/officeDocument/2006/relationships/image" Target="../media/image45.png"/><Relationship Id="rId5" Type="http://schemas.openxmlformats.org/officeDocument/2006/relationships/image" Target="../media/image37.png"/><Relationship Id="rId6" Type="http://schemas.openxmlformats.org/officeDocument/2006/relationships/image" Target="../media/image4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image" Target="../media/image47.png"/><Relationship Id="rId6" Type="http://schemas.openxmlformats.org/officeDocument/2006/relationships/image" Target="../media/image51.png"/><Relationship Id="rId7" Type="http://schemas.openxmlformats.org/officeDocument/2006/relationships/image" Target="../media/image4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Relationship Id="rId5" Type="http://schemas.openxmlformats.org/officeDocument/2006/relationships/image" Target="../media/image4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0.png"/><Relationship Id="rId4" Type="http://schemas.openxmlformats.org/officeDocument/2006/relationships/image" Target="../media/image5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8.jpg"/><Relationship Id="rId4" Type="http://schemas.openxmlformats.org/officeDocument/2006/relationships/hyperlink" Target="https://www.tylervigen.com/spurious-correlations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 Analysis Techniques 890F3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Describing Data</a:t>
            </a:r>
            <a:endParaRPr/>
          </a:p>
        </p:txBody>
      </p:sp>
      <p:pic>
        <p:nvPicPr>
          <p:cNvPr id="56" name="Google Shape;56;p13" title="dic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9575" y="3626725"/>
            <a:ext cx="1215450" cy="122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sussex-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1" y="3626725"/>
            <a:ext cx="1406757" cy="12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we are</a:t>
            </a:r>
            <a:endParaRPr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4953000" y="355025"/>
            <a:ext cx="3879300" cy="738900"/>
          </a:xfrm>
          <a:prstGeom prst="rect">
            <a:avLst/>
          </a:prstGeom>
          <a:solidFill>
            <a:srgbClr val="00C20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</a:rPr>
              <a:t>Broad &amp; Shallow intro to things we will keep revisiting</a:t>
            </a:r>
            <a:endParaRPr b="1" sz="1800">
              <a:solidFill>
                <a:schemeClr val="lt1"/>
              </a:solidFill>
            </a:endParaRPr>
          </a:p>
        </p:txBody>
      </p:sp>
      <p:pic>
        <p:nvPicPr>
          <p:cNvPr id="65" name="Google Shape;65;p14" title="Screenshot 2026-10-08 at 08.26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83950"/>
            <a:ext cx="7406299" cy="2886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4"/>
          <p:cNvCxnSpPr/>
          <p:nvPr/>
        </p:nvCxnSpPr>
        <p:spPr>
          <a:xfrm flipH="1" rot="10800000">
            <a:off x="3962250" y="1246325"/>
            <a:ext cx="3082800" cy="741900"/>
          </a:xfrm>
          <a:prstGeom prst="bent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4"/>
          <p:cNvSpPr/>
          <p:nvPr/>
        </p:nvSpPr>
        <p:spPr>
          <a:xfrm>
            <a:off x="6764700" y="2568925"/>
            <a:ext cx="1896300" cy="716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</a:t>
            </a:r>
            <a:endParaRPr b="1"/>
          </a:p>
        </p:txBody>
      </p:sp>
      <p:sp>
        <p:nvSpPr>
          <p:cNvPr id="68" name="Google Shape;68;p14"/>
          <p:cNvSpPr/>
          <p:nvPr/>
        </p:nvSpPr>
        <p:spPr>
          <a:xfrm>
            <a:off x="2240650" y="2766775"/>
            <a:ext cx="1923000" cy="317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299350" y="4553850"/>
            <a:ext cx="82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This lecture has extension material </a:t>
            </a:r>
            <a:r>
              <a:rPr lang="en" sz="1800">
                <a:solidFill>
                  <a:schemeClr val="accent1"/>
                </a:solidFill>
              </a:rPr>
              <a:t>(</a:t>
            </a:r>
            <a:r>
              <a:rPr lang="en" sz="1800">
                <a:solidFill>
                  <a:srgbClr val="FF0000"/>
                </a:solidFill>
              </a:rPr>
              <a:t>a bit trickier</a:t>
            </a:r>
            <a:r>
              <a:rPr lang="en" sz="1800">
                <a:solidFill>
                  <a:schemeClr val="accent1"/>
                </a:solidFill>
              </a:rPr>
              <a:t>) </a:t>
            </a:r>
            <a:r>
              <a:rPr lang="en" sz="1800">
                <a:solidFill>
                  <a:schemeClr val="accent1"/>
                </a:solidFill>
              </a:rPr>
              <a:t>not yet in the notebook.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6289150" y="4201525"/>
            <a:ext cx="280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Find your own pace.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learning</a:t>
            </a:r>
            <a:endParaRPr/>
          </a:p>
        </p:txBody>
      </p:sp>
      <p:pic>
        <p:nvPicPr>
          <p:cNvPr id="76" name="Google Shape;76;p15" title="Screenshot 2026-10-08 at 08.35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907799" cy="7068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152400" y="1876925"/>
            <a:ext cx="238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Lectures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659650" y="1876925"/>
            <a:ext cx="11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Workshops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3040550" y="1876925"/>
            <a:ext cx="289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Independent Study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177205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152400" y="117012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96120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258290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393750" y="117012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420460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501545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5826300" y="117012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663715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744800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825885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252650" y="2701800"/>
            <a:ext cx="7698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Lectures </a:t>
            </a:r>
            <a:r>
              <a:rPr lang="en" sz="1800">
                <a:solidFill>
                  <a:schemeClr val="dk1"/>
                </a:solidFill>
              </a:rPr>
              <a:t>will generally focus on </a:t>
            </a:r>
            <a:r>
              <a:rPr b="1" lang="en" sz="1800">
                <a:solidFill>
                  <a:schemeClr val="dk1"/>
                </a:solidFill>
              </a:rPr>
              <a:t>a couple of select topics</a:t>
            </a:r>
            <a:r>
              <a:rPr lang="en" sz="1800">
                <a:solidFill>
                  <a:schemeClr val="dk1"/>
                </a:solidFill>
              </a:rPr>
              <a:t> from the notes, and extension/additional related materials.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Please read through the relevant notes before the lecture, especially if this is your first rodeo.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learning</a:t>
            </a:r>
            <a:endParaRPr/>
          </a:p>
        </p:txBody>
      </p:sp>
      <p:pic>
        <p:nvPicPr>
          <p:cNvPr id="97" name="Google Shape;97;p16" title="Screenshot 2026-10-08 at 08.35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907799" cy="706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 txBox="1"/>
          <p:nvPr/>
        </p:nvSpPr>
        <p:spPr>
          <a:xfrm>
            <a:off x="152400" y="1876925"/>
            <a:ext cx="238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Lectures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1659650" y="1876925"/>
            <a:ext cx="11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Workshops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3040550" y="1876925"/>
            <a:ext cx="289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Independent Study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177205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152400" y="117012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96120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258290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3393750" y="117012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420460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501545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5826300" y="117012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663715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744800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825885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252650" y="2701800"/>
            <a:ext cx="7698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Workshops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1"/>
                </a:solidFill>
              </a:rPr>
              <a:t>will consist of python exercises.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point is to encourage student-led investigations into solving relevant problems using python.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example solutions I provide after the workshop are not model solutions. They are narrative suggestions for DT &lt;-&gt; student discussions.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learning</a:t>
            </a:r>
            <a:endParaRPr/>
          </a:p>
        </p:txBody>
      </p:sp>
      <p:pic>
        <p:nvPicPr>
          <p:cNvPr id="118" name="Google Shape;118;p17" title="Screenshot 2026-10-08 at 08.35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907799" cy="70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152400" y="1876925"/>
            <a:ext cx="238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Lectures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1659650" y="1876925"/>
            <a:ext cx="11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Workshops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3040550" y="1876925"/>
            <a:ext cx="289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Independent Study</a:t>
            </a:r>
            <a:endParaRPr b="1">
              <a:solidFill>
                <a:schemeClr val="dk2"/>
              </a:solidFill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177205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152400" y="117012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96120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258290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3393750" y="117012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420460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501545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5826300" y="117012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663715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744800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8258850" y="1172275"/>
            <a:ext cx="808800" cy="70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216300" y="2465400"/>
            <a:ext cx="76989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Independent Study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1"/>
                </a:solidFill>
              </a:rPr>
              <a:t>is for you to decide, and will be strongly dependent on your background.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 know this can feel like an abyss, especially for students with multiple </a:t>
            </a:r>
            <a:r>
              <a:rPr lang="en" sz="1800">
                <a:solidFill>
                  <a:schemeClr val="dk1"/>
                </a:solidFill>
              </a:rPr>
              <a:t>competing commitments.</a:t>
            </a:r>
            <a:endParaRPr sz="18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Baseline: Jupyter book, coursework, workshop exercises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Extra: See the resources at the bottom of the jupyter book front page, and find your own.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Think: How are the topics relevant to your project/dissertation/future job interview?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introduced in sections 1 &amp; 2</a:t>
            </a:r>
            <a:endParaRPr/>
          </a:p>
        </p:txBody>
      </p:sp>
      <p:pic>
        <p:nvPicPr>
          <p:cNvPr id="139" name="Google Shape;139;p18" title="Screenshot 2026-10-08 at 08.28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075" y="1566749"/>
            <a:ext cx="5036874" cy="105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 title="Screenshot 2026-10-08 at 08.28.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075" y="3051950"/>
            <a:ext cx="4452801" cy="148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6570200" y="1154075"/>
            <a:ext cx="19902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Find your own pace.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New to python: you will get lots of practice this term.</a:t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Experienced and expert: focus on an area you are not expert in.</a:t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 Probability Essentials</a:t>
            </a:r>
            <a:endParaRPr/>
          </a:p>
        </p:txBody>
      </p:sp>
      <p:sp>
        <p:nvSpPr>
          <p:cNvPr id="147" name="Google Shape;14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 focused on: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Conditional and Total Probability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Bayes’ Theorem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Distributions, Normalisation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9" title="Screenshot 2026-10-04 at 19.40.40.png"/>
          <p:cNvPicPr preferRelativeResize="0"/>
          <p:nvPr/>
        </p:nvPicPr>
        <p:blipFill rotWithShape="1">
          <a:blip r:embed="rId3">
            <a:alphaModFix/>
          </a:blip>
          <a:srcRect b="24264" l="33506" r="37455" t="35919"/>
          <a:stretch/>
        </p:blipFill>
        <p:spPr>
          <a:xfrm>
            <a:off x="5478701" y="933525"/>
            <a:ext cx="2026227" cy="7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/>
          <p:nvPr/>
        </p:nvSpPr>
        <p:spPr>
          <a:xfrm>
            <a:off x="5478725" y="842600"/>
            <a:ext cx="2026200" cy="891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5443175" y="380900"/>
            <a:ext cx="278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85F4"/>
                </a:solidFill>
              </a:rPr>
              <a:t>Conditional = Joint / Total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5529700" y="2996125"/>
            <a:ext cx="3051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85F4"/>
                </a:solidFill>
              </a:rPr>
              <a:t>Bayes’ Theorem only has Conditionals and Totals</a:t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152" name="Google Shape;152;p19" title="Screenshot 2026-10-04 at 19.42.54.png"/>
          <p:cNvPicPr preferRelativeResize="0"/>
          <p:nvPr/>
        </p:nvPicPr>
        <p:blipFill rotWithShape="1">
          <a:blip r:embed="rId4">
            <a:alphaModFix/>
          </a:blip>
          <a:srcRect b="6047" l="31495" r="35345" t="80700"/>
          <a:stretch/>
        </p:blipFill>
        <p:spPr>
          <a:xfrm>
            <a:off x="5424725" y="2088988"/>
            <a:ext cx="2818799" cy="81387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/>
          <p:nvPr/>
        </p:nvSpPr>
        <p:spPr>
          <a:xfrm>
            <a:off x="5478725" y="2049963"/>
            <a:ext cx="2545800" cy="891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9" title="Screenshot 2026-10-10 at 07.54.3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725" y="2784925"/>
            <a:ext cx="4051201" cy="230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 Probability Essentials</a:t>
            </a:r>
            <a:endParaRPr/>
          </a:p>
        </p:txBody>
      </p:sp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noted that the PDF does not return a probability, but a density.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0" title="dat_NormalPDFandCD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6925" y="1718775"/>
            <a:ext cx="4608275" cy="329772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/>
        </p:nvSpPr>
        <p:spPr>
          <a:xfrm>
            <a:off x="5062175" y="81650"/>
            <a:ext cx="393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85F4"/>
                </a:solidFill>
              </a:rPr>
              <a:t>We will revisit the CDF lots of times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1" title="Screenshot 2026-10-10 at 09.46.33.png"/>
          <p:cNvPicPr preferRelativeResize="0"/>
          <p:nvPr/>
        </p:nvPicPr>
        <p:blipFill rotWithShape="1">
          <a:blip r:embed="rId3">
            <a:alphaModFix/>
          </a:blip>
          <a:srcRect b="62970" l="0" r="0" t="0"/>
          <a:stretch/>
        </p:blipFill>
        <p:spPr>
          <a:xfrm>
            <a:off x="408225" y="1193700"/>
            <a:ext cx="7105163" cy="1049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1" title="Screenshot 2026-10-10 at 09.47.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225" y="380900"/>
            <a:ext cx="6311426" cy="6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1" title="Screenshot 2026-10-10 at 09.46.33.png"/>
          <p:cNvPicPr preferRelativeResize="0"/>
          <p:nvPr/>
        </p:nvPicPr>
        <p:blipFill rotWithShape="1">
          <a:blip r:embed="rId3">
            <a:alphaModFix/>
          </a:blip>
          <a:srcRect b="0" l="19277" r="48117" t="34392"/>
          <a:stretch/>
        </p:blipFill>
        <p:spPr>
          <a:xfrm>
            <a:off x="925350" y="2407775"/>
            <a:ext cx="2721401" cy="218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 title="dat_NormalPDFandCDF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6750" y="1925025"/>
            <a:ext cx="4124551" cy="295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2" title="dat_NormalPDFandCD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8925" y="-4"/>
            <a:ext cx="2295076" cy="164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2" title="Screenshot 2026-10-10 at 09.47.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225" y="380900"/>
            <a:ext cx="6311426" cy="6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2" title="Screenshot 2026-10-10 at 09.49.22.png"/>
          <p:cNvPicPr preferRelativeResize="0"/>
          <p:nvPr/>
        </p:nvPicPr>
        <p:blipFill rotWithShape="1">
          <a:blip r:embed="rId5">
            <a:alphaModFix/>
          </a:blip>
          <a:srcRect b="0" l="0" r="44825" t="0"/>
          <a:stretch/>
        </p:blipFill>
        <p:spPr>
          <a:xfrm>
            <a:off x="489850" y="2703300"/>
            <a:ext cx="3846299" cy="175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 title="Screenshot 2026-10-10 at 09.49.1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8625" y="1129400"/>
            <a:ext cx="4548424" cy="85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 title="BivariateGaussian-mda-0.png"/>
          <p:cNvPicPr preferRelativeResize="0"/>
          <p:nvPr/>
        </p:nvPicPr>
        <p:blipFill rotWithShape="1">
          <a:blip r:embed="rId7">
            <a:alphaModFix/>
          </a:blip>
          <a:srcRect b="0" l="0" r="13367" t="13667"/>
          <a:stretch/>
        </p:blipFill>
        <p:spPr>
          <a:xfrm>
            <a:off x="5191200" y="2077350"/>
            <a:ext cx="2909600" cy="275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/>
          <p:nvPr/>
        </p:nvSpPr>
        <p:spPr>
          <a:xfrm>
            <a:off x="6848925" y="2077336"/>
            <a:ext cx="1233600" cy="1224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2"/>
          <p:cNvSpPr txBox="1"/>
          <p:nvPr/>
        </p:nvSpPr>
        <p:spPr>
          <a:xfrm>
            <a:off x="6776375" y="3927950"/>
            <a:ext cx="123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Joint PDF</a:t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3" title="dat_NormalPDFandCD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8925" y="-4"/>
            <a:ext cx="2295076" cy="164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3" title="Screenshot 2026-10-10 at 09.47.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225" y="380900"/>
            <a:ext cx="6311426" cy="6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3" title="BivariateGaussian-mda-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0549" y="1785696"/>
            <a:ext cx="3358665" cy="3196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 title="Screenshot 2026-10-10 at 09.56.00.png"/>
          <p:cNvPicPr preferRelativeResize="0"/>
          <p:nvPr/>
        </p:nvPicPr>
        <p:blipFill rotWithShape="1">
          <a:blip r:embed="rId6">
            <a:alphaModFix/>
          </a:blip>
          <a:srcRect b="85084" l="0" r="53232" t="0"/>
          <a:stretch/>
        </p:blipFill>
        <p:spPr>
          <a:xfrm>
            <a:off x="453575" y="2059152"/>
            <a:ext cx="3358676" cy="37199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 txBox="1"/>
          <p:nvPr/>
        </p:nvSpPr>
        <p:spPr>
          <a:xfrm>
            <a:off x="4000525" y="1560725"/>
            <a:ext cx="229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Marginal</a:t>
            </a:r>
            <a:r>
              <a:rPr lang="en" sz="1800">
                <a:solidFill>
                  <a:schemeClr val="accent1"/>
                </a:solidFill>
              </a:rPr>
              <a:t> PDF for X</a:t>
            </a:r>
            <a:endParaRPr sz="1800">
              <a:solidFill>
                <a:schemeClr val="accent1"/>
              </a:solidFill>
            </a:endParaRPr>
          </a:p>
        </p:txBody>
      </p:sp>
      <p:cxnSp>
        <p:nvCxnSpPr>
          <p:cNvPr id="191" name="Google Shape;191;p23"/>
          <p:cNvCxnSpPr>
            <a:stCxn id="190" idx="3"/>
          </p:cNvCxnSpPr>
          <p:nvPr/>
        </p:nvCxnSpPr>
        <p:spPr>
          <a:xfrm>
            <a:off x="6295525" y="1791575"/>
            <a:ext cx="517200" cy="20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" name="Google Shape;192;p23"/>
          <p:cNvSpPr/>
          <p:nvPr/>
        </p:nvSpPr>
        <p:spPr>
          <a:xfrm>
            <a:off x="7366000" y="2240625"/>
            <a:ext cx="1206300" cy="2385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23" title="Screenshot 2026-10-10 at 16.20.4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7100" y="2644500"/>
            <a:ext cx="3902526" cy="176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3"/>
          <p:cNvSpPr txBox="1"/>
          <p:nvPr/>
        </p:nvSpPr>
        <p:spPr>
          <a:xfrm>
            <a:off x="3690300" y="4623875"/>
            <a:ext cx="229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Marginal PDF for Y</a:t>
            </a:r>
            <a:endParaRPr sz="1800">
              <a:solidFill>
                <a:schemeClr val="accent1"/>
              </a:solidFill>
            </a:endParaRPr>
          </a:p>
        </p:txBody>
      </p:sp>
      <p:cxnSp>
        <p:nvCxnSpPr>
          <p:cNvPr id="195" name="Google Shape;195;p23"/>
          <p:cNvCxnSpPr/>
          <p:nvPr/>
        </p:nvCxnSpPr>
        <p:spPr>
          <a:xfrm flipH="1" rot="10800000">
            <a:off x="5858275" y="3936875"/>
            <a:ext cx="2623500" cy="94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Monty Hall</a:t>
            </a:r>
            <a:endParaRPr/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Discovering a potential employee who could explain this clearly would impress me</a:t>
            </a:r>
            <a:endParaRPr/>
          </a:p>
        </p:txBody>
      </p:sp>
      <p:pic>
        <p:nvPicPr>
          <p:cNvPr id="202" name="Google Shape;202;p24" title="AdobeStock_1010047626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3775" y="2534550"/>
            <a:ext cx="1935427" cy="1289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4" title="AdobeStock_668633242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6275" y="2615637"/>
            <a:ext cx="1804749" cy="1202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4" title="AdobeStock_1010049481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95901" y="2535250"/>
            <a:ext cx="2045972" cy="136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Describing Data</a:t>
            </a:r>
            <a:endParaRPr/>
          </a:p>
        </p:txBody>
      </p:sp>
      <p:pic>
        <p:nvPicPr>
          <p:cNvPr id="210" name="Google Shape;210;p25" title="Screenshot 2026-10-08 at 08.41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7945102" cy="354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</a:t>
            </a:r>
            <a:endParaRPr/>
          </a:p>
        </p:txBody>
      </p:sp>
      <p:sp>
        <p:nvSpPr>
          <p:cNvPr id="216" name="Google Shape;21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True mean E[X] and variance V[X]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Covariance and Linear Correlations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* </a:t>
            </a:r>
            <a:r>
              <a:rPr lang="en"/>
              <a:t>Uncertainties on functions using Expectation Algebra and using Taylor Series </a:t>
            </a:r>
            <a:r>
              <a:rPr lang="en">
                <a:solidFill>
                  <a:srgbClr val="FF00FF"/>
                </a:solidFill>
              </a:rPr>
              <a:t>*</a:t>
            </a:r>
            <a:endParaRPr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6"/>
          <p:cNvSpPr txBox="1"/>
          <p:nvPr/>
        </p:nvSpPr>
        <p:spPr>
          <a:xfrm>
            <a:off x="6842100" y="181725"/>
            <a:ext cx="1990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Find your own pace.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218" name="Google Shape;218;p26"/>
          <p:cNvSpPr txBox="1"/>
          <p:nvPr/>
        </p:nvSpPr>
        <p:spPr>
          <a:xfrm>
            <a:off x="879700" y="3523850"/>
            <a:ext cx="75081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00FF"/>
                </a:solidFill>
              </a:rPr>
              <a:t>* </a:t>
            </a:r>
            <a:r>
              <a:rPr lang="en" sz="1700">
                <a:solidFill>
                  <a:srgbClr val="FF00FF"/>
                </a:solidFill>
              </a:rPr>
              <a:t>The last part might be challenging for those with less privileged math backgrounds, but some of the students here will appreciate a reminder/intro to the methods for propagating uncertainties.</a:t>
            </a:r>
            <a:endParaRPr sz="1700">
              <a:solidFill>
                <a:srgbClr val="FF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Expectation: needs a probability distribution </a:t>
            </a:r>
            <a:endParaRPr/>
          </a:p>
        </p:txBody>
      </p:sp>
      <p:pic>
        <p:nvPicPr>
          <p:cNvPr id="224" name="Google Shape;224;p27" title="Screenshot 2026-10-08 at 08.45.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900" y="1395600"/>
            <a:ext cx="2828550" cy="115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7" title="Screenshot 2026-10-10 at 07.23.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492" y="3224900"/>
            <a:ext cx="2032283" cy="115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7"/>
          <p:cNvSpPr/>
          <p:nvPr/>
        </p:nvSpPr>
        <p:spPr>
          <a:xfrm>
            <a:off x="2499050" y="1799325"/>
            <a:ext cx="345300" cy="4617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7"/>
          <p:cNvSpPr/>
          <p:nvPr/>
        </p:nvSpPr>
        <p:spPr>
          <a:xfrm>
            <a:off x="1152025" y="3360275"/>
            <a:ext cx="510900" cy="9744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7"/>
          <p:cNvSpPr txBox="1"/>
          <p:nvPr/>
        </p:nvSpPr>
        <p:spPr>
          <a:xfrm>
            <a:off x="4142800" y="1719150"/>
            <a:ext cx="4489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Discrete probabilities sum to 1.</a:t>
            </a:r>
            <a:endParaRPr b="1"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Expectation is normalised without needing the 1/N </a:t>
            </a:r>
            <a:endParaRPr b="1" sz="1800">
              <a:solidFill>
                <a:schemeClr val="accent1"/>
              </a:solidFill>
            </a:endParaRPr>
          </a:p>
        </p:txBody>
      </p:sp>
      <p:sp>
        <p:nvSpPr>
          <p:cNvPr id="229" name="Google Shape;229;p27"/>
          <p:cNvSpPr txBox="1"/>
          <p:nvPr/>
        </p:nvSpPr>
        <p:spPr>
          <a:xfrm>
            <a:off x="4142800" y="3776550"/>
            <a:ext cx="4489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When calculating the mean of a dataset, we do not rely on knowing the underlying probability distribution</a:t>
            </a:r>
            <a:endParaRPr b="1" sz="1800">
              <a:solidFill>
                <a:schemeClr val="accent1"/>
              </a:solidFill>
            </a:endParaRPr>
          </a:p>
        </p:txBody>
      </p:sp>
      <p:cxnSp>
        <p:nvCxnSpPr>
          <p:cNvPr id="230" name="Google Shape;230;p27"/>
          <p:cNvCxnSpPr/>
          <p:nvPr/>
        </p:nvCxnSpPr>
        <p:spPr>
          <a:xfrm rot="10800000">
            <a:off x="2812125" y="4036700"/>
            <a:ext cx="1179300" cy="21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Expectation: True Mean </a:t>
            </a:r>
            <a:endParaRPr/>
          </a:p>
        </p:txBody>
      </p:sp>
      <p:pic>
        <p:nvPicPr>
          <p:cNvPr id="236" name="Google Shape;236;p28" title="Screenshot 2026-10-08 at 08.45.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900" y="1395600"/>
            <a:ext cx="2828550" cy="115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8" title="Screenshot 2026-10-10 at 07.23.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492" y="3224900"/>
            <a:ext cx="2032283" cy="115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8"/>
          <p:cNvSpPr/>
          <p:nvPr/>
        </p:nvSpPr>
        <p:spPr>
          <a:xfrm>
            <a:off x="1662925" y="1435825"/>
            <a:ext cx="510900" cy="307200"/>
          </a:xfrm>
          <a:prstGeom prst="ellipse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8"/>
          <p:cNvSpPr txBox="1"/>
          <p:nvPr/>
        </p:nvSpPr>
        <p:spPr>
          <a:xfrm>
            <a:off x="4162150" y="1304725"/>
            <a:ext cx="4489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Infinite number of measurements - not available to us in the real universe!</a:t>
            </a:r>
            <a:endParaRPr b="1" sz="1800">
              <a:solidFill>
                <a:schemeClr val="accent1"/>
              </a:solidFill>
            </a:endParaRPr>
          </a:p>
        </p:txBody>
      </p:sp>
      <p:sp>
        <p:nvSpPr>
          <p:cNvPr id="240" name="Google Shape;240;p28"/>
          <p:cNvSpPr txBox="1"/>
          <p:nvPr/>
        </p:nvSpPr>
        <p:spPr>
          <a:xfrm>
            <a:off x="4205275" y="2702275"/>
            <a:ext cx="4489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The Expectation (truth) has a single fixed value.</a:t>
            </a:r>
            <a:endParaRPr b="1"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The mean can change every time we add a new measurement.</a:t>
            </a:r>
            <a:endParaRPr b="1"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 for discrete and continuous RVs </a:t>
            </a:r>
            <a:endParaRPr/>
          </a:p>
        </p:txBody>
      </p:sp>
      <p:pic>
        <p:nvPicPr>
          <p:cNvPr id="246" name="Google Shape;246;p29" title="Screenshot 2026-10-08 at 08.45.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900" y="1395600"/>
            <a:ext cx="2633125" cy="107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9" title="Screenshot 2026-10-08 at 08.45.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932725"/>
            <a:ext cx="3051750" cy="136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9"/>
          <p:cNvSpPr txBox="1"/>
          <p:nvPr/>
        </p:nvSpPr>
        <p:spPr>
          <a:xfrm>
            <a:off x="3823900" y="1744375"/>
            <a:ext cx="231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Discrete RV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9" name="Google Shape;249;p29"/>
          <p:cNvSpPr txBox="1"/>
          <p:nvPr/>
        </p:nvSpPr>
        <p:spPr>
          <a:xfrm>
            <a:off x="3823900" y="3332600"/>
            <a:ext cx="231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Continuous</a:t>
            </a:r>
            <a:r>
              <a:rPr b="1" lang="en" sz="1800">
                <a:solidFill>
                  <a:schemeClr val="accent1"/>
                </a:solidFill>
              </a:rPr>
              <a:t> RV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0" name="Google Shape;250;p29"/>
          <p:cNvSpPr txBox="1"/>
          <p:nvPr/>
        </p:nvSpPr>
        <p:spPr>
          <a:xfrm>
            <a:off x="3895275" y="2206075"/>
            <a:ext cx="496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p</a:t>
            </a:r>
            <a:r>
              <a:rPr b="1" baseline="-25000" lang="en" sz="1800">
                <a:solidFill>
                  <a:schemeClr val="accent1"/>
                </a:solidFill>
              </a:rPr>
              <a:t>i</a:t>
            </a:r>
            <a:r>
              <a:rPr b="1" lang="en" sz="1800">
                <a:solidFill>
                  <a:schemeClr val="accent1"/>
                </a:solidFill>
              </a:rPr>
              <a:t> is PMF: probability of measuring value x</a:t>
            </a:r>
            <a:r>
              <a:rPr b="1" baseline="-25000" lang="en" sz="1800">
                <a:solidFill>
                  <a:schemeClr val="accent1"/>
                </a:solidFill>
              </a:rPr>
              <a:t>i</a:t>
            </a:r>
            <a:r>
              <a:rPr b="1" lang="en" sz="1800">
                <a:solidFill>
                  <a:schemeClr val="accent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1" name="Google Shape;251;p29"/>
          <p:cNvSpPr txBox="1"/>
          <p:nvPr/>
        </p:nvSpPr>
        <p:spPr>
          <a:xfrm>
            <a:off x="3939950" y="3794300"/>
            <a:ext cx="464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f</a:t>
            </a:r>
            <a:r>
              <a:rPr b="1" baseline="-25000" lang="en" sz="1800">
                <a:solidFill>
                  <a:schemeClr val="accent1"/>
                </a:solidFill>
              </a:rPr>
              <a:t>X</a:t>
            </a:r>
            <a:r>
              <a:rPr b="1" lang="en" sz="1800">
                <a:solidFill>
                  <a:schemeClr val="accent1"/>
                </a:solidFill>
              </a:rPr>
              <a:t> (x</a:t>
            </a:r>
            <a:r>
              <a:rPr b="1" baseline="-25000" lang="en" sz="1800">
                <a:solidFill>
                  <a:schemeClr val="accent1"/>
                </a:solidFill>
              </a:rPr>
              <a:t>i</a:t>
            </a:r>
            <a:r>
              <a:rPr b="1" lang="en" sz="1800">
                <a:solidFill>
                  <a:schemeClr val="accent1"/>
                </a:solidFill>
              </a:rPr>
              <a:t>) is PDF: not a probability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 Example</a:t>
            </a:r>
            <a:endParaRPr/>
          </a:p>
        </p:txBody>
      </p:sp>
      <p:pic>
        <p:nvPicPr>
          <p:cNvPr id="257" name="Google Shape;257;p30" title="Screenshot 2026-10-10 at 12.13.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1225" y="83925"/>
            <a:ext cx="2201075" cy="48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0" title="Screenshot 2026-10-10 at 12.11.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575" y="3800000"/>
            <a:ext cx="4042575" cy="62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0" title="Screenshot 2026-10-10 at 12.11.36.png"/>
          <p:cNvPicPr preferRelativeResize="0"/>
          <p:nvPr/>
        </p:nvPicPr>
        <p:blipFill rotWithShape="1">
          <a:blip r:embed="rId5">
            <a:alphaModFix/>
          </a:blip>
          <a:srcRect b="77212" l="0" r="53796" t="0"/>
          <a:stretch/>
        </p:blipFill>
        <p:spPr>
          <a:xfrm>
            <a:off x="390075" y="1098154"/>
            <a:ext cx="2540000" cy="48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0" title="Screenshot 2026-10-10 at 12.11.5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16725" y="1338725"/>
            <a:ext cx="3915574" cy="204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0" title="Screenshot 2026-10-10 at 12.11.36.png"/>
          <p:cNvPicPr preferRelativeResize="0"/>
          <p:nvPr/>
        </p:nvPicPr>
        <p:blipFill rotWithShape="1">
          <a:blip r:embed="rId5">
            <a:alphaModFix/>
          </a:blip>
          <a:srcRect b="0" l="47887" r="0" t="23711"/>
          <a:stretch/>
        </p:blipFill>
        <p:spPr>
          <a:xfrm>
            <a:off x="471725" y="1659400"/>
            <a:ext cx="2864750" cy="1609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0"/>
          <p:cNvSpPr txBox="1"/>
          <p:nvPr/>
        </p:nvSpPr>
        <p:spPr>
          <a:xfrm>
            <a:off x="4771575" y="3855350"/>
            <a:ext cx="4154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85F4"/>
                </a:solidFill>
              </a:rPr>
              <a:t>The </a:t>
            </a:r>
            <a:r>
              <a:rPr lang="en" sz="1800">
                <a:solidFill>
                  <a:srgbClr val="4285F4"/>
                </a:solidFill>
              </a:rPr>
              <a:t>expectation</a:t>
            </a:r>
            <a:r>
              <a:rPr lang="en" sz="1800">
                <a:solidFill>
                  <a:srgbClr val="4285F4"/>
                </a:solidFill>
              </a:rPr>
              <a:t> is the mean value of the PDF over its support.</a:t>
            </a:r>
            <a:endParaRPr sz="1800">
              <a:solidFill>
                <a:srgbClr val="4285F4"/>
              </a:solidFill>
            </a:endParaRPr>
          </a:p>
        </p:txBody>
      </p:sp>
      <p:cxnSp>
        <p:nvCxnSpPr>
          <p:cNvPr id="263" name="Google Shape;263;p30"/>
          <p:cNvCxnSpPr>
            <a:stCxn id="262" idx="0"/>
          </p:cNvCxnSpPr>
          <p:nvPr/>
        </p:nvCxnSpPr>
        <p:spPr>
          <a:xfrm flipH="1" rot="10800000">
            <a:off x="6848925" y="3156950"/>
            <a:ext cx="1424100" cy="698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 and Variance</a:t>
            </a:r>
            <a:endParaRPr/>
          </a:p>
        </p:txBody>
      </p:sp>
      <p:sp>
        <p:nvSpPr>
          <p:cNvPr id="269" name="Google Shape;269;p31"/>
          <p:cNvSpPr txBox="1"/>
          <p:nvPr/>
        </p:nvSpPr>
        <p:spPr>
          <a:xfrm>
            <a:off x="2247725" y="1044913"/>
            <a:ext cx="144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0" name="Google Shape;270;p31"/>
          <p:cNvSpPr txBox="1"/>
          <p:nvPr/>
        </p:nvSpPr>
        <p:spPr>
          <a:xfrm>
            <a:off x="5337313" y="1017725"/>
            <a:ext cx="144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1" name="Google Shape;271;p31"/>
          <p:cNvSpPr txBox="1"/>
          <p:nvPr/>
        </p:nvSpPr>
        <p:spPr>
          <a:xfrm>
            <a:off x="155325" y="1723825"/>
            <a:ext cx="144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2" name="Google Shape;272;p31"/>
          <p:cNvSpPr txBox="1"/>
          <p:nvPr/>
        </p:nvSpPr>
        <p:spPr>
          <a:xfrm>
            <a:off x="256475" y="2758188"/>
            <a:ext cx="144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73" name="Google Shape;273;p31" title="Screenshot 2026-10-10 at 13.33.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27" y="4091575"/>
            <a:ext cx="2715697" cy="5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1" title="Screenshot 2026-10-10 at 13.34.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8625" y="4030155"/>
            <a:ext cx="2385900" cy="58454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1"/>
          <p:cNvSpPr txBox="1"/>
          <p:nvPr/>
        </p:nvSpPr>
        <p:spPr>
          <a:xfrm>
            <a:off x="311700" y="3636200"/>
            <a:ext cx="696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We can define the true variance in terms of the expectation: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6" name="Google Shape;276;p31"/>
          <p:cNvSpPr txBox="1"/>
          <p:nvPr/>
        </p:nvSpPr>
        <p:spPr>
          <a:xfrm>
            <a:off x="3327900" y="4614700"/>
            <a:ext cx="567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Both these forms are useful. See notes for proof.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7" name="Google Shape;277;p31"/>
          <p:cNvSpPr txBox="1"/>
          <p:nvPr/>
        </p:nvSpPr>
        <p:spPr>
          <a:xfrm>
            <a:off x="3604525" y="4091575"/>
            <a:ext cx="64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or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278" name="Google Shape;278;p31"/>
          <p:cNvGraphicFramePr/>
          <p:nvPr/>
        </p:nvGraphicFramePr>
        <p:xfrm>
          <a:off x="745500" y="1240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{077ABDD0-47F0-45BA-8C1A-8814351CAFBB}</a:tableStyleId>
              </a:tblPr>
              <a:tblGrid>
                <a:gridCol w="1692175"/>
                <a:gridCol w="2553950"/>
                <a:gridCol w="2735400"/>
              </a:tblGrid>
              <a:tr h="46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accent1"/>
                          </a:solidFill>
                        </a:rPr>
                        <a:t>Mean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accent1"/>
                          </a:solidFill>
                        </a:rPr>
                        <a:t>Variance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55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accent1"/>
                          </a:solidFill>
                        </a:rPr>
                        <a:t>Measured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55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chemeClr val="accent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accent1"/>
                          </a:solidFill>
                        </a:rPr>
                        <a:t>True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79" name="Google Shape;279;p31" title="Screenshot 2026-10-10 at 12.54.1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7325" y="1779417"/>
            <a:ext cx="2385900" cy="729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1" title="Screenshot 2026-10-10 at 12.37.3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5896" y="2594611"/>
            <a:ext cx="2341104" cy="79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1" title="Screenshot 2026-10-10 at 07.23.5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15603" y="1779122"/>
            <a:ext cx="1280650" cy="730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1" title="Screenshot 2026-10-08 at 08.45.28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01488" y="2624087"/>
            <a:ext cx="1781013" cy="72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 and Variance Algebras</a:t>
            </a:r>
            <a:endParaRPr/>
          </a:p>
        </p:txBody>
      </p:sp>
      <p:pic>
        <p:nvPicPr>
          <p:cNvPr id="288" name="Google Shape;288;p32" title="Screenshot 2026-10-10 at 11.42.01.png"/>
          <p:cNvPicPr preferRelativeResize="0"/>
          <p:nvPr/>
        </p:nvPicPr>
        <p:blipFill rotWithShape="1">
          <a:blip r:embed="rId3">
            <a:alphaModFix/>
          </a:blip>
          <a:srcRect b="68346" l="35271" r="25071" t="13315"/>
          <a:stretch/>
        </p:blipFill>
        <p:spPr>
          <a:xfrm>
            <a:off x="635000" y="2890075"/>
            <a:ext cx="2683367" cy="5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2"/>
          <p:cNvSpPr txBox="1"/>
          <p:nvPr/>
        </p:nvSpPr>
        <p:spPr>
          <a:xfrm>
            <a:off x="4281700" y="4245425"/>
            <a:ext cx="445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Only i</a:t>
            </a:r>
            <a:r>
              <a:rPr lang="en" sz="1800">
                <a:solidFill>
                  <a:srgbClr val="FF0000"/>
                </a:solidFill>
              </a:rPr>
              <a:t>f the RVs are independent</a:t>
            </a:r>
            <a:endParaRPr sz="1800">
              <a:solidFill>
                <a:srgbClr val="FF0000"/>
              </a:solidFill>
            </a:endParaRPr>
          </a:p>
        </p:txBody>
      </p:sp>
      <p:pic>
        <p:nvPicPr>
          <p:cNvPr id="290" name="Google Shape;290;p32" title="Screenshot 2026-10-10 at 12.17.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73" y="3916075"/>
            <a:ext cx="2195874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2" title="Screenshot 2026-10-10 at 12.40.25.png"/>
          <p:cNvPicPr preferRelativeResize="0"/>
          <p:nvPr/>
        </p:nvPicPr>
        <p:blipFill rotWithShape="1">
          <a:blip r:embed="rId5">
            <a:alphaModFix/>
          </a:blip>
          <a:srcRect b="77138" l="34614" r="42308" t="9845"/>
          <a:stretch/>
        </p:blipFill>
        <p:spPr>
          <a:xfrm>
            <a:off x="4653643" y="2267347"/>
            <a:ext cx="1842884" cy="533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2" title="Screenshot 2026-10-10 at 11.42.01.png"/>
          <p:cNvPicPr preferRelativeResize="0"/>
          <p:nvPr/>
        </p:nvPicPr>
        <p:blipFill rotWithShape="1">
          <a:blip r:embed="rId3">
            <a:alphaModFix/>
          </a:blip>
          <a:srcRect b="33339" l="35509" r="24833" t="48323"/>
          <a:stretch/>
        </p:blipFill>
        <p:spPr>
          <a:xfrm>
            <a:off x="371924" y="1738934"/>
            <a:ext cx="2683374" cy="533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32" title="Screenshot 2026-10-10 at 11.42.01.png"/>
          <p:cNvPicPr preferRelativeResize="0"/>
          <p:nvPr/>
        </p:nvPicPr>
        <p:blipFill rotWithShape="1">
          <a:blip r:embed="rId3">
            <a:alphaModFix/>
          </a:blip>
          <a:srcRect b="-556" l="34553" r="25789" t="82217"/>
          <a:stretch/>
        </p:blipFill>
        <p:spPr>
          <a:xfrm>
            <a:off x="68538" y="2302275"/>
            <a:ext cx="2806237" cy="55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2" title="Screenshot 2026-10-10 at 12.40.25.png"/>
          <p:cNvPicPr preferRelativeResize="0"/>
          <p:nvPr/>
        </p:nvPicPr>
        <p:blipFill rotWithShape="1">
          <a:blip r:embed="rId5">
            <a:alphaModFix/>
          </a:blip>
          <a:srcRect b="27043" l="34614" r="42308" t="59939"/>
          <a:stretch/>
        </p:blipFill>
        <p:spPr>
          <a:xfrm>
            <a:off x="4504275" y="1656812"/>
            <a:ext cx="1978316" cy="57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2" title="Screenshot 2026-10-10 at 12.40.25.png"/>
          <p:cNvPicPr preferRelativeResize="0"/>
          <p:nvPr/>
        </p:nvPicPr>
        <p:blipFill rotWithShape="1">
          <a:blip r:embed="rId5">
            <a:alphaModFix/>
          </a:blip>
          <a:srcRect b="3768" l="30443" r="37775" t="83214"/>
          <a:stretch/>
        </p:blipFill>
        <p:spPr>
          <a:xfrm>
            <a:off x="3944800" y="3158912"/>
            <a:ext cx="2537795" cy="533449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2"/>
          <p:cNvSpPr txBox="1"/>
          <p:nvPr/>
        </p:nvSpPr>
        <p:spPr>
          <a:xfrm>
            <a:off x="688325" y="1247313"/>
            <a:ext cx="144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Mean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7" name="Google Shape;297;p32"/>
          <p:cNvSpPr txBox="1"/>
          <p:nvPr/>
        </p:nvSpPr>
        <p:spPr>
          <a:xfrm>
            <a:off x="5337313" y="1204375"/>
            <a:ext cx="144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</a:rPr>
              <a:t>Variance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98" name="Google Shape;298;p32"/>
          <p:cNvSpPr/>
          <p:nvPr/>
        </p:nvSpPr>
        <p:spPr>
          <a:xfrm>
            <a:off x="517075" y="3773725"/>
            <a:ext cx="2801400" cy="90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2"/>
          <p:cNvSpPr/>
          <p:nvPr/>
        </p:nvSpPr>
        <p:spPr>
          <a:xfrm>
            <a:off x="3944800" y="2972013"/>
            <a:ext cx="2801400" cy="90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2"/>
          <p:cNvSpPr txBox="1"/>
          <p:nvPr/>
        </p:nvSpPr>
        <p:spPr>
          <a:xfrm>
            <a:off x="5932725" y="852700"/>
            <a:ext cx="353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a,b are constants (numbers)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 I keep going on about expectation and variance?</a:t>
            </a:r>
            <a:endParaRPr/>
          </a:p>
        </p:txBody>
      </p:sp>
      <p:sp>
        <p:nvSpPr>
          <p:cNvPr id="306" name="Google Shape;306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Measurements are </a:t>
            </a:r>
            <a:r>
              <a:rPr lang="en"/>
              <a:t>meaningless</a:t>
            </a:r>
            <a:r>
              <a:rPr lang="en"/>
              <a:t> without uncertainties! </a:t>
            </a:r>
            <a:endParaRPr/>
          </a:p>
        </p:txBody>
      </p:sp>
      <p:sp>
        <p:nvSpPr>
          <p:cNvPr id="307" name="Google Shape;307;p33"/>
          <p:cNvSpPr txBox="1"/>
          <p:nvPr/>
        </p:nvSpPr>
        <p:spPr>
          <a:xfrm>
            <a:off x="471725" y="2208275"/>
            <a:ext cx="8360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chemeClr val="accent1"/>
                </a:solidFill>
              </a:rPr>
              <a:t>E[X] gives us V[X],   </a:t>
            </a:r>
            <a:r>
              <a:rPr b="1" lang="en" sz="1900">
                <a:solidFill>
                  <a:srgbClr val="FF0000"/>
                </a:solidFill>
              </a:rPr>
              <a:t>and V[X] : variability in the true distribution.</a:t>
            </a:r>
            <a:endParaRPr baseline="-25000" sz="1900">
              <a:solidFill>
                <a:srgbClr val="FF0000"/>
              </a:solidFill>
            </a:endParaRPr>
          </a:p>
        </p:txBody>
      </p:sp>
      <p:pic>
        <p:nvPicPr>
          <p:cNvPr id="308" name="Google Shape;308;p33" title="Screenshot 2026-10-10 at 13.33.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850" y="3875825"/>
            <a:ext cx="2442825" cy="52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3" title="Screenshot 2026-10-10 at 13.34.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491" y="3198300"/>
            <a:ext cx="2146208" cy="525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3"/>
          <p:cNvSpPr/>
          <p:nvPr/>
        </p:nvSpPr>
        <p:spPr>
          <a:xfrm>
            <a:off x="471725" y="3202225"/>
            <a:ext cx="2442900" cy="1269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3"/>
          <p:cNvSpPr/>
          <p:nvPr/>
        </p:nvSpPr>
        <p:spPr>
          <a:xfrm>
            <a:off x="4218050" y="3382475"/>
            <a:ext cx="1536300" cy="572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33" title="Screenshot 2026-10-11 at 18.48.4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6250" y="3405900"/>
            <a:ext cx="1497925" cy="52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the uncertainty I seek is on a </a:t>
            </a:r>
            <a:r>
              <a:rPr lang="en">
                <a:solidFill>
                  <a:schemeClr val="accent1"/>
                </a:solidFill>
              </a:rPr>
              <a:t>function</a:t>
            </a:r>
            <a:r>
              <a:rPr lang="en"/>
              <a:t> of the RV?</a:t>
            </a:r>
            <a:endParaRPr/>
          </a:p>
        </p:txBody>
      </p:sp>
      <p:sp>
        <p:nvSpPr>
          <p:cNvPr id="318" name="Google Shape;31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If I know the statistical uncertainty on my measured X (the standard deviation), how do I calculate the uncertainty on my result, which is some f(x) ?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34" title="Screenshot 2026-10-10 at 13.30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975" y="1859650"/>
            <a:ext cx="7471250" cy="296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4"/>
          <p:cNvSpPr txBox="1"/>
          <p:nvPr/>
        </p:nvSpPr>
        <p:spPr>
          <a:xfrm>
            <a:off x="5074250" y="2970875"/>
            <a:ext cx="40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E[f] gives us V[f], and V[f] gives us 𝜎</a:t>
            </a:r>
            <a:r>
              <a:rPr b="1" baseline="-25000" lang="en">
                <a:solidFill>
                  <a:schemeClr val="accent1"/>
                </a:solidFill>
              </a:rPr>
              <a:t>f</a:t>
            </a:r>
            <a:endParaRPr baseline="-25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linear function of one RV</a:t>
            </a:r>
            <a:endParaRPr/>
          </a:p>
        </p:txBody>
      </p:sp>
      <p:pic>
        <p:nvPicPr>
          <p:cNvPr id="326" name="Google Shape;326;p35" title="Screenshot 2026-10-10 at 13.54.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075" y="1266850"/>
            <a:ext cx="6739206" cy="2671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5" title="Screenshot 2026-10-10 at 12.40.25.png"/>
          <p:cNvPicPr preferRelativeResize="0"/>
          <p:nvPr/>
        </p:nvPicPr>
        <p:blipFill rotWithShape="1">
          <a:blip r:embed="rId4">
            <a:alphaModFix/>
          </a:blip>
          <a:srcRect b="77138" l="34614" r="42308" t="9845"/>
          <a:stretch/>
        </p:blipFill>
        <p:spPr>
          <a:xfrm>
            <a:off x="6865068" y="3762572"/>
            <a:ext cx="1842884" cy="533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5" title="Screenshot 2026-10-10 at 12.40.25.png"/>
          <p:cNvPicPr preferRelativeResize="0"/>
          <p:nvPr/>
        </p:nvPicPr>
        <p:blipFill rotWithShape="1">
          <a:blip r:embed="rId4">
            <a:alphaModFix/>
          </a:blip>
          <a:srcRect b="27043" l="34614" r="42308" t="59939"/>
          <a:stretch/>
        </p:blipFill>
        <p:spPr>
          <a:xfrm>
            <a:off x="6729625" y="3189887"/>
            <a:ext cx="1978316" cy="57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5" title="Screenshot 2026-10-10 at 11.42.01.png"/>
          <p:cNvPicPr preferRelativeResize="0"/>
          <p:nvPr/>
        </p:nvPicPr>
        <p:blipFill rotWithShape="1">
          <a:blip r:embed="rId5">
            <a:alphaModFix/>
          </a:blip>
          <a:srcRect b="33338" l="35508" r="27551" t="48323"/>
          <a:stretch/>
        </p:blipFill>
        <p:spPr>
          <a:xfrm>
            <a:off x="6508325" y="2336600"/>
            <a:ext cx="2499601" cy="5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5" title="Screenshot 2026-10-10 at 11.42.01.png"/>
          <p:cNvPicPr preferRelativeResize="0"/>
          <p:nvPr/>
        </p:nvPicPr>
        <p:blipFill rotWithShape="1">
          <a:blip r:embed="rId5">
            <a:alphaModFix/>
          </a:blip>
          <a:srcRect b="-556" l="34554" r="30121" t="82217"/>
          <a:stretch/>
        </p:blipFill>
        <p:spPr>
          <a:xfrm>
            <a:off x="6508324" y="1778700"/>
            <a:ext cx="2499601" cy="557899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5"/>
          <p:cNvSpPr txBox="1"/>
          <p:nvPr/>
        </p:nvSpPr>
        <p:spPr>
          <a:xfrm>
            <a:off x="465950" y="4503975"/>
            <a:ext cx="7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Notice this gives us an uncertainty of </a:t>
            </a:r>
            <a:r>
              <a:rPr b="1" lang="en">
                <a:solidFill>
                  <a:schemeClr val="dk1"/>
                </a:solidFill>
              </a:rPr>
              <a:t>σ</a:t>
            </a:r>
            <a:r>
              <a:rPr b="1" baseline="-25000" lang="en">
                <a:solidFill>
                  <a:schemeClr val="dk1"/>
                </a:solidFill>
              </a:rPr>
              <a:t>f</a:t>
            </a:r>
            <a:r>
              <a:rPr b="1" lang="en">
                <a:solidFill>
                  <a:schemeClr val="dk1"/>
                </a:solidFill>
              </a:rPr>
              <a:t> = aσ</a:t>
            </a:r>
            <a:r>
              <a:rPr b="1" baseline="-25000" lang="en">
                <a:solidFill>
                  <a:schemeClr val="dk1"/>
                </a:solidFill>
              </a:rPr>
              <a:t>x</a:t>
            </a:r>
            <a:r>
              <a:rPr b="1"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accent1"/>
                </a:solidFill>
              </a:rPr>
              <a:t> this may be familiar to some?</a:t>
            </a:r>
            <a:endParaRPr baseline="-25000"/>
          </a:p>
        </p:txBody>
      </p:sp>
      <p:sp>
        <p:nvSpPr>
          <p:cNvPr id="332" name="Google Shape;332;p35"/>
          <p:cNvSpPr/>
          <p:nvPr/>
        </p:nvSpPr>
        <p:spPr>
          <a:xfrm>
            <a:off x="3429000" y="3425125"/>
            <a:ext cx="870900" cy="87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5"/>
          <p:cNvSpPr/>
          <p:nvPr/>
        </p:nvSpPr>
        <p:spPr>
          <a:xfrm>
            <a:off x="6565075" y="1832300"/>
            <a:ext cx="2442900" cy="1106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5"/>
          <p:cNvSpPr/>
          <p:nvPr/>
        </p:nvSpPr>
        <p:spPr>
          <a:xfrm>
            <a:off x="6604000" y="3189875"/>
            <a:ext cx="2356800" cy="1106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5" name="Google Shape;335;p35"/>
          <p:cNvCxnSpPr>
            <a:stCxn id="333" idx="1"/>
          </p:cNvCxnSpPr>
          <p:nvPr/>
        </p:nvCxnSpPr>
        <p:spPr>
          <a:xfrm rot="10800000">
            <a:off x="5778475" y="2376650"/>
            <a:ext cx="7866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" name="Google Shape;336;p35"/>
          <p:cNvCxnSpPr/>
          <p:nvPr/>
        </p:nvCxnSpPr>
        <p:spPr>
          <a:xfrm rot="10800000">
            <a:off x="5817400" y="3753575"/>
            <a:ext cx="7866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linear function of two RVs</a:t>
            </a:r>
            <a:endParaRPr/>
          </a:p>
        </p:txBody>
      </p:sp>
      <p:pic>
        <p:nvPicPr>
          <p:cNvPr id="342" name="Google Shape;342;p36" title="Screenshot 2026-10-10 at 14.01.26.png"/>
          <p:cNvPicPr preferRelativeResize="0"/>
          <p:nvPr/>
        </p:nvPicPr>
        <p:blipFill rotWithShape="1">
          <a:blip r:embed="rId3">
            <a:alphaModFix/>
          </a:blip>
          <a:srcRect b="39438" l="0" r="0" t="0"/>
          <a:stretch/>
        </p:blipFill>
        <p:spPr>
          <a:xfrm>
            <a:off x="471725" y="1234700"/>
            <a:ext cx="6368126" cy="1513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6"/>
          <p:cNvSpPr txBox="1"/>
          <p:nvPr/>
        </p:nvSpPr>
        <p:spPr>
          <a:xfrm>
            <a:off x="511321" y="2871100"/>
            <a:ext cx="7190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For</a:t>
            </a:r>
            <a:r>
              <a:rPr b="1" lang="en" sz="1700">
                <a:solidFill>
                  <a:schemeClr val="dk1"/>
                </a:solidFill>
              </a:rPr>
              <a:t> independent</a:t>
            </a:r>
            <a:r>
              <a:rPr lang="en" sz="1700">
                <a:solidFill>
                  <a:schemeClr val="dk1"/>
                </a:solidFill>
              </a:rPr>
              <a:t> X,Y the</a:t>
            </a:r>
            <a:r>
              <a:rPr lang="en" sz="1700">
                <a:solidFill>
                  <a:schemeClr val="accent1"/>
                </a:solidFill>
              </a:rPr>
              <a:t> </a:t>
            </a:r>
            <a:r>
              <a:rPr b="1" lang="en" sz="1700">
                <a:solidFill>
                  <a:srgbClr val="FF0000"/>
                </a:solidFill>
              </a:rPr>
              <a:t>Variance</a:t>
            </a:r>
            <a:r>
              <a:rPr lang="en" sz="1700">
                <a:solidFill>
                  <a:schemeClr val="accent1"/>
                </a:solidFill>
              </a:rPr>
              <a:t> </a:t>
            </a:r>
            <a:r>
              <a:rPr lang="en" sz="1700">
                <a:solidFill>
                  <a:schemeClr val="dk1"/>
                </a:solidFill>
              </a:rPr>
              <a:t>of the function is</a:t>
            </a:r>
            <a:endParaRPr baseline="-25000" sz="1700">
              <a:solidFill>
                <a:schemeClr val="dk1"/>
              </a:solidFill>
            </a:endParaRPr>
          </a:p>
        </p:txBody>
      </p:sp>
      <p:pic>
        <p:nvPicPr>
          <p:cNvPr id="344" name="Google Shape;344;p36" title="Screenshot 2026-10-10 at 14.01.26.png"/>
          <p:cNvPicPr preferRelativeResize="0"/>
          <p:nvPr/>
        </p:nvPicPr>
        <p:blipFill rotWithShape="1">
          <a:blip r:embed="rId3">
            <a:alphaModFix/>
          </a:blip>
          <a:srcRect b="0" l="0" r="37150" t="80231"/>
          <a:stretch/>
        </p:blipFill>
        <p:spPr>
          <a:xfrm>
            <a:off x="511325" y="3575175"/>
            <a:ext cx="4105975" cy="50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6" title="Screenshot 2026-10-10 at 12.40.25.png"/>
          <p:cNvPicPr preferRelativeResize="0"/>
          <p:nvPr/>
        </p:nvPicPr>
        <p:blipFill rotWithShape="1">
          <a:blip r:embed="rId4">
            <a:alphaModFix/>
          </a:blip>
          <a:srcRect b="3768" l="30443" r="37775" t="83214"/>
          <a:stretch/>
        </p:blipFill>
        <p:spPr>
          <a:xfrm>
            <a:off x="6009651" y="3628552"/>
            <a:ext cx="1903884" cy="400199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6"/>
          <p:cNvSpPr txBox="1"/>
          <p:nvPr/>
        </p:nvSpPr>
        <p:spPr>
          <a:xfrm>
            <a:off x="4763197" y="3628563"/>
            <a:ext cx="11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because</a:t>
            </a:r>
            <a:endParaRPr baseline="-25000">
              <a:solidFill>
                <a:schemeClr val="dk1"/>
              </a:solidFill>
            </a:endParaRPr>
          </a:p>
        </p:txBody>
      </p:sp>
      <p:sp>
        <p:nvSpPr>
          <p:cNvPr id="347" name="Google Shape;347;p36"/>
          <p:cNvSpPr txBox="1"/>
          <p:nvPr/>
        </p:nvSpPr>
        <p:spPr>
          <a:xfrm>
            <a:off x="6150425" y="3228350"/>
            <a:ext cx="293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Only if the RVs are independent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48" name="Google Shape;348;p36"/>
          <p:cNvSpPr/>
          <p:nvPr/>
        </p:nvSpPr>
        <p:spPr>
          <a:xfrm>
            <a:off x="5941000" y="3628555"/>
            <a:ext cx="2041200" cy="400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6"/>
          <p:cNvSpPr txBox="1"/>
          <p:nvPr/>
        </p:nvSpPr>
        <p:spPr>
          <a:xfrm>
            <a:off x="611125" y="4339825"/>
            <a:ext cx="7190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Notice this gives us an uncertainty of</a:t>
            </a:r>
            <a:r>
              <a:rPr b="1" lang="en">
                <a:solidFill>
                  <a:schemeClr val="dk1"/>
                </a:solidFill>
              </a:rPr>
              <a:t> σ</a:t>
            </a:r>
            <a:r>
              <a:rPr b="1" baseline="-25000" lang="en">
                <a:solidFill>
                  <a:schemeClr val="dk1"/>
                </a:solidFill>
              </a:rPr>
              <a:t>f</a:t>
            </a:r>
            <a:r>
              <a:rPr b="1" lang="en">
                <a:solidFill>
                  <a:schemeClr val="dk1"/>
                </a:solidFill>
              </a:rPr>
              <a:t> = √(                         )</a:t>
            </a:r>
            <a:r>
              <a:rPr b="1" lang="en">
                <a:solidFill>
                  <a:schemeClr val="accent1"/>
                </a:solidFill>
              </a:rPr>
              <a:t> - this may be familiar to some? Is called “summing in quadrature”</a:t>
            </a:r>
            <a:endParaRPr baseline="-25000"/>
          </a:p>
        </p:txBody>
      </p:sp>
      <p:pic>
        <p:nvPicPr>
          <p:cNvPr id="350" name="Google Shape;350;p36" title="Screenshot 2026-10-10 at 14.01.26.png"/>
          <p:cNvPicPr preferRelativeResize="0"/>
          <p:nvPr/>
        </p:nvPicPr>
        <p:blipFill rotWithShape="1">
          <a:blip r:embed="rId3">
            <a:alphaModFix/>
          </a:blip>
          <a:srcRect b="0" l="36219" r="37149" t="80231"/>
          <a:stretch/>
        </p:blipFill>
        <p:spPr>
          <a:xfrm>
            <a:off x="4445725" y="4378639"/>
            <a:ext cx="1177800" cy="343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linear function of two RVs</a:t>
            </a:r>
            <a:endParaRPr/>
          </a:p>
        </p:txBody>
      </p:sp>
      <p:pic>
        <p:nvPicPr>
          <p:cNvPr id="356" name="Google Shape;356;p37" title="Screenshot 2026-10-10 at 14.01.2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725" y="1234700"/>
            <a:ext cx="6368126" cy="2499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7"/>
          <p:cNvSpPr txBox="1"/>
          <p:nvPr/>
        </p:nvSpPr>
        <p:spPr>
          <a:xfrm>
            <a:off x="471725" y="3951500"/>
            <a:ext cx="7190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If the RVs are </a:t>
            </a:r>
            <a:r>
              <a:rPr b="1" lang="en">
                <a:solidFill>
                  <a:schemeClr val="dk1"/>
                </a:solidFill>
              </a:rPr>
              <a:t>not independent</a:t>
            </a:r>
            <a:r>
              <a:rPr lang="en">
                <a:solidFill>
                  <a:schemeClr val="dk1"/>
                </a:solidFill>
              </a:rPr>
              <a:t>, or if we cannot assume they are, we get an additional term:</a:t>
            </a:r>
            <a:r>
              <a:rPr b="1" lang="en">
                <a:solidFill>
                  <a:schemeClr val="accent1"/>
                </a:solidFill>
              </a:rPr>
              <a:t> the covariance term.</a:t>
            </a:r>
            <a:endParaRPr baseline="-25000"/>
          </a:p>
        </p:txBody>
      </p:sp>
      <p:sp>
        <p:nvSpPr>
          <p:cNvPr id="358" name="Google Shape;358;p37"/>
          <p:cNvSpPr/>
          <p:nvPr/>
        </p:nvSpPr>
        <p:spPr>
          <a:xfrm>
            <a:off x="4662725" y="3202325"/>
            <a:ext cx="1496700" cy="532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9" name="Google Shape;359;p37" title="Screenshot 2026-10-10 at 11.42.01.png"/>
          <p:cNvPicPr preferRelativeResize="0"/>
          <p:nvPr/>
        </p:nvPicPr>
        <p:blipFill rotWithShape="1">
          <a:blip r:embed="rId4">
            <a:alphaModFix/>
          </a:blip>
          <a:srcRect b="68346" l="35271" r="25071" t="13315"/>
          <a:stretch/>
        </p:blipFill>
        <p:spPr>
          <a:xfrm>
            <a:off x="6460625" y="1883150"/>
            <a:ext cx="2683367" cy="53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7" title="Screenshot 2026-10-10 at 11.42.01.png"/>
          <p:cNvPicPr preferRelativeResize="0"/>
          <p:nvPr/>
        </p:nvPicPr>
        <p:blipFill rotWithShape="1">
          <a:blip r:embed="rId4">
            <a:alphaModFix/>
          </a:blip>
          <a:srcRect b="-556" l="34554" r="30089" t="82217"/>
          <a:stretch/>
        </p:blipFill>
        <p:spPr>
          <a:xfrm>
            <a:off x="6460624" y="2292800"/>
            <a:ext cx="2501951" cy="55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"/>
          <p:cNvSpPr txBox="1"/>
          <p:nvPr/>
        </p:nvSpPr>
        <p:spPr>
          <a:xfrm>
            <a:off x="1518825" y="1695875"/>
            <a:ext cx="5367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2"/>
                </a:solidFill>
              </a:rPr>
              <a:t>Part 2! (3pm)</a:t>
            </a:r>
            <a:endParaRPr sz="6000">
              <a:solidFill>
                <a:schemeClr val="dk2"/>
              </a:solidFill>
            </a:endParaRPr>
          </a:p>
        </p:txBody>
      </p:sp>
      <p:sp>
        <p:nvSpPr>
          <p:cNvPr id="366" name="Google Shape;366;p38"/>
          <p:cNvSpPr txBox="1"/>
          <p:nvPr/>
        </p:nvSpPr>
        <p:spPr>
          <a:xfrm>
            <a:off x="2553725" y="3549900"/>
            <a:ext cx="5367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rgbClr val="FF0000"/>
                </a:solidFill>
              </a:rPr>
              <a:t>CY DE OH</a:t>
            </a:r>
            <a:endParaRPr sz="37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3" name="Google Shape;37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Lily’s Office Hour</a:t>
            </a:r>
            <a:endParaRPr/>
          </a:p>
        </p:txBody>
      </p:sp>
      <p:sp>
        <p:nvSpPr>
          <p:cNvPr id="379" name="Google Shape;37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Pevensey 2 Foyer</a:t>
            </a:r>
            <a:endParaRPr sz="42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200"/>
              <a:t>Tuesday</a:t>
            </a:r>
            <a:endParaRPr sz="42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200"/>
              <a:t>12-1pm</a:t>
            </a:r>
            <a:endParaRPr sz="4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86" name="Google Shape;38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Covariance</a:t>
            </a:r>
            <a:endParaRPr/>
          </a:p>
        </p:txBody>
      </p:sp>
      <p:pic>
        <p:nvPicPr>
          <p:cNvPr id="392" name="Google Shape;392;p42" title="Screenshot 2026-10-10 at 12.50.52.png"/>
          <p:cNvPicPr preferRelativeResize="0"/>
          <p:nvPr/>
        </p:nvPicPr>
        <p:blipFill rotWithShape="1">
          <a:blip r:embed="rId3">
            <a:alphaModFix/>
          </a:blip>
          <a:srcRect b="52775" l="0" r="0" t="0"/>
          <a:stretch/>
        </p:blipFill>
        <p:spPr>
          <a:xfrm>
            <a:off x="311825" y="1224525"/>
            <a:ext cx="6533125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2"/>
          <p:cNvSpPr txBox="1"/>
          <p:nvPr/>
        </p:nvSpPr>
        <p:spPr>
          <a:xfrm>
            <a:off x="4425275" y="185975"/>
            <a:ext cx="454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Note: height and weight measurements of the same people would not be independent.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394" name="Google Shape;394;p42"/>
          <p:cNvCxnSpPr/>
          <p:nvPr/>
        </p:nvCxnSpPr>
        <p:spPr>
          <a:xfrm flipH="1" rot="10800000">
            <a:off x="4562850" y="798400"/>
            <a:ext cx="462600" cy="4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95" name="Google Shape;395;p42" title="Screenshot 2026-10-10 at 12.50.52.png"/>
          <p:cNvPicPr preferRelativeResize="0"/>
          <p:nvPr/>
        </p:nvPicPr>
        <p:blipFill rotWithShape="1">
          <a:blip r:embed="rId3">
            <a:alphaModFix/>
          </a:blip>
          <a:srcRect b="0" l="40245" r="39761" t="49236"/>
          <a:stretch/>
        </p:blipFill>
        <p:spPr>
          <a:xfrm>
            <a:off x="2376700" y="2726925"/>
            <a:ext cx="2105826" cy="99237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2"/>
          <p:cNvSpPr txBox="1"/>
          <p:nvPr/>
        </p:nvSpPr>
        <p:spPr>
          <a:xfrm>
            <a:off x="404825" y="2220175"/>
            <a:ext cx="696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Variance of X = </a:t>
            </a:r>
            <a:r>
              <a:rPr b="1" lang="en">
                <a:solidFill>
                  <a:schemeClr val="accent1"/>
                </a:solidFill>
              </a:rPr>
              <a:t>square</a:t>
            </a:r>
            <a:r>
              <a:rPr b="1" lang="en">
                <a:solidFill>
                  <a:schemeClr val="accent1"/>
                </a:solidFill>
              </a:rPr>
              <a:t> of standard deviation = square of statistical uncertainty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97" name="Google Shape;397;p42"/>
          <p:cNvSpPr txBox="1"/>
          <p:nvPr/>
        </p:nvSpPr>
        <p:spPr>
          <a:xfrm>
            <a:off x="404825" y="4114300"/>
            <a:ext cx="696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Variance of Y = square of standard deviation = square of statistical uncertainty</a:t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398" name="Google Shape;398;p42"/>
          <p:cNvCxnSpPr/>
          <p:nvPr/>
        </p:nvCxnSpPr>
        <p:spPr>
          <a:xfrm>
            <a:off x="3292925" y="2530925"/>
            <a:ext cx="0" cy="30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9" name="Google Shape;399;p42"/>
          <p:cNvCxnSpPr/>
          <p:nvPr/>
        </p:nvCxnSpPr>
        <p:spPr>
          <a:xfrm flipH="1" rot="10800000">
            <a:off x="4054925" y="3652425"/>
            <a:ext cx="5400" cy="37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Covariance</a:t>
            </a:r>
            <a:endParaRPr/>
          </a:p>
        </p:txBody>
      </p:sp>
      <p:sp>
        <p:nvSpPr>
          <p:cNvPr id="405" name="Google Shape;405;p43"/>
          <p:cNvSpPr txBox="1"/>
          <p:nvPr/>
        </p:nvSpPr>
        <p:spPr>
          <a:xfrm>
            <a:off x="404825" y="2220175"/>
            <a:ext cx="696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The Covariance Matrix (“Error Matrix”) for 2 RVs: 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406" name="Google Shape;406;p43"/>
          <p:cNvCxnSpPr/>
          <p:nvPr/>
        </p:nvCxnSpPr>
        <p:spPr>
          <a:xfrm>
            <a:off x="3292925" y="2530925"/>
            <a:ext cx="0" cy="30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p43"/>
          <p:cNvCxnSpPr/>
          <p:nvPr/>
        </p:nvCxnSpPr>
        <p:spPr>
          <a:xfrm flipH="1" rot="10800000">
            <a:off x="4054925" y="3652425"/>
            <a:ext cx="5400" cy="37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08" name="Google Shape;408;p43" title="Screenshot 2026-10-10 at 12.58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775" y="2707050"/>
            <a:ext cx="6223404" cy="1217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3"/>
          <p:cNvSpPr/>
          <p:nvPr/>
        </p:nvSpPr>
        <p:spPr>
          <a:xfrm>
            <a:off x="6862925" y="1508400"/>
            <a:ext cx="1032600" cy="453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3"/>
          <p:cNvSpPr/>
          <p:nvPr/>
        </p:nvSpPr>
        <p:spPr>
          <a:xfrm>
            <a:off x="1855300" y="1567925"/>
            <a:ext cx="1573800" cy="453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3"/>
          <p:cNvSpPr txBox="1"/>
          <p:nvPr/>
        </p:nvSpPr>
        <p:spPr>
          <a:xfrm>
            <a:off x="478725" y="1147425"/>
            <a:ext cx="696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If the RVs are Dependent, we additional have Covariance terms.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412" name="Google Shape;412;p43" title="Screenshot 2026-10-10 at 13.02.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625" y="1508387"/>
            <a:ext cx="292833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43" title="Screenshot 2026-10-10 at 13.01.5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87563" y="1403638"/>
            <a:ext cx="4172726" cy="7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43" title="Screenshot 2026-10-10 at 12.54.1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9651" y="110304"/>
            <a:ext cx="2385900" cy="72993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43"/>
          <p:cNvSpPr txBox="1"/>
          <p:nvPr/>
        </p:nvSpPr>
        <p:spPr>
          <a:xfrm>
            <a:off x="3182200" y="275163"/>
            <a:ext cx="247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Compare with variance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16" name="Google Shape;416;p43"/>
          <p:cNvSpPr txBox="1"/>
          <p:nvPr/>
        </p:nvSpPr>
        <p:spPr>
          <a:xfrm>
            <a:off x="707575" y="4324875"/>
            <a:ext cx="8028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The Covariance Matrix       is </a:t>
            </a:r>
            <a:r>
              <a:rPr b="1" lang="en">
                <a:solidFill>
                  <a:srgbClr val="4285F4"/>
                </a:solidFill>
              </a:rPr>
              <a:t>square</a:t>
            </a:r>
            <a:r>
              <a:rPr b="1" lang="en">
                <a:solidFill>
                  <a:schemeClr val="dk1"/>
                </a:solidFill>
              </a:rPr>
              <a:t> (Nrows=Ncolumns=N RVs) and </a:t>
            </a:r>
            <a:r>
              <a:rPr b="1" lang="en">
                <a:solidFill>
                  <a:schemeClr val="accent1"/>
                </a:solidFill>
              </a:rPr>
              <a:t>symmetric</a:t>
            </a:r>
            <a:r>
              <a:rPr b="1" lang="en">
                <a:solidFill>
                  <a:schemeClr val="dk1"/>
                </a:solidFill>
              </a:rPr>
              <a:t> (diagonal elements are equal, cov(x,y) = cov(y,x)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17" name="Google Shape;417;p43" title="Screenshot 2026-10-10 at 12.58.17.png"/>
          <p:cNvPicPr preferRelativeResize="0"/>
          <p:nvPr/>
        </p:nvPicPr>
        <p:blipFill rotWithShape="1">
          <a:blip r:embed="rId3">
            <a:alphaModFix/>
          </a:blip>
          <a:srcRect b="37712" l="2529" r="91495" t="31456"/>
          <a:stretch/>
        </p:blipFill>
        <p:spPr>
          <a:xfrm>
            <a:off x="2694200" y="4285525"/>
            <a:ext cx="371924" cy="37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43"/>
          <p:cNvSpPr/>
          <p:nvPr/>
        </p:nvSpPr>
        <p:spPr>
          <a:xfrm>
            <a:off x="6862925" y="1508400"/>
            <a:ext cx="989400" cy="453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3"/>
          <p:cNvSpPr/>
          <p:nvPr/>
        </p:nvSpPr>
        <p:spPr>
          <a:xfrm>
            <a:off x="564625" y="1567925"/>
            <a:ext cx="2864400" cy="453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Covariance Matrix</a:t>
            </a:r>
            <a:endParaRPr/>
          </a:p>
        </p:txBody>
      </p:sp>
      <p:pic>
        <p:nvPicPr>
          <p:cNvPr id="425" name="Google Shape;425;p44" title="Screenshot 2026-10-10 at 13.04.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1975" y="1087613"/>
            <a:ext cx="5821090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4"/>
          <p:cNvSpPr txBox="1"/>
          <p:nvPr/>
        </p:nvSpPr>
        <p:spPr>
          <a:xfrm>
            <a:off x="478725" y="1147425"/>
            <a:ext cx="17892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We can draw the individual covariances as areas on a scatter plot.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Note that we cannot do this for individual variances.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1"/>
              </a:solidFill>
            </a:endParaRPr>
          </a:p>
        </p:txBody>
      </p:sp>
      <p:pic>
        <p:nvPicPr>
          <p:cNvPr id="427" name="Google Shape;427;p44" title="Screenshot 2026-10-10 at 13.07.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763900"/>
            <a:ext cx="2598500" cy="98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44" title="Screenshot 2026-10-10 at 13.02.0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6375" y="80675"/>
            <a:ext cx="2690125" cy="52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4" title="Screenshot 2026-10-10 at 13.01.5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08000" y="505125"/>
            <a:ext cx="4172726" cy="7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Correlations</a:t>
            </a:r>
            <a:endParaRPr/>
          </a:p>
        </p:txBody>
      </p:sp>
      <p:pic>
        <p:nvPicPr>
          <p:cNvPr id="435" name="Google Shape;435;p45" title="Screenshot 2026-10-10 at 13.09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000" y="1914525"/>
            <a:ext cx="76200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45" title="Screenshot 2026-10-10 at 13.10.0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0525" y="3228975"/>
            <a:ext cx="4762950" cy="15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5" title="Screenshot 2026-10-10 at 13.09.0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575" y="2902726"/>
            <a:ext cx="2179200" cy="79132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45"/>
          <p:cNvSpPr txBox="1"/>
          <p:nvPr/>
        </p:nvSpPr>
        <p:spPr>
          <a:xfrm>
            <a:off x="378925" y="1940700"/>
            <a:ext cx="8520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values of cov(a,b) will grow larger and larger the more data we take.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Normalise</a:t>
            </a:r>
            <a:r>
              <a:rPr lang="en">
                <a:solidFill>
                  <a:schemeClr val="dk1"/>
                </a:solidFill>
              </a:rPr>
              <a:t> them (-1,1) using the product of standard deviations to get the</a:t>
            </a:r>
            <a:r>
              <a:rPr lang="en">
                <a:solidFill>
                  <a:schemeClr val="accent1"/>
                </a:solidFill>
              </a:rPr>
              <a:t> linear correlation coefficient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439" name="Google Shape;439;p45"/>
          <p:cNvSpPr txBox="1"/>
          <p:nvPr/>
        </p:nvSpPr>
        <p:spPr>
          <a:xfrm>
            <a:off x="415225" y="3864398"/>
            <a:ext cx="3149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The </a:t>
            </a:r>
            <a:r>
              <a:rPr b="1" lang="en">
                <a:solidFill>
                  <a:srgbClr val="4285F4"/>
                </a:solidFill>
              </a:rPr>
              <a:t>linear correlation matrix</a:t>
            </a:r>
            <a:r>
              <a:rPr b="1" lang="en">
                <a:solidFill>
                  <a:schemeClr val="dk1"/>
                </a:solidFill>
              </a:rPr>
              <a:t> is: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1"/>
              </a:solidFill>
            </a:endParaRPr>
          </a:p>
        </p:txBody>
      </p:sp>
      <p:pic>
        <p:nvPicPr>
          <p:cNvPr id="440" name="Google Shape;440;p45" title="Screenshot 2026-10-10 at 13.04.3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03550" y="0"/>
            <a:ext cx="3040450" cy="19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45" title="Screenshot 2026-10-10 at 13.01.5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0575" y="1096125"/>
            <a:ext cx="4172726" cy="740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2" name="Google Shape;442;p45"/>
          <p:cNvCxnSpPr/>
          <p:nvPr/>
        </p:nvCxnSpPr>
        <p:spPr>
          <a:xfrm flipH="1" rot="10800000">
            <a:off x="2860600" y="1667925"/>
            <a:ext cx="400800" cy="3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" name="Google Shape;443;p45"/>
          <p:cNvCxnSpPr/>
          <p:nvPr/>
        </p:nvCxnSpPr>
        <p:spPr>
          <a:xfrm flipH="1">
            <a:off x="2310975" y="2780075"/>
            <a:ext cx="1000200" cy="68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Correlations</a:t>
            </a:r>
            <a:endParaRPr/>
          </a:p>
        </p:txBody>
      </p:sp>
      <p:pic>
        <p:nvPicPr>
          <p:cNvPr id="449" name="Google Shape;449;p46" title="Screenshot 2026-10-10 at 13.09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000" y="1914525"/>
            <a:ext cx="76200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6" title="Screenshot 2026-10-10 at 13.10.1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300" y="1209023"/>
            <a:ext cx="7601849" cy="19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46"/>
          <p:cNvSpPr txBox="1"/>
          <p:nvPr/>
        </p:nvSpPr>
        <p:spPr>
          <a:xfrm>
            <a:off x="767011" y="3228963"/>
            <a:ext cx="621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</a:rPr>
              <a:t>Linearly Independent RVs should</a:t>
            </a:r>
            <a:r>
              <a:rPr lang="en" sz="1600">
                <a:solidFill>
                  <a:srgbClr val="FF00FF"/>
                </a:solidFill>
              </a:rPr>
              <a:t>*</a:t>
            </a:r>
            <a:r>
              <a:rPr lang="en" sz="1600">
                <a:solidFill>
                  <a:schemeClr val="accent1"/>
                </a:solidFill>
              </a:rPr>
              <a:t> have ~0 correlation coefficient.</a:t>
            </a:r>
            <a:endParaRPr sz="1600">
              <a:solidFill>
                <a:schemeClr val="accent1"/>
              </a:solidFill>
            </a:endParaRPr>
          </a:p>
        </p:txBody>
      </p:sp>
      <p:sp>
        <p:nvSpPr>
          <p:cNvPr id="452" name="Google Shape;452;p46"/>
          <p:cNvSpPr txBox="1"/>
          <p:nvPr/>
        </p:nvSpPr>
        <p:spPr>
          <a:xfrm>
            <a:off x="841550" y="3660075"/>
            <a:ext cx="621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BUT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53" name="Google Shape;453;p46"/>
          <p:cNvSpPr txBox="1"/>
          <p:nvPr/>
        </p:nvSpPr>
        <p:spPr>
          <a:xfrm>
            <a:off x="767000" y="4060275"/>
            <a:ext cx="621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</a:rPr>
              <a:t>Dependent</a:t>
            </a:r>
            <a:r>
              <a:rPr b="1" lang="en" sz="1600">
                <a:solidFill>
                  <a:schemeClr val="accent1"/>
                </a:solidFill>
              </a:rPr>
              <a:t> RVs can alo have ~0 correlation coefficients!</a:t>
            </a:r>
            <a:endParaRPr b="1" sz="1600">
              <a:solidFill>
                <a:schemeClr val="accent1"/>
              </a:solidFill>
            </a:endParaRPr>
          </a:p>
        </p:txBody>
      </p:sp>
      <p:pic>
        <p:nvPicPr>
          <p:cNvPr id="454" name="Google Shape;454;p46" title="Screenshot 2026-10-10 at 13.09.0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950" y="226401"/>
            <a:ext cx="2179200" cy="79132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46"/>
          <p:cNvSpPr txBox="1"/>
          <p:nvPr/>
        </p:nvSpPr>
        <p:spPr>
          <a:xfrm>
            <a:off x="195675" y="4714875"/>
            <a:ext cx="890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*You may encounter an example of spurious linear correlations in this week’s workshop :)</a:t>
            </a:r>
            <a:endParaRPr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Dependent RVs can have zero linear correlation…</a:t>
            </a:r>
            <a:endParaRPr/>
          </a:p>
        </p:txBody>
      </p:sp>
      <p:pic>
        <p:nvPicPr>
          <p:cNvPr id="461" name="Google Shape;461;p47" title="Screenshot 2026-10-10 at 13.09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000" y="1914525"/>
            <a:ext cx="76200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47" title="Screenshot 2026-10-10 at 13.10.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950" y="1135722"/>
            <a:ext cx="6195775" cy="3021925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7"/>
          <p:cNvSpPr txBox="1"/>
          <p:nvPr/>
        </p:nvSpPr>
        <p:spPr>
          <a:xfrm>
            <a:off x="760988" y="4497650"/>
            <a:ext cx="621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…if the relationship between the RVs is nonlinear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464" name="Google Shape;464;p47"/>
          <p:cNvSpPr txBox="1"/>
          <p:nvPr/>
        </p:nvSpPr>
        <p:spPr>
          <a:xfrm>
            <a:off x="6767992" y="4743300"/>
            <a:ext cx="237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Always plot your data!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48" title="AdobeStock_2188942409.jpeg"/>
          <p:cNvPicPr preferRelativeResize="0"/>
          <p:nvPr/>
        </p:nvPicPr>
        <p:blipFill rotWithShape="1">
          <a:blip r:embed="rId3">
            <a:alphaModFix/>
          </a:blip>
          <a:srcRect b="0" l="30975" r="22320" t="0"/>
          <a:stretch/>
        </p:blipFill>
        <p:spPr>
          <a:xfrm>
            <a:off x="5572125" y="1956125"/>
            <a:ext cx="1950551" cy="22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8"/>
          <p:cNvSpPr txBox="1"/>
          <p:nvPr>
            <p:ph idx="1" type="body"/>
          </p:nvPr>
        </p:nvSpPr>
        <p:spPr>
          <a:xfrm>
            <a:off x="311700" y="863550"/>
            <a:ext cx="460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workshops, in lectures, in the library, in your favourite spot on the computer at home with a nice cup of tea.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Find something you can take from the time. It might be that you learned a new notation or word, or maybe you had an “aha” moment about some little thing.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Whatever it is, make a note of it. It’s progress.</a:t>
            </a:r>
            <a:endParaRPr/>
          </a:p>
        </p:txBody>
      </p:sp>
      <p:sp>
        <p:nvSpPr>
          <p:cNvPr id="471" name="Google Shape;471;p48"/>
          <p:cNvSpPr txBox="1"/>
          <p:nvPr>
            <p:ph type="title"/>
          </p:nvPr>
        </p:nvSpPr>
        <p:spPr>
          <a:xfrm>
            <a:off x="311700" y="243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accent1"/>
                </a:solidFill>
              </a:rPr>
              <a:t>Find your own pace: the next ten slides are not for beginners</a:t>
            </a:r>
            <a:endParaRPr sz="3300">
              <a:solidFill>
                <a:schemeClr val="accent1"/>
              </a:solidFill>
            </a:endParaRPr>
          </a:p>
        </p:txBody>
      </p:sp>
      <p:sp>
        <p:nvSpPr>
          <p:cNvPr id="472" name="Google Shape;472;p48"/>
          <p:cNvSpPr txBox="1"/>
          <p:nvPr/>
        </p:nvSpPr>
        <p:spPr>
          <a:xfrm>
            <a:off x="553975" y="4495200"/>
            <a:ext cx="7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You can’t “learn” data analysis techniques in lectures. You can only learn by doing.</a:t>
            </a:r>
            <a:endParaRPr baseline="-25000"/>
          </a:p>
        </p:txBody>
      </p:sp>
      <p:sp>
        <p:nvSpPr>
          <p:cNvPr id="473" name="Google Shape;473;p48"/>
          <p:cNvSpPr txBox="1"/>
          <p:nvPr/>
        </p:nvSpPr>
        <p:spPr>
          <a:xfrm>
            <a:off x="5091225" y="863550"/>
            <a:ext cx="4015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don’t have a math background, you could spend this time well enjoying: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https://www.tylervigen.com/spurious-correlations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 to Uncertainties!</a:t>
            </a:r>
            <a:endParaRPr/>
          </a:p>
        </p:txBody>
      </p:sp>
      <p:pic>
        <p:nvPicPr>
          <p:cNvPr id="479" name="Google Shape;479;p49" title="Screenshot 2026-10-10 at 14.01.2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725" y="1234700"/>
            <a:ext cx="6368126" cy="2499825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49"/>
          <p:cNvSpPr txBox="1"/>
          <p:nvPr/>
        </p:nvSpPr>
        <p:spPr>
          <a:xfrm>
            <a:off x="471725" y="3951500"/>
            <a:ext cx="7190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If the RVs are not independent, or if we cannot assume they are, we get an additional term:</a:t>
            </a:r>
            <a:r>
              <a:rPr b="1" lang="en">
                <a:solidFill>
                  <a:schemeClr val="accent1"/>
                </a:solidFill>
              </a:rPr>
              <a:t> the covariance term.</a:t>
            </a:r>
            <a:endParaRPr baseline="-25000"/>
          </a:p>
        </p:txBody>
      </p:sp>
      <p:sp>
        <p:nvSpPr>
          <p:cNvPr id="481" name="Google Shape;481;p49"/>
          <p:cNvSpPr/>
          <p:nvPr/>
        </p:nvSpPr>
        <p:spPr>
          <a:xfrm>
            <a:off x="4662725" y="3202325"/>
            <a:ext cx="1496700" cy="532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RVs:</a:t>
            </a:r>
            <a:endParaRPr/>
          </a:p>
        </p:txBody>
      </p:sp>
      <p:pic>
        <p:nvPicPr>
          <p:cNvPr id="487" name="Google Shape;487;p50" title="Screenshot 2026-10-10 at 14.14.50.png"/>
          <p:cNvPicPr preferRelativeResize="0"/>
          <p:nvPr/>
        </p:nvPicPr>
        <p:blipFill rotWithShape="1">
          <a:blip r:embed="rId3">
            <a:alphaModFix/>
          </a:blip>
          <a:srcRect b="48192" l="0" r="0" t="0"/>
          <a:stretch/>
        </p:blipFill>
        <p:spPr>
          <a:xfrm>
            <a:off x="596950" y="2841075"/>
            <a:ext cx="7023102" cy="188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50" title="Screenshot 2026-10-10 at 14.17.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0" y="1385413"/>
            <a:ext cx="6114126" cy="1314775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50"/>
          <p:cNvSpPr txBox="1"/>
          <p:nvPr/>
        </p:nvSpPr>
        <p:spPr>
          <a:xfrm>
            <a:off x="371925" y="948850"/>
            <a:ext cx="368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Covariance matrix for three RVs: X</a:t>
            </a:r>
            <a:r>
              <a:rPr baseline="-25000" lang="en">
                <a:solidFill>
                  <a:schemeClr val="dk1"/>
                </a:solidFill>
              </a:rPr>
              <a:t>(i)</a:t>
            </a:r>
            <a:r>
              <a:rPr lang="en">
                <a:solidFill>
                  <a:schemeClr val="dk1"/>
                </a:solidFill>
              </a:rPr>
              <a:t>,</a:t>
            </a:r>
            <a:r>
              <a:rPr lang="en">
                <a:solidFill>
                  <a:schemeClr val="dk1"/>
                </a:solidFill>
              </a:rPr>
              <a:t>X</a:t>
            </a:r>
            <a:r>
              <a:rPr baseline="-25000" lang="en">
                <a:solidFill>
                  <a:schemeClr val="dk1"/>
                </a:solidFill>
              </a:rPr>
              <a:t>(j), </a:t>
            </a:r>
            <a:r>
              <a:rPr lang="en">
                <a:solidFill>
                  <a:schemeClr val="dk1"/>
                </a:solidFill>
              </a:rPr>
              <a:t>X</a:t>
            </a:r>
            <a:r>
              <a:rPr baseline="-25000" lang="en">
                <a:solidFill>
                  <a:schemeClr val="dk1"/>
                </a:solidFill>
              </a:rPr>
              <a:t>(k)</a:t>
            </a:r>
            <a:r>
              <a:rPr lang="en">
                <a:solidFill>
                  <a:schemeClr val="dk1"/>
                </a:solidFill>
              </a:rPr>
              <a:t>:</a:t>
            </a:r>
            <a:endParaRPr/>
          </a:p>
        </p:txBody>
      </p:sp>
      <p:sp>
        <p:nvSpPr>
          <p:cNvPr id="490" name="Google Shape;490;p50"/>
          <p:cNvSpPr txBox="1"/>
          <p:nvPr/>
        </p:nvSpPr>
        <p:spPr>
          <a:xfrm>
            <a:off x="3894875" y="4677200"/>
            <a:ext cx="500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4285F4"/>
                </a:solidFill>
              </a:rPr>
              <a:t>This is a bit long. But there is a pattern we can exploit…</a:t>
            </a:r>
            <a:endParaRPr baseline="-25000">
              <a:solidFill>
                <a:srgbClr val="4285F4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RVs: tidy notation</a:t>
            </a:r>
            <a:endParaRPr/>
          </a:p>
        </p:txBody>
      </p:sp>
      <p:pic>
        <p:nvPicPr>
          <p:cNvPr id="496" name="Google Shape;496;p51" title="Screenshot 2026-10-10 at 14.14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275" y="1017725"/>
            <a:ext cx="7023102" cy="36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51"/>
          <p:cNvSpPr txBox="1"/>
          <p:nvPr/>
        </p:nvSpPr>
        <p:spPr>
          <a:xfrm>
            <a:off x="4898575" y="3116950"/>
            <a:ext cx="414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Here i is the row index, j is the column index</a:t>
            </a:r>
            <a:endParaRPr baseline="-25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number, Z, of RVs</a:t>
            </a:r>
            <a:endParaRPr/>
          </a:p>
        </p:txBody>
      </p:sp>
      <p:pic>
        <p:nvPicPr>
          <p:cNvPr id="503" name="Google Shape;503;p52" title="Screenshot 2026-10-10 at 15.39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775" y="1288898"/>
            <a:ext cx="7193651" cy="3279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the </a:t>
            </a:r>
            <a:r>
              <a:rPr lang="en">
                <a:solidFill>
                  <a:schemeClr val="accent1"/>
                </a:solidFill>
              </a:rPr>
              <a:t>Taylor Series </a:t>
            </a:r>
            <a:r>
              <a:rPr lang="en"/>
              <a:t>expansion</a:t>
            </a:r>
            <a:endParaRPr/>
          </a:p>
        </p:txBody>
      </p:sp>
      <p:pic>
        <p:nvPicPr>
          <p:cNvPr id="509" name="Google Shape;509;p53" title="Screenshot 2026-10-10 at 15.44.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525" y="1115700"/>
            <a:ext cx="4380140" cy="3820973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3"/>
          <p:cNvSpPr txBox="1"/>
          <p:nvPr/>
        </p:nvSpPr>
        <p:spPr>
          <a:xfrm>
            <a:off x="4698900" y="1017725"/>
            <a:ext cx="413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accent1"/>
                </a:solidFill>
              </a:rPr>
              <a:t>α</a:t>
            </a:r>
            <a:r>
              <a:rPr lang="en" sz="1600">
                <a:solidFill>
                  <a:schemeClr val="accent1"/>
                </a:solidFill>
              </a:rPr>
              <a:t> are the coefficients</a:t>
            </a:r>
            <a:endParaRPr baseline="-25000" sz="1600">
              <a:solidFill>
                <a:schemeClr val="accent1"/>
              </a:solidFill>
            </a:endParaRPr>
          </a:p>
        </p:txBody>
      </p:sp>
      <p:sp>
        <p:nvSpPr>
          <p:cNvPr id="511" name="Google Shape;511;p53"/>
          <p:cNvSpPr txBox="1"/>
          <p:nvPr/>
        </p:nvSpPr>
        <p:spPr>
          <a:xfrm>
            <a:off x="4633575" y="1448825"/>
            <a:ext cx="413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accent1"/>
                </a:solidFill>
              </a:rPr>
              <a:t>Value of f(x) when x=0</a:t>
            </a:r>
            <a:endParaRPr baseline="-25000" sz="1600">
              <a:solidFill>
                <a:schemeClr val="accent1"/>
              </a:solidFill>
            </a:endParaRPr>
          </a:p>
        </p:txBody>
      </p:sp>
      <p:sp>
        <p:nvSpPr>
          <p:cNvPr id="512" name="Google Shape;512;p53"/>
          <p:cNvSpPr txBox="1"/>
          <p:nvPr/>
        </p:nvSpPr>
        <p:spPr>
          <a:xfrm>
            <a:off x="4633575" y="1807375"/>
            <a:ext cx="413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accent1"/>
                </a:solidFill>
              </a:rPr>
              <a:t>Value of first derivative of f(x) when x=0</a:t>
            </a:r>
            <a:endParaRPr baseline="-25000" sz="1600">
              <a:solidFill>
                <a:schemeClr val="accent1"/>
              </a:solidFill>
            </a:endParaRPr>
          </a:p>
        </p:txBody>
      </p:sp>
      <p:sp>
        <p:nvSpPr>
          <p:cNvPr id="513" name="Google Shape;513;p53"/>
          <p:cNvSpPr txBox="1"/>
          <p:nvPr/>
        </p:nvSpPr>
        <p:spPr>
          <a:xfrm>
            <a:off x="5666475" y="3755475"/>
            <a:ext cx="303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accent1"/>
                </a:solidFill>
              </a:rPr>
              <a:t>Known as the Maclaurin series</a:t>
            </a:r>
            <a:endParaRPr baseline="-25000" sz="1600">
              <a:solidFill>
                <a:schemeClr val="accent1"/>
              </a:solidFill>
            </a:endParaRPr>
          </a:p>
        </p:txBody>
      </p:sp>
      <p:sp>
        <p:nvSpPr>
          <p:cNvPr id="514" name="Google Shape;514;p53"/>
          <p:cNvSpPr txBox="1"/>
          <p:nvPr/>
        </p:nvSpPr>
        <p:spPr>
          <a:xfrm>
            <a:off x="4633575" y="2171050"/>
            <a:ext cx="413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accent1"/>
                </a:solidFill>
              </a:rPr>
              <a:t>Second derivative, etcetera</a:t>
            </a:r>
            <a:endParaRPr baseline="-25000" sz="1600">
              <a:solidFill>
                <a:schemeClr val="accent1"/>
              </a:solidFill>
            </a:endParaRPr>
          </a:p>
        </p:txBody>
      </p:sp>
      <p:cxnSp>
        <p:nvCxnSpPr>
          <p:cNvPr id="515" name="Google Shape;515;p53"/>
          <p:cNvCxnSpPr>
            <a:stCxn id="513" idx="1"/>
          </p:cNvCxnSpPr>
          <p:nvPr/>
        </p:nvCxnSpPr>
        <p:spPr>
          <a:xfrm rot="10800000">
            <a:off x="5016375" y="3955125"/>
            <a:ext cx="650100" cy="1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RV - using </a:t>
            </a:r>
            <a:r>
              <a:rPr lang="en">
                <a:solidFill>
                  <a:schemeClr val="accent1"/>
                </a:solidFill>
              </a:rPr>
              <a:t>Taylor Series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521" name="Google Shape;521;p54" title="Screenshot 2026-10-10 at 15.45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053" y="1017725"/>
            <a:ext cx="6995871" cy="3757474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54"/>
          <p:cNvSpPr txBox="1"/>
          <p:nvPr/>
        </p:nvSpPr>
        <p:spPr>
          <a:xfrm>
            <a:off x="5694950" y="2319700"/>
            <a:ext cx="320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accent1"/>
                </a:solidFill>
              </a:rPr>
              <a:t>(truncated Taylor series)</a:t>
            </a:r>
            <a:endParaRPr baseline="-25000" sz="1600">
              <a:solidFill>
                <a:schemeClr val="accent1"/>
              </a:solidFill>
            </a:endParaRPr>
          </a:p>
        </p:txBody>
      </p:sp>
      <p:sp>
        <p:nvSpPr>
          <p:cNvPr id="523" name="Google Shape;523;p54"/>
          <p:cNvSpPr txBox="1"/>
          <p:nvPr/>
        </p:nvSpPr>
        <p:spPr>
          <a:xfrm>
            <a:off x="623400" y="4712400"/>
            <a:ext cx="85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accent1"/>
                </a:solidFill>
              </a:rPr>
              <a:t>Variance of linear function of 1 RV = (first derivative squared) x (variance of RV)</a:t>
            </a:r>
            <a:endParaRPr baseline="-25000" sz="1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 RVs </a:t>
            </a:r>
            <a:r>
              <a:rPr lang="en"/>
              <a:t>- using </a:t>
            </a:r>
            <a:r>
              <a:rPr lang="en">
                <a:solidFill>
                  <a:schemeClr val="accent1"/>
                </a:solidFill>
              </a:rPr>
              <a:t>Taylor Series</a:t>
            </a:r>
            <a:endParaRPr/>
          </a:p>
        </p:txBody>
      </p:sp>
      <p:pic>
        <p:nvPicPr>
          <p:cNvPr id="529" name="Google Shape;529;p55" title="Screenshot 2026-10-10 at 15.47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000" y="1372624"/>
            <a:ext cx="7719776" cy="3252251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55"/>
          <p:cNvSpPr txBox="1"/>
          <p:nvPr/>
        </p:nvSpPr>
        <p:spPr>
          <a:xfrm>
            <a:off x="5767525" y="232625"/>
            <a:ext cx="32007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accent1"/>
                </a:solidFill>
              </a:rPr>
              <a:t>A Jacobian Matrix holds the partial derivatives of a function with respect to each of the RVs</a:t>
            </a:r>
            <a:endParaRPr baseline="-25000" sz="1600">
              <a:solidFill>
                <a:schemeClr val="accent1"/>
              </a:solidFill>
            </a:endParaRPr>
          </a:p>
        </p:txBody>
      </p:sp>
      <p:sp>
        <p:nvSpPr>
          <p:cNvPr id="531" name="Google Shape;531;p55"/>
          <p:cNvSpPr txBox="1"/>
          <p:nvPr/>
        </p:nvSpPr>
        <p:spPr>
          <a:xfrm>
            <a:off x="4885775" y="4548800"/>
            <a:ext cx="387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accent1"/>
                </a:solidFill>
              </a:rPr>
              <a:t>Transpose: switch columns with rows</a:t>
            </a:r>
            <a:endParaRPr baseline="-25000" sz="1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 RVs - using </a:t>
            </a:r>
            <a:r>
              <a:rPr lang="en">
                <a:solidFill>
                  <a:schemeClr val="accent1"/>
                </a:solidFill>
              </a:rPr>
              <a:t>Taylor Series</a:t>
            </a:r>
            <a:endParaRPr/>
          </a:p>
        </p:txBody>
      </p:sp>
      <p:pic>
        <p:nvPicPr>
          <p:cNvPr id="537" name="Google Shape;537;p56" title="Screenshot 2026-10-10 at 15.47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300" y="1215475"/>
            <a:ext cx="7570498" cy="3575875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56"/>
          <p:cNvSpPr txBox="1"/>
          <p:nvPr/>
        </p:nvSpPr>
        <p:spPr>
          <a:xfrm>
            <a:off x="5525550" y="111500"/>
            <a:ext cx="3526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accent1"/>
                </a:solidFill>
              </a:rPr>
              <a:t>This is nowhere near as horrific as it appears to be - see the workshop 3 optional math exercise</a:t>
            </a:r>
            <a:endParaRPr baseline="-25000" sz="16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Nonlinear Functions?</a:t>
            </a:r>
            <a:endParaRPr/>
          </a:p>
        </p:txBody>
      </p:sp>
      <p:pic>
        <p:nvPicPr>
          <p:cNvPr id="544" name="Google Shape;544;p57" title="Screenshot 2026-10-10 at 15.51.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225" y="1170125"/>
            <a:ext cx="6897999" cy="349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The </a:t>
            </a:r>
            <a:r>
              <a:rPr lang="en">
                <a:solidFill>
                  <a:schemeClr val="accent1"/>
                </a:solidFill>
              </a:rPr>
              <a:t>Jacobian</a:t>
            </a:r>
            <a:r>
              <a:rPr lang="en"/>
              <a:t> for a Product of M Functions</a:t>
            </a:r>
            <a:endParaRPr/>
          </a:p>
        </p:txBody>
      </p:sp>
      <p:pic>
        <p:nvPicPr>
          <p:cNvPr id="550" name="Google Shape;550;p58" title="Screenshot 2026-10-10 at 15.52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798" y="1161125"/>
            <a:ext cx="6207500" cy="364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58"/>
          <p:cNvSpPr txBox="1"/>
          <p:nvPr/>
        </p:nvSpPr>
        <p:spPr>
          <a:xfrm>
            <a:off x="5722175" y="1931400"/>
            <a:ext cx="32007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Jacobian = Jacobian Matrix.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Sometimes people say “Jacobian” to mean “the determinant of the Jacobian Matrix”. We will come back to this.</a:t>
            </a:r>
            <a:endParaRPr baseline="-25000" sz="1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Variances for a Nonlinear Function </a:t>
            </a:r>
            <a:endParaRPr/>
          </a:p>
        </p:txBody>
      </p:sp>
      <p:pic>
        <p:nvPicPr>
          <p:cNvPr id="557" name="Google Shape;557;p59" title="Screenshot 2026-10-10 at 15.54.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975" y="1406075"/>
            <a:ext cx="7468199" cy="302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in Plain English</a:t>
            </a:r>
            <a:endParaRPr/>
          </a:p>
        </p:txBody>
      </p:sp>
      <p:pic>
        <p:nvPicPr>
          <p:cNvPr id="563" name="Google Shape;563;p60" title="Screenshot 2026-10-10 at 15.58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151" y="1170125"/>
            <a:ext cx="7330352" cy="3519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Systematic Uncertainties?</a:t>
            </a:r>
            <a:endParaRPr/>
          </a:p>
        </p:txBody>
      </p:sp>
      <p:sp>
        <p:nvSpPr>
          <p:cNvPr id="569" name="Google Shape;569;p61"/>
          <p:cNvSpPr txBox="1"/>
          <p:nvPr>
            <p:ph idx="1" type="body"/>
          </p:nvPr>
        </p:nvSpPr>
        <p:spPr>
          <a:xfrm>
            <a:off x="7157350" y="181425"/>
            <a:ext cx="1793100" cy="31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Systematic Uncertainties</a:t>
            </a:r>
            <a:r>
              <a:rPr lang="en">
                <a:solidFill>
                  <a:schemeClr val="accent1"/>
                </a:solidFill>
              </a:rPr>
              <a:t> are uncertainties associated with our limited confidence in the measurement itself, rather than the underlying distribution. For example, my height is 171 cm +/- 1cm.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570" name="Google Shape;570;p61" title="Screenshot 2026-10-10 at 16.00.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075" y="1070425"/>
            <a:ext cx="6618449" cy="3828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for your time</a:t>
            </a:r>
            <a:endParaRPr/>
          </a:p>
        </p:txBody>
      </p:sp>
      <p:sp>
        <p:nvSpPr>
          <p:cNvPr id="576" name="Google Shape;576;p62"/>
          <p:cNvSpPr txBox="1"/>
          <p:nvPr>
            <p:ph idx="1" type="body"/>
          </p:nvPr>
        </p:nvSpPr>
        <p:spPr>
          <a:xfrm>
            <a:off x="3492500" y="2295075"/>
            <a:ext cx="1732500" cy="11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/>
              <a:t>Fin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